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914400"/>
            <a:ext cx="1820845" cy="31245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914400"/>
            <a:ext cx="1934733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1615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工业园区能源管理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470118" y="914400"/>
            <a:ext cx="282458" cy="2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01"/>
              </a:lnSpc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914400" y="1781206"/>
            <a:ext cx="8699053" cy="979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447"/>
              </a:lnSpc>
              <a:buNone/>
            </a:pPr>
            <a:r>
              <a:rPr lang="en-US" sz="6960" b="1" spc="-174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园区能源协同优化试点</a:t>
            </a:r>
            <a:endParaRPr lang="en-US" sz="6960" dirty="0"/>
          </a:p>
        </p:txBody>
      </p:sp>
      <p:sp>
        <p:nvSpPr>
          <p:cNvPr id="9" name="Text 6"/>
          <p:cNvSpPr/>
          <p:nvPr/>
        </p:nvSpPr>
        <p:spPr>
          <a:xfrm>
            <a:off x="914400" y="5114742"/>
            <a:ext cx="591013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12 周验证峰值控制、设备协同与可复制运营机制</a:t>
            </a:r>
            <a:endParaRPr lang="en-US" sz="2040" dirty="0"/>
          </a:p>
        </p:txBody>
      </p:sp>
      <p:sp>
        <p:nvSpPr>
          <p:cNvPr id="10" name="Text 7"/>
          <p:cNvSpPr/>
          <p:nvPr/>
        </p:nvSpPr>
        <p:spPr>
          <a:xfrm>
            <a:off x="9651949" y="5143500"/>
            <a:ext cx="37947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模拟决策样例｜不代表真实客户经营数据</a:t>
            </a:r>
            <a:endParaRPr lang="en-US" sz="1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914400"/>
            <a:ext cx="1001908" cy="31245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91440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1615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现状判断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470118" y="914400"/>
            <a:ext cx="282458" cy="2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01"/>
              </a:lnSpc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914400" y="1762095"/>
            <a:ext cx="7297003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47"/>
              </a:lnSpc>
              <a:buNone/>
            </a:pPr>
            <a:r>
              <a:rPr lang="en-US" sz="3840" b="1" spc="-72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峰值与设备孤岛正在放大能源成本</a:t>
            </a:r>
            <a:endParaRPr lang="en-US" sz="3840" dirty="0"/>
          </a:p>
        </p:txBody>
      </p:sp>
      <p:sp>
        <p:nvSpPr>
          <p:cNvPr id="9" name="Shape 6"/>
          <p:cNvSpPr/>
          <p:nvPr/>
        </p:nvSpPr>
        <p:spPr>
          <a:xfrm>
            <a:off x="914400" y="3429000"/>
            <a:ext cx="7340529" cy="3886200"/>
          </a:xfrm>
          <a:prstGeom prst="rect">
            <a:avLst/>
          </a:prstGeom>
          <a:solidFill>
            <a:srgbClr val="F3F2EE"/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1990" y="3436590"/>
            <a:ext cx="7325350" cy="387093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559790" y="3429000"/>
            <a:ext cx="5156210" cy="3886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559790" y="3429000"/>
            <a:ext cx="5156210" cy="34779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559790" y="7303607"/>
            <a:ext cx="515621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59790" y="3604290"/>
            <a:ext cx="306289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3"/>
              </a:lnSpc>
              <a:buNone/>
            </a:pPr>
            <a:r>
              <a:rPr lang="en-US" sz="1122" b="1" spc="64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2" dirty="0"/>
          </a:p>
        </p:txBody>
      </p:sp>
      <p:sp>
        <p:nvSpPr>
          <p:cNvPr id="15" name="Text 11"/>
          <p:cNvSpPr/>
          <p:nvPr/>
        </p:nvSpPr>
        <p:spPr>
          <a:xfrm>
            <a:off x="8986449" y="3611880"/>
            <a:ext cx="172745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28.6 GWh · 年用电量</a:t>
            </a:r>
            <a:endParaRPr lang="en-US" sz="1320" dirty="0"/>
          </a:p>
        </p:txBody>
      </p:sp>
      <p:sp>
        <p:nvSpPr>
          <p:cNvPr id="16" name="Text 12"/>
          <p:cNvSpPr/>
          <p:nvPr/>
        </p:nvSpPr>
        <p:spPr>
          <a:xfrm>
            <a:off x="8986449" y="3859500"/>
            <a:ext cx="60963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模拟基线</a:t>
            </a:r>
            <a:endParaRPr lang="en-US" sz="1020" dirty="0"/>
          </a:p>
        </p:txBody>
      </p:sp>
      <p:sp>
        <p:nvSpPr>
          <p:cNvPr id="17" name="Shape 13"/>
          <p:cNvSpPr/>
          <p:nvPr/>
        </p:nvSpPr>
        <p:spPr>
          <a:xfrm>
            <a:off x="8559790" y="4129705"/>
            <a:ext cx="5156210" cy="6397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59790" y="4129705"/>
            <a:ext cx="515621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559790" y="4244005"/>
            <a:ext cx="306289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3"/>
              </a:lnSpc>
              <a:buNone/>
            </a:pPr>
            <a:r>
              <a:rPr lang="en-US" sz="1122" b="1" spc="64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2" dirty="0"/>
          </a:p>
        </p:txBody>
      </p:sp>
      <p:sp>
        <p:nvSpPr>
          <p:cNvPr id="20" name="Text 16"/>
          <p:cNvSpPr/>
          <p:nvPr/>
        </p:nvSpPr>
        <p:spPr>
          <a:xfrm>
            <a:off x="8986449" y="4251594"/>
            <a:ext cx="152796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 MW · 最大需量</a:t>
            </a:r>
            <a:endParaRPr lang="en-US" sz="1320" dirty="0"/>
          </a:p>
        </p:txBody>
      </p:sp>
      <p:sp>
        <p:nvSpPr>
          <p:cNvPr id="21" name="Text 17"/>
          <p:cNvSpPr/>
          <p:nvPr/>
        </p:nvSpPr>
        <p:spPr>
          <a:xfrm>
            <a:off x="8986449" y="4499214"/>
            <a:ext cx="99825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夏季工作日峰值</a:t>
            </a:r>
            <a:endParaRPr lang="en-US" sz="1020" dirty="0"/>
          </a:p>
        </p:txBody>
      </p:sp>
      <p:sp>
        <p:nvSpPr>
          <p:cNvPr id="22" name="Shape 18"/>
          <p:cNvSpPr/>
          <p:nvPr/>
        </p:nvSpPr>
        <p:spPr>
          <a:xfrm>
            <a:off x="8559790" y="4769419"/>
            <a:ext cx="5156210" cy="6397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559790" y="4769419"/>
            <a:ext cx="515621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559790" y="4883719"/>
            <a:ext cx="306289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3"/>
              </a:lnSpc>
              <a:buNone/>
            </a:pPr>
            <a:r>
              <a:rPr lang="en-US" sz="1122" b="1" spc="64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2" dirty="0"/>
          </a:p>
        </p:txBody>
      </p:sp>
      <p:sp>
        <p:nvSpPr>
          <p:cNvPr id="25" name="Text 21"/>
          <p:cNvSpPr/>
          <p:nvPr/>
        </p:nvSpPr>
        <p:spPr>
          <a:xfrm>
            <a:off x="8986449" y="4891308"/>
            <a:ext cx="1274826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类 · 可调资源</a:t>
            </a:r>
            <a:endParaRPr lang="en-US" sz="1320" dirty="0"/>
          </a:p>
        </p:txBody>
      </p:sp>
      <p:sp>
        <p:nvSpPr>
          <p:cNvPr id="26" name="Text 22"/>
          <p:cNvSpPr/>
          <p:nvPr/>
        </p:nvSpPr>
        <p:spPr>
          <a:xfrm>
            <a:off x="8986449" y="5139019"/>
            <a:ext cx="138687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光伏、储能、柔性负荷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914400"/>
            <a:ext cx="1001908" cy="31245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91440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1615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方案闭环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470118" y="914400"/>
            <a:ext cx="282458" cy="2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01"/>
              </a:lnSpc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914400" y="1760449"/>
            <a:ext cx="6147145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240" b="1" spc="-40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统一数据与控制闭环是试点的核心</a:t>
            </a:r>
            <a:endParaRPr lang="en-US" sz="3240" dirty="0"/>
          </a:p>
        </p:txBody>
      </p:sp>
      <p:sp>
        <p:nvSpPr>
          <p:cNvPr id="9" name="Shape 6"/>
          <p:cNvSpPr/>
          <p:nvPr/>
        </p:nvSpPr>
        <p:spPr>
          <a:xfrm>
            <a:off x="1226850" y="3611880"/>
            <a:ext cx="30450" cy="3520440"/>
          </a:xfrm>
          <a:prstGeom prst="rect">
            <a:avLst/>
          </a:prstGeom>
          <a:solidFill>
            <a:srgbClr val="98BD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20140" y="3761202"/>
            <a:ext cx="259050" cy="259050"/>
          </a:xfrm>
          <a:prstGeom prst="rect">
            <a:avLst/>
          </a:prstGeom>
          <a:solidFill>
            <a:srgbClr val="161513"/>
          </a:solidFill>
          <a:ln w="38100">
            <a:solidFill>
              <a:srgbClr val="6E85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93566" y="3761202"/>
            <a:ext cx="238476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792" dirty="0"/>
          </a:p>
        </p:txBody>
      </p:sp>
      <p:sp>
        <p:nvSpPr>
          <p:cNvPr id="12" name="Shape 9"/>
          <p:cNvSpPr/>
          <p:nvPr/>
        </p:nvSpPr>
        <p:spPr>
          <a:xfrm>
            <a:off x="1661190" y="3604382"/>
            <a:ext cx="12054810" cy="57268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61190" y="4165478"/>
            <a:ext cx="1205481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61190" y="3680551"/>
            <a:ext cx="44622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3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1661190" y="3940058"/>
            <a:ext cx="2332634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分钟粒度汇聚电表、气象与设备状态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1120140" y="4501774"/>
            <a:ext cx="259050" cy="259050"/>
          </a:xfrm>
          <a:prstGeom prst="rect">
            <a:avLst/>
          </a:prstGeom>
          <a:solidFill>
            <a:srgbClr val="161513"/>
          </a:solidFill>
          <a:ln w="38100">
            <a:solidFill>
              <a:srgbClr val="6E85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93566" y="4501774"/>
            <a:ext cx="238476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92" dirty="0"/>
          </a:p>
        </p:txBody>
      </p:sp>
      <p:sp>
        <p:nvSpPr>
          <p:cNvPr id="18" name="Shape 15"/>
          <p:cNvSpPr/>
          <p:nvPr/>
        </p:nvSpPr>
        <p:spPr>
          <a:xfrm>
            <a:off x="1661190" y="4344954"/>
            <a:ext cx="12054810" cy="57268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61190" y="4906050"/>
            <a:ext cx="1205481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61190" y="4421124"/>
            <a:ext cx="44622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3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</a:t>
            </a:r>
            <a:endParaRPr lang="en-US" sz="1380" dirty="0"/>
          </a:p>
        </p:txBody>
      </p:sp>
      <p:sp>
        <p:nvSpPr>
          <p:cNvPr id="21" name="Text 18"/>
          <p:cNvSpPr/>
          <p:nvPr/>
        </p:nvSpPr>
        <p:spPr>
          <a:xfrm>
            <a:off x="1661190" y="4680539"/>
            <a:ext cx="177549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滚动预测次日负荷与光伏出力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1120140" y="5242438"/>
            <a:ext cx="259050" cy="259050"/>
          </a:xfrm>
          <a:prstGeom prst="rect">
            <a:avLst/>
          </a:prstGeom>
          <a:solidFill>
            <a:srgbClr val="161513"/>
          </a:solidFill>
          <a:ln w="38100">
            <a:solidFill>
              <a:srgbClr val="6E85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93566" y="5242438"/>
            <a:ext cx="238476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92" dirty="0"/>
          </a:p>
        </p:txBody>
      </p:sp>
      <p:sp>
        <p:nvSpPr>
          <p:cNvPr id="24" name="Shape 21"/>
          <p:cNvSpPr/>
          <p:nvPr/>
        </p:nvSpPr>
        <p:spPr>
          <a:xfrm>
            <a:off x="1661190" y="5085618"/>
            <a:ext cx="12054810" cy="57268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661190" y="5646714"/>
            <a:ext cx="1205481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61190" y="5161879"/>
            <a:ext cx="44622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3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</a:t>
            </a:r>
            <a:endParaRPr lang="en-US" sz="1380" dirty="0"/>
          </a:p>
        </p:txBody>
      </p:sp>
      <p:sp>
        <p:nvSpPr>
          <p:cNvPr id="27" name="Text 24"/>
          <p:cNvSpPr/>
          <p:nvPr/>
        </p:nvSpPr>
        <p:spPr>
          <a:xfrm>
            <a:off x="1661190" y="5421295"/>
            <a:ext cx="190497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同时约束需量、电价与生产计划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1120140" y="5983102"/>
            <a:ext cx="259050" cy="259050"/>
          </a:xfrm>
          <a:prstGeom prst="rect">
            <a:avLst/>
          </a:prstGeom>
          <a:solidFill>
            <a:srgbClr val="161513"/>
          </a:solidFill>
          <a:ln w="38100">
            <a:solidFill>
              <a:srgbClr val="6E85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93566" y="5983102"/>
            <a:ext cx="238476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92" dirty="0"/>
          </a:p>
        </p:txBody>
      </p:sp>
      <p:sp>
        <p:nvSpPr>
          <p:cNvPr id="30" name="Shape 27"/>
          <p:cNvSpPr/>
          <p:nvPr/>
        </p:nvSpPr>
        <p:spPr>
          <a:xfrm>
            <a:off x="1661190" y="5826282"/>
            <a:ext cx="12054810" cy="57268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61190" y="6387378"/>
            <a:ext cx="1205481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661190" y="5902543"/>
            <a:ext cx="44622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3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380" dirty="0"/>
          </a:p>
        </p:txBody>
      </p:sp>
      <p:sp>
        <p:nvSpPr>
          <p:cNvPr id="33" name="Text 30"/>
          <p:cNvSpPr/>
          <p:nvPr/>
        </p:nvSpPr>
        <p:spPr>
          <a:xfrm>
            <a:off x="1661190" y="6161959"/>
            <a:ext cx="242316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下发储能与柔性负荷策略并保留人工接管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1120140" y="6723858"/>
            <a:ext cx="259050" cy="259050"/>
          </a:xfrm>
          <a:prstGeom prst="rect">
            <a:avLst/>
          </a:prstGeom>
          <a:solidFill>
            <a:srgbClr val="161513"/>
          </a:solidFill>
          <a:ln w="38100">
            <a:solidFill>
              <a:srgbClr val="C2F53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93566" y="6723858"/>
            <a:ext cx="238476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C2F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92" dirty="0"/>
          </a:p>
        </p:txBody>
      </p:sp>
      <p:sp>
        <p:nvSpPr>
          <p:cNvPr id="36" name="Text 33"/>
          <p:cNvSpPr/>
          <p:nvPr/>
        </p:nvSpPr>
        <p:spPr>
          <a:xfrm>
            <a:off x="1661190" y="6647048"/>
            <a:ext cx="44622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3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1380" dirty="0"/>
          </a:p>
        </p:txBody>
      </p:sp>
      <p:sp>
        <p:nvSpPr>
          <p:cNvPr id="37" name="Text 34"/>
          <p:cNvSpPr/>
          <p:nvPr/>
        </p:nvSpPr>
        <p:spPr>
          <a:xfrm>
            <a:off x="1661190" y="6906463"/>
            <a:ext cx="177549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按班次解释收益、偏差与异常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914400"/>
            <a:ext cx="1001908" cy="31245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91440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1615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负荷结构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470118" y="914400"/>
            <a:ext cx="282458" cy="2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01"/>
              </a:lnSpc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914400" y="1760174"/>
            <a:ext cx="5759074" cy="446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76"/>
              </a:lnSpc>
              <a:buNone/>
            </a:pPr>
            <a:r>
              <a:rPr lang="en-US" sz="3120" b="1" spc="-3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两类负荷贡献了 73% 的用电基线</a:t>
            </a:r>
            <a:endParaRPr lang="en-US" sz="3120" dirty="0"/>
          </a:p>
        </p:txBody>
      </p:sp>
      <p:sp>
        <p:nvSpPr>
          <p:cNvPr id="9" name="Shape 6"/>
          <p:cNvSpPr/>
          <p:nvPr/>
        </p:nvSpPr>
        <p:spPr>
          <a:xfrm>
            <a:off x="914400" y="3429000"/>
            <a:ext cx="8432688" cy="3886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3429000"/>
            <a:ext cx="8432688" cy="46372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7292014"/>
            <a:ext cx="8432688" cy="2318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96610"/>
            <a:ext cx="8432688" cy="3703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06102" y="3789548"/>
            <a:ext cx="437906" cy="205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140" dirty="0"/>
          </a:p>
        </p:txBody>
      </p:sp>
      <p:sp>
        <p:nvSpPr>
          <p:cNvPr id="14" name="Text 10"/>
          <p:cNvSpPr/>
          <p:nvPr/>
        </p:nvSpPr>
        <p:spPr>
          <a:xfrm>
            <a:off x="1842059" y="6810908"/>
            <a:ext cx="767273" cy="2169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工艺设备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23823" y="5313944"/>
            <a:ext cx="438089" cy="205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140" dirty="0"/>
          </a:p>
        </p:txBody>
      </p:sp>
      <p:sp>
        <p:nvSpPr>
          <p:cNvPr id="16" name="Text 12"/>
          <p:cNvSpPr/>
          <p:nvPr/>
        </p:nvSpPr>
        <p:spPr>
          <a:xfrm>
            <a:off x="3359871" y="6810908"/>
            <a:ext cx="767273" cy="2169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暖通空调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41636" y="5658124"/>
            <a:ext cx="438272" cy="205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140" dirty="0"/>
          </a:p>
        </p:txBody>
      </p:sp>
      <p:sp>
        <p:nvSpPr>
          <p:cNvPr id="18" name="Text 14"/>
          <p:cNvSpPr/>
          <p:nvPr/>
        </p:nvSpPr>
        <p:spPr>
          <a:xfrm>
            <a:off x="4877775" y="6810908"/>
            <a:ext cx="767273" cy="2169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空压系统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607454" y="5904006"/>
            <a:ext cx="342534" cy="205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140" dirty="0"/>
          </a:p>
        </p:txBody>
      </p:sp>
      <p:sp>
        <p:nvSpPr>
          <p:cNvPr id="20" name="Text 16"/>
          <p:cNvSpPr/>
          <p:nvPr/>
        </p:nvSpPr>
        <p:spPr>
          <a:xfrm>
            <a:off x="6395679" y="6810908"/>
            <a:ext cx="767273" cy="2169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辅助系统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125176" y="6149889"/>
            <a:ext cx="342900" cy="205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140" dirty="0"/>
          </a:p>
        </p:txBody>
      </p:sp>
      <p:sp>
        <p:nvSpPr>
          <p:cNvPr id="22" name="Text 18"/>
          <p:cNvSpPr/>
          <p:nvPr/>
        </p:nvSpPr>
        <p:spPr>
          <a:xfrm>
            <a:off x="7829276" y="6810908"/>
            <a:ext cx="935888" cy="2169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线损与其他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9651949" y="3438281"/>
            <a:ext cx="3958255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工艺设备与空调是优先优化对象；</a:t>
            </a:r>
            <a:endParaRPr lang="en-US" sz="2040" dirty="0"/>
          </a:p>
        </p:txBody>
      </p:sp>
      <p:sp>
        <p:nvSpPr>
          <p:cNvPr id="24" name="Text 20"/>
          <p:cNvSpPr/>
          <p:nvPr/>
        </p:nvSpPr>
        <p:spPr>
          <a:xfrm>
            <a:off x="9651949" y="3749177"/>
            <a:ext cx="3700485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储能用于削峰，而不是替代效率</a:t>
            </a:r>
            <a:endParaRPr lang="en-US" sz="2040" dirty="0"/>
          </a:p>
        </p:txBody>
      </p:sp>
      <p:sp>
        <p:nvSpPr>
          <p:cNvPr id="25" name="Text 21"/>
          <p:cNvSpPr/>
          <p:nvPr/>
        </p:nvSpPr>
        <p:spPr>
          <a:xfrm>
            <a:off x="9651949" y="4060073"/>
            <a:ext cx="86484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改造。</a:t>
            </a:r>
            <a:endParaRPr lang="en-US" sz="2040" dirty="0"/>
          </a:p>
        </p:txBody>
      </p:sp>
      <p:sp>
        <p:nvSpPr>
          <p:cNvPr id="26" name="Text 22"/>
          <p:cNvSpPr/>
          <p:nvPr/>
        </p:nvSpPr>
        <p:spPr>
          <a:xfrm>
            <a:off x="9651949" y="5981730"/>
            <a:ext cx="40005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试点策略优先覆盖工艺排程、冷站联动与储</a:t>
            </a:r>
            <a:endParaRPr lang="en-US" sz="1620" dirty="0"/>
          </a:p>
        </p:txBody>
      </p:sp>
      <p:sp>
        <p:nvSpPr>
          <p:cNvPr id="27" name="Text 23"/>
          <p:cNvSpPr/>
          <p:nvPr/>
        </p:nvSpPr>
        <p:spPr>
          <a:xfrm>
            <a:off x="9651949" y="6290340"/>
            <a:ext cx="13258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能峰值控制。</a:t>
            </a:r>
            <a:endParaRPr lang="en-US" sz="1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914400"/>
            <a:ext cx="1206551" cy="31245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914400"/>
            <a:ext cx="1235354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1615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经济性门槛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470118" y="914400"/>
            <a:ext cx="282458" cy="2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01"/>
              </a:lnSpc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914400" y="1760997"/>
            <a:ext cx="6347399" cy="492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54"/>
              </a:lnSpc>
              <a:buNone/>
            </a:pPr>
            <a:r>
              <a:rPr lang="en-US" sz="3480" b="1" spc="-4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万元试点换取三项可验证收益</a:t>
            </a:r>
            <a:endParaRPr lang="en-US" sz="3480" dirty="0"/>
          </a:p>
        </p:txBody>
      </p:sp>
      <p:sp>
        <p:nvSpPr>
          <p:cNvPr id="9" name="Shape 6"/>
          <p:cNvSpPr/>
          <p:nvPr/>
        </p:nvSpPr>
        <p:spPr>
          <a:xfrm>
            <a:off x="914400" y="3429000"/>
            <a:ext cx="6248370" cy="3886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3429000"/>
            <a:ext cx="6248370" cy="11593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657600"/>
            <a:ext cx="306289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3"/>
              </a:lnSpc>
              <a:buNone/>
            </a:pPr>
            <a:r>
              <a:rPr lang="en-US" sz="1122" b="1" spc="64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2" dirty="0"/>
          </a:p>
        </p:txBody>
      </p:sp>
      <p:sp>
        <p:nvSpPr>
          <p:cNvPr id="12" name="Text 9"/>
          <p:cNvSpPr/>
          <p:nvPr/>
        </p:nvSpPr>
        <p:spPr>
          <a:xfrm>
            <a:off x="1341150" y="3665190"/>
            <a:ext cx="1608201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3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万元 · 试点投入</a:t>
            </a:r>
            <a:endParaRPr lang="en-US" sz="1380" dirty="0"/>
          </a:p>
        </p:txBody>
      </p:sp>
      <p:sp>
        <p:nvSpPr>
          <p:cNvPr id="13" name="Text 10"/>
          <p:cNvSpPr/>
          <p:nvPr/>
        </p:nvSpPr>
        <p:spPr>
          <a:xfrm>
            <a:off x="1341150" y="3922410"/>
            <a:ext cx="190497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数据接入、策略引擎与现场服务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914400" y="4192524"/>
            <a:ext cx="6248370" cy="64922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4192524"/>
            <a:ext cx="624837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306824"/>
            <a:ext cx="306289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3"/>
              </a:lnSpc>
              <a:buNone/>
            </a:pPr>
            <a:r>
              <a:rPr lang="en-US" sz="1122" b="1" spc="64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2" dirty="0"/>
          </a:p>
        </p:txBody>
      </p:sp>
      <p:sp>
        <p:nvSpPr>
          <p:cNvPr id="17" name="Text 14"/>
          <p:cNvSpPr/>
          <p:nvPr/>
        </p:nvSpPr>
        <p:spPr>
          <a:xfrm>
            <a:off x="1341150" y="4314505"/>
            <a:ext cx="1407536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3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8% · 节电门槛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341150" y="4571634"/>
            <a:ext cx="125730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按天气与产量归一化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7467630" y="3429000"/>
            <a:ext cx="6248370" cy="3886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2F53D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67630" y="3429000"/>
            <a:ext cx="6248370" cy="115930"/>
          </a:xfrm>
          <a:prstGeom prst="rect">
            <a:avLst/>
          </a:prstGeom>
          <a:solidFill>
            <a:srgbClr val="C2F53D"/>
          </a:solidFill>
          <a:ln w="12700">
            <a:solidFill>
              <a:srgbClr val="C2F53D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67630" y="3657600"/>
            <a:ext cx="306289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3"/>
              </a:lnSpc>
              <a:buNone/>
            </a:pPr>
            <a:r>
              <a:rPr lang="en-US" sz="1122" b="1" spc="64" kern="0" dirty="0">
                <a:solidFill>
                  <a:srgbClr val="C2F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2" dirty="0"/>
          </a:p>
        </p:txBody>
      </p:sp>
      <p:sp>
        <p:nvSpPr>
          <p:cNvPr id="22" name="Text 19"/>
          <p:cNvSpPr/>
          <p:nvPr/>
        </p:nvSpPr>
        <p:spPr>
          <a:xfrm>
            <a:off x="7894290" y="3665190"/>
            <a:ext cx="1517081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3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12% · 削峰门槛</a:t>
            </a:r>
            <a:endParaRPr lang="en-US" sz="1380" dirty="0"/>
          </a:p>
        </p:txBody>
      </p:sp>
      <p:sp>
        <p:nvSpPr>
          <p:cNvPr id="23" name="Text 20"/>
          <p:cNvSpPr/>
          <p:nvPr/>
        </p:nvSpPr>
        <p:spPr>
          <a:xfrm>
            <a:off x="7894290" y="3922410"/>
            <a:ext cx="125730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以最大需量口径核算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7467630" y="4192524"/>
            <a:ext cx="6248370" cy="64922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67630" y="4192524"/>
            <a:ext cx="624837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67630" y="4306824"/>
            <a:ext cx="306289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3"/>
              </a:lnSpc>
              <a:buNone/>
            </a:pPr>
            <a:r>
              <a:rPr lang="en-US" sz="1122" b="1" spc="64" kern="0" dirty="0">
                <a:solidFill>
                  <a:srgbClr val="C2F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2" dirty="0"/>
          </a:p>
        </p:txBody>
      </p:sp>
      <p:sp>
        <p:nvSpPr>
          <p:cNvPr id="27" name="Text 24"/>
          <p:cNvSpPr/>
          <p:nvPr/>
        </p:nvSpPr>
        <p:spPr>
          <a:xfrm>
            <a:off x="7894290" y="4314505"/>
            <a:ext cx="192892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3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12 个月 · 回收期门槛</a:t>
            </a:r>
            <a:endParaRPr lang="en-US" sz="1380" dirty="0"/>
          </a:p>
        </p:txBody>
      </p:sp>
      <p:sp>
        <p:nvSpPr>
          <p:cNvPr id="28" name="Text 25"/>
          <p:cNvSpPr/>
          <p:nvPr/>
        </p:nvSpPr>
        <p:spPr>
          <a:xfrm>
            <a:off x="7894290" y="4571634"/>
            <a:ext cx="86868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通过后才复制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914400"/>
            <a:ext cx="1001908" cy="31245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91440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1615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实施路线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470118" y="914400"/>
            <a:ext cx="282458" cy="2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01"/>
              </a:lnSpc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914400" y="1760723"/>
            <a:ext cx="4439961" cy="477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8"/>
              </a:lnSpc>
              <a:buNone/>
            </a:pPr>
            <a:r>
              <a:rPr lang="en-US" sz="3360" b="1" spc="-42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周按四个决策门推进</a:t>
            </a:r>
            <a:endParaRPr lang="en-US" sz="3360" dirty="0"/>
          </a:p>
        </p:txBody>
      </p:sp>
      <p:sp>
        <p:nvSpPr>
          <p:cNvPr id="9" name="Shape 6"/>
          <p:cNvSpPr/>
          <p:nvPr/>
        </p:nvSpPr>
        <p:spPr>
          <a:xfrm>
            <a:off x="1234440" y="4000500"/>
            <a:ext cx="12115800" cy="30450"/>
          </a:xfrm>
          <a:prstGeom prst="rect">
            <a:avLst/>
          </a:prstGeom>
          <a:solidFill>
            <a:srgbClr val="98BD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228350" y="3939510"/>
            <a:ext cx="137160" cy="152430"/>
          </a:xfrm>
          <a:custGeom>
            <a:avLst/>
            <a:gdLst/>
            <a:ahLst/>
            <a:cxnLst/>
            <a:rect l="l" t="t" r="r" b="b"/>
            <a:pathLst>
              <a:path w="137160" h="152430">
                <a:moveTo>
                  <a:pt x="0" y="0"/>
                </a:moveTo>
                <a:lnTo>
                  <a:pt x="137160" y="76170"/>
                </a:lnTo>
                <a:lnTo>
                  <a:pt x="0" y="152430"/>
                </a:lnTo>
                <a:close/>
              </a:path>
            </a:pathLst>
          </a:custGeom>
          <a:solidFill>
            <a:srgbClr val="C2F53D"/>
          </a:solidFill>
          <a:ln w="12700">
            <a:solidFill>
              <a:srgbClr val="C2F53D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6830" y="3657600"/>
            <a:ext cx="350490" cy="350490"/>
          </a:xfrm>
          <a:prstGeom prst="rect">
            <a:avLst/>
          </a:prstGeom>
          <a:solidFill>
            <a:srgbClr val="161513"/>
          </a:solidFill>
          <a:ln w="38100">
            <a:solidFill>
              <a:srgbClr val="6E85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67414" y="3657600"/>
            <a:ext cx="281391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1056" b="1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6" dirty="0"/>
          </a:p>
        </p:txBody>
      </p:sp>
      <p:sp>
        <p:nvSpPr>
          <p:cNvPr id="13" name="Text 10"/>
          <p:cNvSpPr/>
          <p:nvPr/>
        </p:nvSpPr>
        <p:spPr>
          <a:xfrm>
            <a:off x="1066830" y="4244370"/>
            <a:ext cx="1354775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3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1–2 周｜基线</a:t>
            </a:r>
            <a:endParaRPr lang="en-US" sz="1380" dirty="0"/>
          </a:p>
        </p:txBody>
      </p:sp>
      <p:sp>
        <p:nvSpPr>
          <p:cNvPr id="14" name="Text 11"/>
          <p:cNvSpPr/>
          <p:nvPr/>
        </p:nvSpPr>
        <p:spPr>
          <a:xfrm>
            <a:off x="1066830" y="4526646"/>
            <a:ext cx="216411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数据质量、计量边界与收益口径确认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4240530" y="3657600"/>
            <a:ext cx="350490" cy="350490"/>
          </a:xfrm>
          <a:prstGeom prst="rect">
            <a:avLst/>
          </a:prstGeom>
          <a:solidFill>
            <a:srgbClr val="161513"/>
          </a:solidFill>
          <a:ln w="38100">
            <a:solidFill>
              <a:srgbClr val="6E85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1114" y="3657600"/>
            <a:ext cx="281391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1056" b="1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6" dirty="0"/>
          </a:p>
        </p:txBody>
      </p:sp>
      <p:sp>
        <p:nvSpPr>
          <p:cNvPr id="17" name="Text 14"/>
          <p:cNvSpPr/>
          <p:nvPr/>
        </p:nvSpPr>
        <p:spPr>
          <a:xfrm>
            <a:off x="4240530" y="4244370"/>
            <a:ext cx="1705356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3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3–5 周｜影子运行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4240530" y="4526646"/>
            <a:ext cx="242316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只给建议，不下发控制，验证预测与策略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7414230" y="3657600"/>
            <a:ext cx="350490" cy="350490"/>
          </a:xfrm>
          <a:prstGeom prst="rect">
            <a:avLst/>
          </a:prstGeom>
          <a:solidFill>
            <a:srgbClr val="161513"/>
          </a:solidFill>
          <a:ln w="38100">
            <a:solidFill>
              <a:srgbClr val="6E85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14905" y="3657600"/>
            <a:ext cx="281391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1056" b="1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6" dirty="0"/>
          </a:p>
        </p:txBody>
      </p:sp>
      <p:sp>
        <p:nvSpPr>
          <p:cNvPr id="21" name="Text 18"/>
          <p:cNvSpPr/>
          <p:nvPr/>
        </p:nvSpPr>
        <p:spPr>
          <a:xfrm>
            <a:off x="7414230" y="4244370"/>
            <a:ext cx="1698315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3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6–9 周｜受控执行</a:t>
            </a:r>
            <a:endParaRPr lang="en-US" sz="1380" dirty="0"/>
          </a:p>
        </p:txBody>
      </p:sp>
      <p:sp>
        <p:nvSpPr>
          <p:cNvPr id="22" name="Text 19"/>
          <p:cNvSpPr/>
          <p:nvPr/>
        </p:nvSpPr>
        <p:spPr>
          <a:xfrm>
            <a:off x="7414230" y="4526646"/>
            <a:ext cx="216411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限定设备与时段，逐步扩大策略覆盖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10588020" y="3657600"/>
            <a:ext cx="350490" cy="350490"/>
          </a:xfrm>
          <a:prstGeom prst="rect">
            <a:avLst/>
          </a:prstGeom>
          <a:solidFill>
            <a:srgbClr val="161513"/>
          </a:solidFill>
          <a:ln w="38100">
            <a:solidFill>
              <a:srgbClr val="C2F5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88604" y="3657600"/>
            <a:ext cx="281391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1056" b="1" dirty="0">
                <a:solidFill>
                  <a:srgbClr val="C2F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6" dirty="0"/>
          </a:p>
        </p:txBody>
      </p:sp>
      <p:sp>
        <p:nvSpPr>
          <p:cNvPr id="25" name="Text 22"/>
          <p:cNvSpPr/>
          <p:nvPr/>
        </p:nvSpPr>
        <p:spPr>
          <a:xfrm>
            <a:off x="10588020" y="4244370"/>
            <a:ext cx="1924446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4"/>
              </a:lnSpc>
              <a:buNone/>
            </a:pPr>
            <a:r>
              <a:rPr lang="en-US" sz="138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10–12 周｜对照评估</a:t>
            </a:r>
            <a:endParaRPr lang="en-US" sz="1380" dirty="0"/>
          </a:p>
        </p:txBody>
      </p:sp>
      <p:sp>
        <p:nvSpPr>
          <p:cNvPr id="26" name="Text 23"/>
          <p:cNvSpPr/>
          <p:nvPr/>
        </p:nvSpPr>
        <p:spPr>
          <a:xfrm>
            <a:off x="10588020" y="4526646"/>
            <a:ext cx="216411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按班次和天气归一化，完成复制建议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914400"/>
            <a:ext cx="1001908" cy="31245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91440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1615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治理边界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470118" y="914400"/>
            <a:ext cx="282458" cy="2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01"/>
              </a:lnSpc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914400" y="1762095"/>
            <a:ext cx="5855818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47"/>
              </a:lnSpc>
              <a:buNone/>
            </a:pPr>
            <a:r>
              <a:rPr lang="en-US" sz="3840" b="1" spc="-72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三条护栏让试点不干扰生产</a:t>
            </a:r>
            <a:endParaRPr lang="en-US" sz="3840" dirty="0"/>
          </a:p>
        </p:txBody>
      </p:sp>
      <p:sp>
        <p:nvSpPr>
          <p:cNvPr id="9" name="Shape 6"/>
          <p:cNvSpPr/>
          <p:nvPr/>
        </p:nvSpPr>
        <p:spPr>
          <a:xfrm>
            <a:off x="914400" y="3429000"/>
            <a:ext cx="8432688" cy="3886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3429000"/>
            <a:ext cx="8432688" cy="34779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7303607"/>
            <a:ext cx="8432688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604290"/>
            <a:ext cx="306289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3"/>
              </a:lnSpc>
              <a:buNone/>
            </a:pPr>
            <a:r>
              <a:rPr lang="en-US" sz="1122" b="1" spc="64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2" dirty="0"/>
          </a:p>
        </p:txBody>
      </p:sp>
      <p:sp>
        <p:nvSpPr>
          <p:cNvPr id="13" name="Text 10"/>
          <p:cNvSpPr/>
          <p:nvPr/>
        </p:nvSpPr>
        <p:spPr>
          <a:xfrm>
            <a:off x="1341150" y="3611880"/>
            <a:ext cx="76197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权限护栏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1341150" y="3859500"/>
            <a:ext cx="177549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只开放白名单设备与限定时段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914400" y="4129705"/>
            <a:ext cx="8432688" cy="6397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4129705"/>
            <a:ext cx="8432688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244005"/>
            <a:ext cx="306289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3"/>
              </a:lnSpc>
              <a:buNone/>
            </a:pPr>
            <a:r>
              <a:rPr lang="en-US" sz="1122" b="1" spc="64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2" dirty="0"/>
          </a:p>
        </p:txBody>
      </p:sp>
      <p:sp>
        <p:nvSpPr>
          <p:cNvPr id="18" name="Text 15"/>
          <p:cNvSpPr/>
          <p:nvPr/>
        </p:nvSpPr>
        <p:spPr>
          <a:xfrm>
            <a:off x="1341150" y="4251594"/>
            <a:ext cx="76197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回退护栏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1341150" y="4499214"/>
            <a:ext cx="1850746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异常时 60 秒内切回原控制逻辑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914400" y="4769419"/>
            <a:ext cx="8432688" cy="6397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400" y="4769419"/>
            <a:ext cx="8432688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4883719"/>
            <a:ext cx="306289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3"/>
              </a:lnSpc>
              <a:buNone/>
            </a:pPr>
            <a:r>
              <a:rPr lang="en-US" sz="1122" b="1" spc="64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2" dirty="0"/>
          </a:p>
        </p:txBody>
      </p:sp>
      <p:sp>
        <p:nvSpPr>
          <p:cNvPr id="23" name="Text 20"/>
          <p:cNvSpPr/>
          <p:nvPr/>
        </p:nvSpPr>
        <p:spPr>
          <a:xfrm>
            <a:off x="1341150" y="4891308"/>
            <a:ext cx="76197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2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核算护栏</a:t>
            </a:r>
            <a:endParaRPr lang="en-US" sz="1320" dirty="0"/>
          </a:p>
        </p:txBody>
      </p:sp>
      <p:sp>
        <p:nvSpPr>
          <p:cNvPr id="24" name="Text 21"/>
          <p:cNvSpPr/>
          <p:nvPr/>
        </p:nvSpPr>
        <p:spPr>
          <a:xfrm>
            <a:off x="1341150" y="5139019"/>
            <a:ext cx="2293590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天气、产量和班次归一化后再认定收益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9651949" y="3438281"/>
            <a:ext cx="3958255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权限、回退和核算口径在上线前冻</a:t>
            </a:r>
            <a:endParaRPr lang="en-US" sz="2040" dirty="0"/>
          </a:p>
        </p:txBody>
      </p:sp>
      <p:sp>
        <p:nvSpPr>
          <p:cNvPr id="26" name="Text 23"/>
          <p:cNvSpPr/>
          <p:nvPr/>
        </p:nvSpPr>
        <p:spPr>
          <a:xfrm>
            <a:off x="9651949" y="3749177"/>
            <a:ext cx="3958255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结，避免把算法收益建立在不可控</a:t>
            </a:r>
            <a:endParaRPr lang="en-US" sz="2040" dirty="0"/>
          </a:p>
        </p:txBody>
      </p:sp>
      <p:sp>
        <p:nvSpPr>
          <p:cNvPr id="27" name="Text 24"/>
          <p:cNvSpPr/>
          <p:nvPr/>
        </p:nvSpPr>
        <p:spPr>
          <a:xfrm>
            <a:off x="9651949" y="4060073"/>
            <a:ext cx="1122609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040" b="1" spc="-1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风险上。</a:t>
            </a:r>
            <a:endParaRPr lang="en-US" sz="2040" dirty="0"/>
          </a:p>
        </p:txBody>
      </p:sp>
      <p:sp>
        <p:nvSpPr>
          <p:cNvPr id="28" name="Text 25"/>
          <p:cNvSpPr/>
          <p:nvPr/>
        </p:nvSpPr>
        <p:spPr>
          <a:xfrm>
            <a:off x="9651949" y="5981730"/>
            <a:ext cx="40005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运营负责人拥有最终控制权，自动策略永远</a:t>
            </a:r>
            <a:endParaRPr lang="en-US" sz="1620" dirty="0"/>
          </a:p>
        </p:txBody>
      </p:sp>
      <p:sp>
        <p:nvSpPr>
          <p:cNvPr id="29" name="Text 26"/>
          <p:cNvSpPr/>
          <p:nvPr/>
        </p:nvSpPr>
        <p:spPr>
          <a:xfrm>
            <a:off x="9651949" y="6290340"/>
            <a:ext cx="15316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6E8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不是唯一通道。</a:t>
            </a:r>
            <a:endParaRPr lang="en-US" sz="1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914400"/>
            <a:ext cx="1001908" cy="31245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914400"/>
            <a:ext cx="100222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1615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决策请求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3470118" y="914400"/>
            <a:ext cx="282458" cy="2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01"/>
              </a:lnSpc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914400" y="1762917"/>
            <a:ext cx="844677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36"/>
              </a:lnSpc>
              <a:buNone/>
            </a:pPr>
            <a:r>
              <a:rPr lang="en-US" sz="4200" b="1" spc="-79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建议批准 72 万元、12 周的受控试点</a:t>
            </a:r>
            <a:endParaRPr lang="en-US" sz="4200" dirty="0"/>
          </a:p>
        </p:txBody>
      </p:sp>
      <p:sp>
        <p:nvSpPr>
          <p:cNvPr id="9" name="Shape 6"/>
          <p:cNvSpPr/>
          <p:nvPr/>
        </p:nvSpPr>
        <p:spPr>
          <a:xfrm>
            <a:off x="914400" y="3429000"/>
            <a:ext cx="7340529" cy="3886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3429000"/>
            <a:ext cx="81151" cy="388620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11580" y="4413900"/>
            <a:ext cx="404774" cy="751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4224" b="1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</a:t>
            </a:r>
            <a:endParaRPr lang="en-US" sz="4224" dirty="0"/>
          </a:p>
        </p:txBody>
      </p:sp>
      <p:sp>
        <p:nvSpPr>
          <p:cNvPr id="12" name="Text 9"/>
          <p:cNvSpPr/>
          <p:nvPr/>
        </p:nvSpPr>
        <p:spPr>
          <a:xfrm>
            <a:off x="1211580" y="5142676"/>
            <a:ext cx="5748558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240" b="1" spc="-7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批准后两周内完成基线确认，第</a:t>
            </a:r>
            <a:endParaRPr lang="en-US" sz="3240" dirty="0"/>
          </a:p>
        </p:txBody>
      </p:sp>
      <p:sp>
        <p:nvSpPr>
          <p:cNvPr id="13" name="Text 10"/>
          <p:cNvSpPr/>
          <p:nvPr/>
        </p:nvSpPr>
        <p:spPr>
          <a:xfrm>
            <a:off x="1211580" y="5652820"/>
            <a:ext cx="5866333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240" b="1" spc="-73" kern="0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五周提交首个继续/停止决策包。</a:t>
            </a:r>
            <a:endParaRPr lang="en-US" sz="3240" dirty="0"/>
          </a:p>
        </p:txBody>
      </p:sp>
      <p:sp>
        <p:nvSpPr>
          <p:cNvPr id="14" name="Shape 11"/>
          <p:cNvSpPr/>
          <p:nvPr/>
        </p:nvSpPr>
        <p:spPr>
          <a:xfrm>
            <a:off x="9651949" y="3429000"/>
            <a:ext cx="4064051" cy="3886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51949" y="3429000"/>
            <a:ext cx="57965" cy="3886200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2868" y="3429000"/>
            <a:ext cx="283164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b="1" spc="56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90" dirty="0"/>
          </a:p>
        </p:txBody>
      </p:sp>
      <p:sp>
        <p:nvSpPr>
          <p:cNvPr id="17" name="Text 14"/>
          <p:cNvSpPr/>
          <p:nvPr/>
        </p:nvSpPr>
        <p:spPr>
          <a:xfrm>
            <a:off x="10238628" y="3436590"/>
            <a:ext cx="85341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业务负责人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238628" y="3665190"/>
            <a:ext cx="822960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25"/>
              </a:lnSpc>
              <a:buNone/>
            </a:pPr>
            <a:r>
              <a:rPr lang="en-US" sz="9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园区运营总监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9872868" y="3932560"/>
            <a:ext cx="3843132" cy="5264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872868" y="3932560"/>
            <a:ext cx="3843132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2868" y="4001140"/>
            <a:ext cx="283164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b="1" spc="56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90" dirty="0"/>
          </a:p>
        </p:txBody>
      </p:sp>
      <p:sp>
        <p:nvSpPr>
          <p:cNvPr id="22" name="Text 19"/>
          <p:cNvSpPr/>
          <p:nvPr/>
        </p:nvSpPr>
        <p:spPr>
          <a:xfrm>
            <a:off x="10238628" y="4008730"/>
            <a:ext cx="70107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本次决策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238628" y="4237330"/>
            <a:ext cx="1554480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25"/>
              </a:lnSpc>
              <a:buNone/>
            </a:pPr>
            <a:r>
              <a:rPr lang="en-US" sz="9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批准试点预算与跨部门资源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9872868" y="4504609"/>
            <a:ext cx="3843132" cy="5264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872868" y="4504609"/>
            <a:ext cx="3843132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72868" y="4573189"/>
            <a:ext cx="283164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b="1" spc="56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90" dirty="0"/>
          </a:p>
        </p:txBody>
      </p:sp>
      <p:sp>
        <p:nvSpPr>
          <p:cNvPr id="27" name="Text 24"/>
          <p:cNvSpPr/>
          <p:nvPr/>
        </p:nvSpPr>
        <p:spPr>
          <a:xfrm>
            <a:off x="10238628" y="4580778"/>
            <a:ext cx="853410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3F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下一检查点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238628" y="4809378"/>
            <a:ext cx="1202131" cy="157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25"/>
              </a:lnSpc>
              <a:buNone/>
            </a:pPr>
            <a:r>
              <a:rPr lang="en-US" sz="960" dirty="0">
                <a:solidFill>
                  <a:srgbClr val="B8B6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周影子运行评审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Dashi PPT Skill 真实采用研究精选稿</dc:title>
  <dc:subject>Editable PPTX export</dc:subject>
  <dc:creator>Dashi PPT</dc:creator>
  <cp:lastModifiedBy>Dashi PPT</cp:lastModifiedBy>
  <cp:revision>1</cp:revision>
  <dcterms:created xsi:type="dcterms:W3CDTF">2026-08-30T22:21:24Z</dcterms:created>
  <dcterms:modified xsi:type="dcterms:W3CDTF">2026-08-30T22:21:24Z</dcterms:modified>
</cp:coreProperties>
</file>