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271a0ceff444c" /><Relationship Type="http://schemas.openxmlformats.org/officeDocument/2006/relationships/extended-properties" Target="/docProps/app.xml" Id="R4f7f6dfebeda4ced" /><Relationship Type="http://schemas.openxmlformats.org/officeDocument/2006/relationships/officeDocument" Target="/ppt/presentation.xml" Id="Rda02342d4163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f12c7cfc5489b"/>
  </p:sldMasterIdLst>
  <p:notesMasterIdLst>
    <p:notesMasterId xmlns:r="http://schemas.openxmlformats.org/officeDocument/2006/relationships" r:id="Re5ba972d6d9d4c13"/>
  </p:notesMasterIdLst>
  <p:sldIdLst>
    <p:sldId xmlns:r="http://schemas.openxmlformats.org/officeDocument/2006/relationships" id="256" r:id="R1cce514c3f3843ed"/>
    <p:sldId xmlns:r="http://schemas.openxmlformats.org/officeDocument/2006/relationships" id="257" r:id="Rf61b4b4e273c40fa"/>
    <p:sldId xmlns:r="http://schemas.openxmlformats.org/officeDocument/2006/relationships" id="258" r:id="Rab22f786aedd4a50"/>
    <p:sldId xmlns:r="http://schemas.openxmlformats.org/officeDocument/2006/relationships" id="259" r:id="R9e4a098b33bb4de7"/>
    <p:sldId xmlns:r="http://schemas.openxmlformats.org/officeDocument/2006/relationships" id="260" r:id="R6820dfb5cbb04a99"/>
    <p:sldId xmlns:r="http://schemas.openxmlformats.org/officeDocument/2006/relationships" id="261" r:id="R967cae4184d24a43"/>
    <p:sldId xmlns:r="http://schemas.openxmlformats.org/officeDocument/2006/relationships" id="262" r:id="R62008132275b43d1"/>
    <p:sldId xmlns:r="http://schemas.openxmlformats.org/officeDocument/2006/relationships" id="263" r:id="Ra8eec9b50a65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60c7d089a4d8c" /><Relationship Type="http://schemas.openxmlformats.org/officeDocument/2006/relationships/slideMaster" Target="/ppt/slideMasters/slideMaster1.xml" Id="Rdc1f12c7cfc5489b" /><Relationship Type="http://schemas.openxmlformats.org/officeDocument/2006/relationships/notesMaster" Target="/ppt/notesMasters/notesMaster1.xml" Id="Re5ba972d6d9d4c13" /><Relationship Type="http://schemas.openxmlformats.org/officeDocument/2006/relationships/presProps" Target="/ppt/presProps.xml" Id="Ra9d055ffb0c2497f" /><Relationship Type="http://schemas.openxmlformats.org/officeDocument/2006/relationships/tableStyles" Target="/ppt/tableStyles.xml" Id="R358970d88c55402b" /><Relationship Type="http://schemas.openxmlformats.org/officeDocument/2006/relationships/slide" Target="/ppt/slides/slide1.xml" Id="R1cce514c3f3843ed" /><Relationship Type="http://schemas.openxmlformats.org/officeDocument/2006/relationships/slide" Target="/ppt/slides/slide2.xml" Id="Rf61b4b4e273c40fa" /><Relationship Type="http://schemas.openxmlformats.org/officeDocument/2006/relationships/slide" Target="/ppt/slides/slide3.xml" Id="Rab22f786aedd4a50" /><Relationship Type="http://schemas.openxmlformats.org/officeDocument/2006/relationships/slide" Target="/ppt/slides/slide4.xml" Id="R9e4a098b33bb4de7" /><Relationship Type="http://schemas.openxmlformats.org/officeDocument/2006/relationships/slide" Target="/ppt/slides/slide5.xml" Id="R6820dfb5cbb04a99" /><Relationship Type="http://schemas.openxmlformats.org/officeDocument/2006/relationships/slide" Target="/ppt/slides/slide6.xml" Id="R967cae4184d24a43" /><Relationship Type="http://schemas.openxmlformats.org/officeDocument/2006/relationships/slide" Target="/ppt/slides/slide7.xml" Id="R62008132275b43d1" /><Relationship Type="http://schemas.openxmlformats.org/officeDocument/2006/relationships/slide" Target="/ppt/slides/slide8.xml" Id="Ra8eec9b50a65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873b7fe8f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6256f022344c7" /><Relationship Type="http://schemas.openxmlformats.org/officeDocument/2006/relationships/notesMaster" Target="/ppt/notesMasters/notesMaster1.xml" Id="Rffeadedd9315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d2085dba741ab" /><Relationship Type="http://schemas.openxmlformats.org/officeDocument/2006/relationships/notesMaster" Target="/ppt/notesMasters/notesMaster1.xml" Id="R2a5a41190930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9a911752847bc" /><Relationship Type="http://schemas.openxmlformats.org/officeDocument/2006/relationships/notesMaster" Target="/ppt/notesMasters/notesMaster1.xml" Id="R4d41991d9b12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ecb099a1e4cbc" /><Relationship Type="http://schemas.openxmlformats.org/officeDocument/2006/relationships/notesMaster" Target="/ppt/notesMasters/notesMaster1.xml" Id="R89d75eb99d3540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b80ba4fd1c4eb7" /><Relationship Type="http://schemas.openxmlformats.org/officeDocument/2006/relationships/notesMaster" Target="/ppt/notesMasters/notesMaster1.xml" Id="R78eefd9fe5bc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4492fe720435e" /><Relationship Type="http://schemas.openxmlformats.org/officeDocument/2006/relationships/notesMaster" Target="/ppt/notesMasters/notesMaster1.xml" Id="Rdbefdde37a1b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362f365a754833" /><Relationship Type="http://schemas.openxmlformats.org/officeDocument/2006/relationships/notesMaster" Target="/ppt/notesMasters/notesMaster1.xml" Id="Rf41fa48c316c44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61abb099744e6" /><Relationship Type="http://schemas.openxmlformats.org/officeDocument/2006/relationships/notesMaster" Target="/ppt/notesMasters/notesMaster1.xml" Id="R1914d45c056d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Hero image: OpenAI built-in image generation; project asset gridwise-energy-control-room.png; generated 2026-08-31.</a:t>
            </a:r>
          </a:p>
          <a:p xmlns:a="http://schemas.openxmlformats.org/drawingml/2006/main">
            <a:r>
              <a:t>- All visible business facts are explicitly marked as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- 28.6 GWh, 8.4 MW and 3 resource classes are synthetic scenario inputs.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The five-stage operating loop is a design proposal for the synthetic pilot.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Load mix values 52/21/14/9/4 sum to 100% and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- 72万元, 8%, 12%, 12 months, 235万元 and 3.7 months are synthetic scenario calculations.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The 12-week phase sequence is a synthetic implementation plan.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The 60-second rollback target is a synthetic governance requirement.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metrics and calculations: synthetic data authored for the Dashi PPT Skill research sample, 2026-08-31.</a:t>
            </a:r>
          </a:p>
          <a:p xmlns:a="http://schemas.openxmlformats.org/drawingml/2006/main">
            <a:r>
              <a:t>- The approval amount and checkpoints are synthetic scenario parameters.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e87c52f354d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ce3d060e0e4088" /><Relationship Type="http://schemas.openxmlformats.org/officeDocument/2006/relationships/slideLayout" Target="/ppt/slideLayouts/slideLayout1.xml" Id="Rae60201de6be48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0201de6be48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b39e8a9ab468b" /><Relationship Type="http://schemas.openxmlformats.org/officeDocument/2006/relationships/image" Target="/ppt/media/image.png" Id="Re0a0a29908d446f8" /><Relationship Type="http://schemas.openxmlformats.org/officeDocument/2006/relationships/notesSlide" Target="/ppt/notesSlides/notesSlide1.xml" Id="R42fac2d1764444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fb7fea57c4137" /><Relationship Type="http://schemas.openxmlformats.org/officeDocument/2006/relationships/notesSlide" Target="/ppt/notesSlides/notesSlide2.xml" Id="Radbe5de358ab4e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1ad0b70b470e" /><Relationship Type="http://schemas.openxmlformats.org/officeDocument/2006/relationships/notesSlide" Target="/ppt/notesSlides/notesSlide3.xml" Id="Rc5e958468a1d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d3e8e9c884d54" /><Relationship Type="http://schemas.openxmlformats.org/officeDocument/2006/relationships/chart" Target="/ppt/slides/charts/chart1.xml" Id="R2610782615904681" /><Relationship Type="http://schemas.openxmlformats.org/officeDocument/2006/relationships/notesSlide" Target="/ppt/notesSlides/notesSlide4.xml" Id="R62e5a2db26f44b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9321f0a5e4d02" /><Relationship Type="http://schemas.openxmlformats.org/officeDocument/2006/relationships/notesSlide" Target="/ppt/notesSlides/notesSlide5.xml" Id="R139673e88ed946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a553cf38845b6" /><Relationship Type="http://schemas.openxmlformats.org/officeDocument/2006/relationships/notesSlide" Target="/ppt/notesSlides/notesSlide6.xml" Id="R29ae2d657ca7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194f5e51b4feb" /><Relationship Type="http://schemas.openxmlformats.org/officeDocument/2006/relationships/notesSlide" Target="/ppt/notesSlides/notesSlide7.xml" Id="R18cf81b8541742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24a7de0e242b6" /><Relationship Type="http://schemas.openxmlformats.org/officeDocument/2006/relationships/notesSlide" Target="/ppt/notesSlides/notesSlide8.xml" Id="R5778478b8a7d40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用电占比</c:v>
          </c:tx>
          <c:spPr>
            <a:solidFill xmlns:a="http://schemas.openxmlformats.org/drawingml/2006/main">
              <a:srgbClr val="16D7C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D7C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7F34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F879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F8797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6F8797"/>
              </a:solidFill>
            </c:spPr>
          </c:dPt>
          <c:cat>
            <c:strLit>
              <c:ptCount val="5"/>
              <c:pt idx="0">
                <c:v>工艺设备</c:v>
              </c:pt>
              <c:pt idx="1">
                <c:v>暖通空调</c:v>
              </c:pt>
              <c:pt idx="2">
                <c:v>空压系统</c:v>
              </c:pt>
              <c:pt idx="3">
                <c:v>辅助系统</c:v>
              </c:pt>
              <c:pt idx="4">
                <c:v>线损与其他</c:v>
              </c:pt>
            </c:strLit>
          </c:cat>
          <c:val>
            <c:numLit>
              <c:formatCode>General</c:formatCode>
              <c:ptCount val="5"/>
              <c:pt idx="0">
                <c:v>52</c:v>
              </c:pt>
              <c:pt idx="1">
                <c:v>21</c:v>
              </c:pt>
              <c:pt idx="2">
                <c:v>14</c:v>
              </c:pt>
              <c:pt idx="3">
                <c:v>9</c:v>
              </c:pt>
              <c:pt idx="4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6FB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B506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7C9D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61B2C"/>
        </a:solidFill>
        <a:ln xmlns:a="http://schemas.openxmlformats.org/drawingml/2006/main" w="0">
          <a:solidFill>
            <a:srgbClr val="061B2C"/>
          </a:solidFill>
          <a:prstDash val="solid"/>
        </a:ln>
      </c:spPr>
    </c:plotArea>
    <c:plotVisOnly val="1"/>
  </c:chart>
  <c:spPr>
    <a:solidFill xmlns:a="http://schemas.openxmlformats.org/drawingml/2006/main">
      <a:srgbClr val="061B2C"/>
    </a:solidFill>
    <a:ln xmlns:a="http://schemas.openxmlformats.org/drawingml/2006/main" w="0">
      <a:solidFill>
        <a:srgbClr val="061B2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0a29908d446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64002DE-2929-4798-ADB1-27D99E1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4144705-A2BF-44A3-B7B6-B39D33C7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D7C8"/>
                </a:solidFill>
              </a:defRPr>
            </a:pPr>
            <a:r>
              <a:rPr sz="1350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E1DEA9-39ED-4699-B956-E9E1F27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334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6FBFF"/>
                </a:solidFill>
              </a:defRPr>
            </a:pPr>
            <a:r>
              <a:rPr sz="5250" b="1">
                <a:solidFill>
                  <a:srgbClr val="F6FBFF"/>
                </a:solidFill>
              </a:rPr>
              <a:t>园区能源</a:t>
            </a:r>
          </a:p>
          <a:p xmlns:a="http://schemas.openxmlformats.org/drawingml/2006/main">
            <a:pPr algn="l">
              <a:defRPr sz="5250" b="1">
                <a:solidFill>
                  <a:srgbClr val="F6FBFF"/>
                </a:solidFill>
              </a:defRPr>
            </a:pPr>
            <a:r>
              <a:rPr sz="5250" b="1">
                <a:solidFill>
                  <a:srgbClr val="F6FBFF"/>
                </a:solidFill>
              </a:rPr>
              <a:t>协同优化试点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1ADBEE-7864-4AB3-A287-7C364F4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BFF"/>
                </a:solidFill>
              </a:defRPr>
            </a:pPr>
            <a:r>
              <a:rPr sz="1950" b="1">
                <a:solidFill>
                  <a:srgbClr val="F6FBFF"/>
                </a:solidFill>
              </a:rPr>
              <a:t>以 12 周验证峰值控制、设备协同与可复制运营机制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B46578A4-82D0-452C-ACA9-0958549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投资决策稿  /  模拟业务数据  /  2026-08-31</a:t>
            </a:r>
          </a:p>
        </p:txBody>
      </p:sp>
    </p:spTree>
    <p:extLst>
      <p:ext uri="{BB962C8B-B14F-4D97-AF65-F5344CB8AC3E}">
        <p14:creationId xmlns:p14="http://schemas.microsoft.com/office/powerpoint/2010/main" val="2120104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2">
            <a:extLst xmlns:a="http://schemas.openxmlformats.org/drawingml/2006/main">
              <a:ext uri="{FF2B5EF4-FFF2-40B4-BE49-F238E27FC236}">
                <a16:creationId xmlns:a16="http://schemas.microsoft.com/office/drawing/2014/main" id="{314B35E0-51F7-4515-8784-FCF4246D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7B1E7BB-FDEF-40DE-B172-AC269FC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现状判断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9F227064-EDF6-4177-84B7-D96CD35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02</a:t>
            </a:r>
          </a:p>
        </p:txBody>
      </p:sp>
      <p:sp>
        <p:nvSpPr>
          <p:cNvPr id="4" name="top-rule-2">
            <a:extLst xmlns:a="http://schemas.openxmlformats.org/drawingml/2006/main">
              <a:ext uri="{FF2B5EF4-FFF2-40B4-BE49-F238E27FC236}">
                <a16:creationId xmlns:a16="http://schemas.microsoft.com/office/drawing/2014/main" id="{37CD77ED-C1E5-44EC-A1DE-51B6161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DCC060B4-6A8A-49DE-8139-96A0D902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峰值与设备孤岛正在放大能源成本</a:t>
            </a:r>
          </a:p>
        </p:txBody>
      </p:sp>
      <p:sp>
        <p:nvSpPr>
          <p:cNvPr id="6" name="context-lead">
            <a:extLst xmlns:a="http://schemas.openxmlformats.org/drawingml/2006/main">
              <a:ext uri="{FF2B5EF4-FFF2-40B4-BE49-F238E27FC236}">
                <a16:creationId xmlns:a16="http://schemas.microsoft.com/office/drawing/2014/main" id="{464A6348-2454-4370-A3D5-37057DF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9D6"/>
                </a:solidFill>
              </a:defRPr>
            </a:pPr>
            <a:r>
              <a:rPr sz="1800" b="0">
                <a:solidFill>
                  <a:srgbClr val="B7C9D6"/>
                </a:solidFill>
              </a:rPr>
              <a:t>园区已经具备光伏、储能和分项计量，问题不再是“有没有设备”，而是能否跨系统统一调度。</a:t>
            </a:r>
          </a:p>
        </p:txBody>
      </p:sp>
      <p:sp>
        <p:nvSpPr>
          <p:cNvPr id="7" name="年用电量-rule">
            <a:extLst xmlns:a="http://schemas.openxmlformats.org/drawingml/2006/main">
              <a:ext uri="{FF2B5EF4-FFF2-40B4-BE49-F238E27FC236}">
                <a16:creationId xmlns:a16="http://schemas.microsoft.com/office/drawing/2014/main" id="{FA594BF1-3D6B-431D-A852-4E5D2B8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年用电量-value">
            <a:extLst xmlns:a="http://schemas.openxmlformats.org/drawingml/2006/main">
              <a:ext uri="{FF2B5EF4-FFF2-40B4-BE49-F238E27FC236}">
                <a16:creationId xmlns:a16="http://schemas.microsoft.com/office/drawing/2014/main" id="{4F5402FF-B38C-47A0-BF6F-5D6D2A0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BFF"/>
                </a:solidFill>
              </a:defRPr>
            </a:pPr>
            <a:r>
              <a:rPr sz="4050" b="1">
                <a:solidFill>
                  <a:srgbClr val="F6FBFF"/>
                </a:solidFill>
              </a:rPr>
              <a:t>28.6 GWh</a:t>
            </a:r>
          </a:p>
        </p:txBody>
      </p:sp>
      <p:sp>
        <p:nvSpPr>
          <p:cNvPr id="9" name="年用电量-label">
            <a:extLst xmlns:a="http://schemas.openxmlformats.org/drawingml/2006/main">
              <a:ext uri="{FF2B5EF4-FFF2-40B4-BE49-F238E27FC236}">
                <a16:creationId xmlns:a16="http://schemas.microsoft.com/office/drawing/2014/main" id="{692B5B8B-7928-4AAE-B899-44AEACA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D7C8"/>
                </a:solidFill>
              </a:defRPr>
            </a:pPr>
            <a:r>
              <a:rPr sz="1800" b="1">
                <a:solidFill>
                  <a:srgbClr val="16D7C8"/>
                </a:solidFill>
              </a:rPr>
              <a:t>年用电量</a:t>
            </a:r>
          </a:p>
        </p:txBody>
      </p:sp>
      <p:sp>
        <p:nvSpPr>
          <p:cNvPr id="10" name="年用电量-detail">
            <a:extLst xmlns:a="http://schemas.openxmlformats.org/drawingml/2006/main">
              <a:ext uri="{FF2B5EF4-FFF2-40B4-BE49-F238E27FC236}">
                <a16:creationId xmlns:a16="http://schemas.microsoft.com/office/drawing/2014/main" id="{D130FD56-5674-4776-A0A1-DDFE6B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模拟基线；用于试点规模判断</a:t>
            </a:r>
          </a:p>
        </p:txBody>
      </p:sp>
      <p:sp>
        <p:nvSpPr>
          <p:cNvPr id="11" name="最大需量-rule">
            <a:extLst xmlns:a="http://schemas.openxmlformats.org/drawingml/2006/main">
              <a:ext uri="{FF2B5EF4-FFF2-40B4-BE49-F238E27FC236}">
                <a16:creationId xmlns:a16="http://schemas.microsoft.com/office/drawing/2014/main" id="{2DF86E52-ADB7-457B-8332-3AFA7FF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最大需量-value">
            <a:extLst xmlns:a="http://schemas.openxmlformats.org/drawingml/2006/main">
              <a:ext uri="{FF2B5EF4-FFF2-40B4-BE49-F238E27FC236}">
                <a16:creationId xmlns:a16="http://schemas.microsoft.com/office/drawing/2014/main" id="{D00E980B-B284-4E97-8E4C-CFEF36E6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BFF"/>
                </a:solidFill>
              </a:defRPr>
            </a:pPr>
            <a:r>
              <a:rPr sz="4050" b="1">
                <a:solidFill>
                  <a:srgbClr val="F6FBFF"/>
                </a:solidFill>
              </a:rPr>
              <a:t>8.4 MW</a:t>
            </a:r>
          </a:p>
        </p:txBody>
      </p:sp>
      <p:sp>
        <p:nvSpPr>
          <p:cNvPr id="13" name="最大需量-label">
            <a:extLst xmlns:a="http://schemas.openxmlformats.org/drawingml/2006/main">
              <a:ext uri="{FF2B5EF4-FFF2-40B4-BE49-F238E27FC236}">
                <a16:creationId xmlns:a16="http://schemas.microsoft.com/office/drawing/2014/main" id="{AD10F019-9BF4-4D98-9C13-B2FC2DE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F34A"/>
                </a:solidFill>
              </a:defRPr>
            </a:pPr>
            <a:r>
              <a:rPr sz="1800" b="1">
                <a:solidFill>
                  <a:srgbClr val="B7F34A"/>
                </a:solidFill>
              </a:rPr>
              <a:t>最大需量</a:t>
            </a:r>
          </a:p>
        </p:txBody>
      </p:sp>
      <p:sp>
        <p:nvSpPr>
          <p:cNvPr id="14" name="最大需量-detail">
            <a:extLst xmlns:a="http://schemas.openxmlformats.org/drawingml/2006/main">
              <a:ext uri="{FF2B5EF4-FFF2-40B4-BE49-F238E27FC236}">
                <a16:creationId xmlns:a16="http://schemas.microsoft.com/office/drawing/2014/main" id="{C8052A3D-D93E-49DA-9F58-31D9BDE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夏季工作日峰值；决定削峰价值</a:t>
            </a:r>
          </a:p>
        </p:txBody>
      </p:sp>
      <p:sp>
        <p:nvSpPr>
          <p:cNvPr id="15" name="可调资源-rule">
            <a:extLst xmlns:a="http://schemas.openxmlformats.org/drawingml/2006/main">
              <a:ext uri="{FF2B5EF4-FFF2-40B4-BE49-F238E27FC236}">
                <a16:creationId xmlns:a16="http://schemas.microsoft.com/office/drawing/2014/main" id="{09D958F9-19EA-4667-8CAF-BACA1FD5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可调资源-value">
            <a:extLst xmlns:a="http://schemas.openxmlformats.org/drawingml/2006/main">
              <a:ext uri="{FF2B5EF4-FFF2-40B4-BE49-F238E27FC236}">
                <a16:creationId xmlns:a16="http://schemas.microsoft.com/office/drawing/2014/main" id="{6AE552B7-9FB0-4D8D-B2BA-58D6A20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BFF"/>
                </a:solidFill>
              </a:defRPr>
            </a:pPr>
            <a:r>
              <a:rPr sz="4050" b="1">
                <a:solidFill>
                  <a:srgbClr val="F6FBFF"/>
                </a:solidFill>
              </a:rPr>
              <a:t>3 类</a:t>
            </a:r>
          </a:p>
        </p:txBody>
      </p:sp>
      <p:sp>
        <p:nvSpPr>
          <p:cNvPr id="17" name="可调资源-label">
            <a:extLst xmlns:a="http://schemas.openxmlformats.org/drawingml/2006/main">
              <a:ext uri="{FF2B5EF4-FFF2-40B4-BE49-F238E27FC236}">
                <a16:creationId xmlns:a16="http://schemas.microsoft.com/office/drawing/2014/main" id="{3E12D829-1FA0-4359-8B06-31878251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D7C8"/>
                </a:solidFill>
              </a:defRPr>
            </a:pPr>
            <a:r>
              <a:rPr sz="1800" b="1">
                <a:solidFill>
                  <a:srgbClr val="16D7C8"/>
                </a:solidFill>
              </a:rPr>
              <a:t>可调资源</a:t>
            </a:r>
          </a:p>
        </p:txBody>
      </p:sp>
      <p:sp>
        <p:nvSpPr>
          <p:cNvPr id="18" name="可调资源-detail">
            <a:extLst xmlns:a="http://schemas.openxmlformats.org/drawingml/2006/main">
              <a:ext uri="{FF2B5EF4-FFF2-40B4-BE49-F238E27FC236}">
                <a16:creationId xmlns:a16="http://schemas.microsoft.com/office/drawing/2014/main" id="{8886560C-EAD9-4AD2-8555-7166A91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光伏、储能、柔性负荷</a:t>
            </a:r>
          </a:p>
        </p:txBody>
      </p:sp>
      <p:sp>
        <p:nvSpPr>
          <p:cNvPr id="19" name="context-takeaway">
            <a:extLst xmlns:a="http://schemas.openxmlformats.org/drawingml/2006/main">
              <a:ext uri="{FF2B5EF4-FFF2-40B4-BE49-F238E27FC236}">
                <a16:creationId xmlns:a16="http://schemas.microsoft.com/office/drawing/2014/main" id="{9279A7D9-FE4A-4B8E-A0DF-3778FE8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决策含义：先验证统一调度，再决定是否复制到其他基地。</a:t>
            </a:r>
          </a:p>
        </p:txBody>
      </p:sp>
    </p:spTree>
    <p:extLst>
      <p:ext uri="{BB962C8B-B14F-4D97-AF65-F5344CB8AC3E}">
        <p14:creationId xmlns:p14="http://schemas.microsoft.com/office/powerpoint/2010/main" val="1166556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3">
            <a:extLst xmlns:a="http://schemas.openxmlformats.org/drawingml/2006/main">
              <a:ext uri="{FF2B5EF4-FFF2-40B4-BE49-F238E27FC236}">
                <a16:creationId xmlns:a16="http://schemas.microsoft.com/office/drawing/2014/main" id="{F004D7CA-5559-48FA-993C-6514B86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2A97BDA-7EBE-484C-A9FC-1ADA2284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方案闭环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9072AF0-D041-47D4-9854-7414A56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03</a:t>
            </a:r>
          </a:p>
        </p:txBody>
      </p:sp>
      <p:sp>
        <p:nvSpPr>
          <p:cNvPr id="4" name="top-rule-3">
            <a:extLst xmlns:a="http://schemas.openxmlformats.org/drawingml/2006/main">
              <a:ext uri="{FF2B5EF4-FFF2-40B4-BE49-F238E27FC236}">
                <a16:creationId xmlns:a16="http://schemas.microsoft.com/office/drawing/2014/main" id="{CEFD599D-3AA4-442D-BF26-B17712E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91E5C7F3-7C89-429F-9958-98389E5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统一数据与控制闭环是试点的核心</a:t>
            </a:r>
          </a:p>
        </p:txBody>
      </p:sp>
      <p:sp>
        <p:nvSpPr>
          <p:cNvPr id="6" name="loop-lead">
            <a:extLst xmlns:a="http://schemas.openxmlformats.org/drawingml/2006/main">
              <a:ext uri="{FF2B5EF4-FFF2-40B4-BE49-F238E27FC236}">
                <a16:creationId xmlns:a16="http://schemas.microsoft.com/office/drawing/2014/main" id="{6776E8E2-AFE5-46DF-884A-3E02D60B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9D6"/>
                </a:solidFill>
              </a:defRPr>
            </a:pPr>
            <a:r>
              <a:rPr sz="1800" b="0">
                <a:solidFill>
                  <a:srgbClr val="B7C9D6"/>
                </a:solidFill>
              </a:rPr>
              <a:t>叠加协同层，不替换已有设备控制系统；每一步都保留人工接管与审计记录。</a:t>
            </a:r>
          </a:p>
        </p:txBody>
      </p:sp>
      <p:sp>
        <p:nvSpPr>
          <p:cNvPr id="7" name="process-spine">
            <a:extLst xmlns:a="http://schemas.openxmlformats.org/drawingml/2006/main">
              <a:ext uri="{FF2B5EF4-FFF2-40B4-BE49-F238E27FC236}">
                <a16:creationId xmlns:a16="http://schemas.microsoft.com/office/drawing/2014/main" id="{7758341F-20FD-4757-861A-010C732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ode-0">
            <a:extLst xmlns:a="http://schemas.openxmlformats.org/drawingml/2006/main">
              <a:ext uri="{FF2B5EF4-FFF2-40B4-BE49-F238E27FC236}">
                <a16:creationId xmlns:a16="http://schemas.microsoft.com/office/drawing/2014/main" id="{B977B916-51F5-41E4-9D23-7396615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9" name="step-no-0">
            <a:extLst xmlns:a="http://schemas.openxmlformats.org/drawingml/2006/main">
              <a:ext uri="{FF2B5EF4-FFF2-40B4-BE49-F238E27FC236}">
                <a16:creationId xmlns:a16="http://schemas.microsoft.com/office/drawing/2014/main" id="{6206ACDF-08E3-4604-815C-3E35164B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01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E07F310-B10A-4660-9281-3F08BB1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采集</a:t>
            </a:r>
          </a:p>
        </p:txBody>
      </p:sp>
      <p:sp>
        <p:nvSpPr>
          <p:cNvPr id="11" name="step-detail-0">
            <a:extLst xmlns:a="http://schemas.openxmlformats.org/drawingml/2006/main">
              <a:ext uri="{FF2B5EF4-FFF2-40B4-BE49-F238E27FC236}">
                <a16:creationId xmlns:a16="http://schemas.microsoft.com/office/drawing/2014/main" id="{CE3951BE-B650-40F1-A3ED-34086EE2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计量、气象、设备状态</a:t>
            </a:r>
          </a:p>
        </p:txBody>
      </p:sp>
      <p:sp>
        <p:nvSpPr>
          <p:cNvPr id="12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239C45A-B287-4691-A440-0CA2CFB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13" name="step-no-1">
            <a:extLst xmlns:a="http://schemas.openxmlformats.org/drawingml/2006/main">
              <a:ext uri="{FF2B5EF4-FFF2-40B4-BE49-F238E27FC236}">
                <a16:creationId xmlns:a16="http://schemas.microsoft.com/office/drawing/2014/main" id="{680E37E8-69CC-435F-93B2-E326DA3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02</a:t>
            </a:r>
          </a:p>
        </p:txBody>
      </p:sp>
      <p:sp>
        <p:nvSpPr>
          <p:cNvPr id="14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6809A035-4DDE-4F8E-8E34-33748477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预测</a:t>
            </a:r>
          </a:p>
        </p:txBody>
      </p:sp>
      <p:sp>
        <p:nvSpPr>
          <p:cNvPr id="15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7EEBC0DF-34FF-4941-9A19-34E29CD3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386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次日负荷与光伏出力</a:t>
            </a:r>
          </a:p>
        </p:txBody>
      </p:sp>
      <p:sp>
        <p:nvSpPr>
          <p:cNvPr id="16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B797033-5BFE-4DD3-95AB-9B35306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17" name="step-no-2">
            <a:extLst xmlns:a="http://schemas.openxmlformats.org/drawingml/2006/main">
              <a:ext uri="{FF2B5EF4-FFF2-40B4-BE49-F238E27FC236}">
                <a16:creationId xmlns:a16="http://schemas.microsoft.com/office/drawing/2014/main" id="{81FAA227-91A7-4DA1-A1E2-85599E4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03</a:t>
            </a:r>
          </a:p>
        </p:txBody>
      </p:sp>
      <p:sp>
        <p:nvSpPr>
          <p:cNvPr id="18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E1949DE-63F8-409C-8743-0C3F56F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优化</a:t>
            </a:r>
          </a:p>
        </p:txBody>
      </p:sp>
      <p:sp>
        <p:nvSpPr>
          <p:cNvPr id="19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94B01A05-B429-42CB-98B7-D6D437BC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386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需量、电价、生产约束</a:t>
            </a:r>
          </a:p>
        </p:txBody>
      </p:sp>
      <p:sp>
        <p:nvSpPr>
          <p:cNvPr id="20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078A2DD-9A84-4B90-B00B-1ABFCCF8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21" name="step-no-3">
            <a:extLst xmlns:a="http://schemas.openxmlformats.org/drawingml/2006/main">
              <a:ext uri="{FF2B5EF4-FFF2-40B4-BE49-F238E27FC236}">
                <a16:creationId xmlns:a16="http://schemas.microsoft.com/office/drawing/2014/main" id="{ABBBEE1B-FE7F-4AED-87D9-B820D39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04</a:t>
            </a:r>
          </a:p>
        </p:txBody>
      </p:sp>
      <p:sp>
        <p:nvSpPr>
          <p:cNvPr id="22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01C218F5-D5F2-47F3-8BF1-FB46ACE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执行</a:t>
            </a:r>
          </a:p>
        </p:txBody>
      </p:sp>
      <p:sp>
        <p:nvSpPr>
          <p:cNvPr id="23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BDE424BB-EAA0-45F9-AA32-760B9A2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储能与柔性负荷策略</a:t>
            </a:r>
          </a:p>
        </p:txBody>
      </p:sp>
      <p:sp>
        <p:nvSpPr>
          <p:cNvPr id="24" name="step-node-4">
            <a:extLst xmlns:a="http://schemas.openxmlformats.org/drawingml/2006/main">
              <a:ext uri="{FF2B5EF4-FFF2-40B4-BE49-F238E27FC236}">
                <a16:creationId xmlns:a16="http://schemas.microsoft.com/office/drawing/2014/main" id="{A4211E62-1DB6-40F8-8E14-15E3594D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1051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F34A"/>
          </a:solidFill>
          <a:ln xmlns:a="http://schemas.openxmlformats.org/drawingml/2006/main" w="28575">
            <a:solidFill>
              <a:srgbClr val="B7F34A"/>
            </a:solidFill>
            <a:prstDash val="solid"/>
          </a:ln>
        </p:spPr>
      </p:sp>
      <p:sp>
        <p:nvSpPr>
          <p:cNvPr id="25" name="step-no-4">
            <a:extLst xmlns:a="http://schemas.openxmlformats.org/drawingml/2006/main">
              <a:ext uri="{FF2B5EF4-FFF2-40B4-BE49-F238E27FC236}">
                <a16:creationId xmlns:a16="http://schemas.microsoft.com/office/drawing/2014/main" id="{AC81FF1F-9E14-4EC6-AB2E-15EE23B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C"/>
                </a:solidFill>
              </a:defRPr>
            </a:pPr>
            <a:r>
              <a:rPr sz="1650" b="1">
                <a:solidFill>
                  <a:srgbClr val="061B2C"/>
                </a:solidFill>
              </a:rPr>
              <a:t>05</a:t>
            </a:r>
          </a:p>
        </p:txBody>
      </p:sp>
      <p:sp>
        <p:nvSpPr>
          <p:cNvPr id="26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F5215B46-8B64-47CF-B2A1-16ADEE65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F34A"/>
                </a:solidFill>
              </a:defRPr>
            </a:pPr>
            <a:r>
              <a:rPr sz="1875" b="1">
                <a:solidFill>
                  <a:srgbClr val="B7F34A"/>
                </a:solidFill>
              </a:rPr>
              <a:t>复盘</a:t>
            </a:r>
          </a:p>
        </p:txBody>
      </p:sp>
      <p:sp>
        <p:nvSpPr>
          <p:cNvPr id="27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2D1B98FD-08F6-4707-B39F-E37F3EA0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386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6"/>
                </a:solidFill>
              </a:defRPr>
            </a:pPr>
            <a:r>
              <a:rPr sz="1275" b="0">
                <a:solidFill>
                  <a:srgbClr val="B7C9D6"/>
                </a:solidFill>
              </a:rPr>
              <a:t>收益、偏差、异常解释</a:t>
            </a:r>
          </a:p>
        </p:txBody>
      </p:sp>
      <p:sp>
        <p:nvSpPr>
          <p:cNvPr id="28" name="loop-takeaway">
            <a:extLst xmlns:a="http://schemas.openxmlformats.org/drawingml/2006/main">
              <a:ext uri="{FF2B5EF4-FFF2-40B4-BE49-F238E27FC236}">
                <a16:creationId xmlns:a16="http://schemas.microsoft.com/office/drawing/2014/main" id="{A67A36CB-8025-4A8C-8035-EA544B5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F34A"/>
                </a:solidFill>
              </a:defRPr>
            </a:pPr>
            <a:r>
              <a:rPr sz="1950" b="1">
                <a:solidFill>
                  <a:srgbClr val="B7F34A"/>
                </a:solidFill>
              </a:rPr>
              <a:t>工程目标：可回退、可审计、可复制</a:t>
            </a:r>
          </a:p>
        </p:txBody>
      </p:sp>
    </p:spTree>
    <p:extLst>
      <p:ext uri="{BB962C8B-B14F-4D97-AF65-F5344CB8AC3E}">
        <p14:creationId xmlns:p14="http://schemas.microsoft.com/office/powerpoint/2010/main" val="1982442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4">
            <a:extLst xmlns:a="http://schemas.openxmlformats.org/drawingml/2006/main">
              <a:ext uri="{FF2B5EF4-FFF2-40B4-BE49-F238E27FC236}">
                <a16:creationId xmlns:a16="http://schemas.microsoft.com/office/drawing/2014/main" id="{AB8E69A4-4625-4F60-8B7F-E3E4391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FEC79BF3-7CBA-4579-A797-F749188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负荷结构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D808C473-BD90-4210-9BA9-1C7494B7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04</a:t>
            </a:r>
          </a:p>
        </p:txBody>
      </p:sp>
      <p:sp>
        <p:nvSpPr>
          <p:cNvPr id="4" name="top-rule-4">
            <a:extLst xmlns:a="http://schemas.openxmlformats.org/drawingml/2006/main">
              <a:ext uri="{FF2B5EF4-FFF2-40B4-BE49-F238E27FC236}">
                <a16:creationId xmlns:a16="http://schemas.microsoft.com/office/drawing/2014/main" id="{EB87DFA3-2700-4E29-9E4F-F0E7423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DCA70E63-0427-496C-9FD3-7D2A013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两类负荷贡献了 73% 的用电基线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0782615904681"/>
          </a:graphicData>
        </a:graphic>
      </p:graphicFrame>
      <p:sp>
        <p:nvSpPr>
          <p:cNvPr id="7" name="chart-callout-value">
            <a:extLst xmlns:a="http://schemas.openxmlformats.org/drawingml/2006/main">
              <a:ext uri="{FF2B5EF4-FFF2-40B4-BE49-F238E27FC236}">
                <a16:creationId xmlns:a16="http://schemas.microsoft.com/office/drawing/2014/main" id="{C8143C12-0230-4BDE-9C52-DBD0A5C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7F34A"/>
                </a:solidFill>
              </a:defRPr>
            </a:pPr>
            <a:r>
              <a:rPr sz="5400" b="1">
                <a:solidFill>
                  <a:srgbClr val="B7F34A"/>
                </a:solidFill>
              </a:rPr>
              <a:t>73%</a:t>
            </a:r>
          </a:p>
        </p:txBody>
      </p:sp>
      <p:sp>
        <p:nvSpPr>
          <p:cNvPr id="8" name="chart-callout-label">
            <a:extLst xmlns:a="http://schemas.openxmlformats.org/drawingml/2006/main">
              <a:ext uri="{FF2B5EF4-FFF2-40B4-BE49-F238E27FC236}">
                <a16:creationId xmlns:a16="http://schemas.microsoft.com/office/drawing/2014/main" id="{78C6AF68-CBCC-4F49-A190-542C11A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工艺设备 + 暖通空调</a:t>
            </a:r>
          </a:p>
        </p:txBody>
      </p:sp>
      <p:sp>
        <p:nvSpPr>
          <p:cNvPr id="9" name="chart-callout-body">
            <a:extLst xmlns:a="http://schemas.openxmlformats.org/drawingml/2006/main">
              <a:ext uri="{FF2B5EF4-FFF2-40B4-BE49-F238E27FC236}">
                <a16:creationId xmlns:a16="http://schemas.microsoft.com/office/drawing/2014/main" id="{37C0147E-A8A0-41AA-BFE7-0BA537B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257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9D6"/>
                </a:solidFill>
              </a:defRPr>
            </a:pPr>
            <a:r>
              <a:rPr sz="1650" b="0">
                <a:solidFill>
                  <a:srgbClr val="B7C9D6"/>
                </a:solidFill>
              </a:rPr>
              <a:t>优先优化工艺排程与冷站联动。</a:t>
            </a:r>
          </a:p>
          <a:p xmlns:a="http://schemas.openxmlformats.org/drawingml/2006/main">
            <a:pPr algn="l">
              <a:defRPr sz="1650" b="0">
                <a:solidFill>
                  <a:srgbClr val="B7C9D6"/>
                </a:solidFill>
              </a:defRPr>
            </a:pPr>
            <a:r>
              <a:rPr sz="1650" b="0">
                <a:solidFill>
                  <a:srgbClr val="B7C9D6"/>
                </a:solidFill>
              </a:rPr>
              <a:t>储能只负责削峰，不替代效率改造。</a:t>
            </a:r>
          </a:p>
        </p:txBody>
      </p:sp>
      <p:sp>
        <p:nvSpPr>
          <p:cNvPr id="10" name="chart-source">
            <a:extLst xmlns:a="http://schemas.openxmlformats.org/drawingml/2006/main">
              <a:ext uri="{FF2B5EF4-FFF2-40B4-BE49-F238E27FC236}">
                <a16:creationId xmlns:a16="http://schemas.microsoft.com/office/drawing/2014/main" id="{1E74A705-8711-45B7-B50D-60A1BF5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8797"/>
                </a:solidFill>
              </a:defRPr>
            </a:pPr>
            <a:r>
              <a:rPr sz="1200" b="0">
                <a:solidFill>
                  <a:srgbClr val="6F8797"/>
                </a:solidFill>
              </a:rPr>
              <a:t>模拟负荷结构｜单位：%</a:t>
            </a:r>
          </a:p>
        </p:txBody>
      </p:sp>
    </p:spTree>
    <p:extLst>
      <p:ext uri="{BB962C8B-B14F-4D97-AF65-F5344CB8AC3E}">
        <p14:creationId xmlns:p14="http://schemas.microsoft.com/office/powerpoint/2010/main" val="313140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5">
            <a:extLst xmlns:a="http://schemas.openxmlformats.org/drawingml/2006/main">
              <a:ext uri="{FF2B5EF4-FFF2-40B4-BE49-F238E27FC236}">
                <a16:creationId xmlns:a16="http://schemas.microsoft.com/office/drawing/2014/main" id="{ADECC25B-787A-4C9C-8281-DEC7C12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9CB9E7E5-9044-446C-AFC7-BE811F8E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经济性门槛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2C02F40-32F4-4552-9F3B-5EBF856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05</a:t>
            </a:r>
          </a:p>
        </p:txBody>
      </p:sp>
      <p:sp>
        <p:nvSpPr>
          <p:cNvPr id="4" name="top-rule-5">
            <a:extLst xmlns:a="http://schemas.openxmlformats.org/drawingml/2006/main">
              <a:ext uri="{FF2B5EF4-FFF2-40B4-BE49-F238E27FC236}">
                <a16:creationId xmlns:a16="http://schemas.microsoft.com/office/drawing/2014/main" id="{D50D9A5D-426B-4AAD-BEA0-7BA3A8A0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AD490E51-8C03-4A6A-B369-3ACAAD8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BFF"/>
                </a:solidFill>
              </a:defRPr>
            </a:pPr>
            <a:r>
              <a:rPr sz="3300" b="1">
                <a:solidFill>
                  <a:srgbClr val="F6FBFF"/>
                </a:solidFill>
              </a:rPr>
              <a:t>72 万元试点换取三项可验证收益</a:t>
            </a:r>
          </a:p>
        </p:txBody>
      </p:sp>
      <p:sp>
        <p:nvSpPr>
          <p:cNvPr id="6" name="economics-lead">
            <a:extLst xmlns:a="http://schemas.openxmlformats.org/drawingml/2006/main">
              <a:ext uri="{FF2B5EF4-FFF2-40B4-BE49-F238E27FC236}">
                <a16:creationId xmlns:a16="http://schemas.microsoft.com/office/drawing/2014/main" id="{809F3440-5E6F-408E-9D65-D1F4DE5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9D6"/>
                </a:solidFill>
              </a:defRPr>
            </a:pPr>
            <a:r>
              <a:rPr sz="1800" b="0">
                <a:solidFill>
                  <a:srgbClr val="B7C9D6"/>
                </a:solidFill>
              </a:rPr>
              <a:t>所有收益都是门槛，不是承诺值；三项同时满足，才进入规模化。</a:t>
            </a:r>
          </a:p>
        </p:txBody>
      </p:sp>
      <p:sp>
        <p:nvSpPr>
          <p:cNvPr id="7" name="economics-axis">
            <a:extLst xmlns:a="http://schemas.openxmlformats.org/drawingml/2006/main">
              <a:ext uri="{FF2B5EF4-FFF2-40B4-BE49-F238E27FC236}">
                <a16:creationId xmlns:a16="http://schemas.microsoft.com/office/drawing/2014/main" id="{CE1F0D36-D9AE-41E3-A3CC-F306154B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rule-0">
            <a:extLst xmlns:a="http://schemas.openxmlformats.org/drawingml/2006/main">
              <a:ext uri="{FF2B5EF4-FFF2-40B4-BE49-F238E27FC236}">
                <a16:creationId xmlns:a16="http://schemas.microsoft.com/office/drawing/2014/main" id="{6D90235A-3606-4C24-BBBF-41EC6425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te-value-0">
            <a:extLst xmlns:a="http://schemas.openxmlformats.org/drawingml/2006/main">
              <a:ext uri="{FF2B5EF4-FFF2-40B4-BE49-F238E27FC236}">
                <a16:creationId xmlns:a16="http://schemas.microsoft.com/office/drawing/2014/main" id="{05517917-0A5D-4BD3-8308-78D747CE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BFF"/>
                </a:solidFill>
              </a:defRPr>
            </a:pPr>
            <a:r>
              <a:rPr sz="3750" b="1">
                <a:solidFill>
                  <a:srgbClr val="F6FBFF"/>
                </a:solidFill>
              </a:rPr>
              <a:t>72 万元</a:t>
            </a:r>
          </a:p>
        </p:txBody>
      </p:sp>
      <p:sp>
        <p:nvSpPr>
          <p:cNvPr id="10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02DA0C46-0577-4C60-85B8-7F51CD5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D7C8"/>
                </a:solidFill>
              </a:defRPr>
            </a:pPr>
            <a:r>
              <a:rPr sz="1800" b="1">
                <a:solidFill>
                  <a:srgbClr val="16D7C8"/>
                </a:solidFill>
              </a:rPr>
              <a:t>试点投入</a:t>
            </a:r>
          </a:p>
        </p:txBody>
      </p:sp>
      <p:sp>
        <p:nvSpPr>
          <p:cNvPr id="11" name="gate-detail-0">
            <a:extLst xmlns:a="http://schemas.openxmlformats.org/drawingml/2006/main">
              <a:ext uri="{FF2B5EF4-FFF2-40B4-BE49-F238E27FC236}">
                <a16:creationId xmlns:a16="http://schemas.microsoft.com/office/drawing/2014/main" id="{416E7E67-E773-4299-8798-8F60F5D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数据接入、策略引擎、现场服务</a:t>
            </a:r>
          </a:p>
        </p:txBody>
      </p:sp>
      <p:sp>
        <p:nvSpPr>
          <p:cNvPr id="12" name="gate-rule-1">
            <a:extLst xmlns:a="http://schemas.openxmlformats.org/drawingml/2006/main">
              <a:ext uri="{FF2B5EF4-FFF2-40B4-BE49-F238E27FC236}">
                <a16:creationId xmlns:a16="http://schemas.microsoft.com/office/drawing/2014/main" id="{289A020D-2504-4A02-B60D-B076730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value-1">
            <a:extLst xmlns:a="http://schemas.openxmlformats.org/drawingml/2006/main">
              <a:ext uri="{FF2B5EF4-FFF2-40B4-BE49-F238E27FC236}">
                <a16:creationId xmlns:a16="http://schemas.microsoft.com/office/drawing/2014/main" id="{3DC6B570-D6AF-4679-9D4C-D1EE96FC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BFF"/>
                </a:solidFill>
              </a:defRPr>
            </a:pPr>
            <a:r>
              <a:rPr sz="3750" b="1">
                <a:solidFill>
                  <a:srgbClr val="F6FBFF"/>
                </a:solidFill>
              </a:rPr>
              <a:t>≥ 8%</a:t>
            </a:r>
          </a:p>
        </p:txBody>
      </p:sp>
      <p:sp>
        <p:nvSpPr>
          <p:cNvPr id="14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BA6621DF-F5B6-440B-8532-FA25E568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F34A"/>
                </a:solidFill>
              </a:defRPr>
            </a:pPr>
            <a:r>
              <a:rPr sz="1800" b="1">
                <a:solidFill>
                  <a:srgbClr val="B7F34A"/>
                </a:solidFill>
              </a:rPr>
              <a:t>节电门槛</a:t>
            </a:r>
          </a:p>
        </p:txBody>
      </p:sp>
      <p:sp>
        <p:nvSpPr>
          <p:cNvPr id="15" name="gate-detail-1">
            <a:extLst xmlns:a="http://schemas.openxmlformats.org/drawingml/2006/main">
              <a:ext uri="{FF2B5EF4-FFF2-40B4-BE49-F238E27FC236}">
                <a16:creationId xmlns:a16="http://schemas.microsoft.com/office/drawing/2014/main" id="{3C5AC404-06D3-4F93-B27F-AF56E5DE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按天气与产量归一化</a:t>
            </a:r>
          </a:p>
        </p:txBody>
      </p:sp>
      <p:sp>
        <p:nvSpPr>
          <p:cNvPr id="16" name="gate-rule-2">
            <a:extLst xmlns:a="http://schemas.openxmlformats.org/drawingml/2006/main">
              <a:ext uri="{FF2B5EF4-FFF2-40B4-BE49-F238E27FC236}">
                <a16:creationId xmlns:a16="http://schemas.microsoft.com/office/drawing/2014/main" id="{47A63023-8F05-46C3-979E-DA6DD4F2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ate-value-2">
            <a:extLst xmlns:a="http://schemas.openxmlformats.org/drawingml/2006/main">
              <a:ext uri="{FF2B5EF4-FFF2-40B4-BE49-F238E27FC236}">
                <a16:creationId xmlns:a16="http://schemas.microsoft.com/office/drawing/2014/main" id="{922C990C-4F74-4532-9E92-5EE20E73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BFF"/>
                </a:solidFill>
              </a:defRPr>
            </a:pPr>
            <a:r>
              <a:rPr sz="3750" b="1">
                <a:solidFill>
                  <a:srgbClr val="F6FBFF"/>
                </a:solidFill>
              </a:rPr>
              <a:t>≥ 12%</a:t>
            </a:r>
          </a:p>
        </p:txBody>
      </p:sp>
      <p:sp>
        <p:nvSpPr>
          <p:cNvPr id="18" name="gate-label-2">
            <a:extLst xmlns:a="http://schemas.openxmlformats.org/drawingml/2006/main">
              <a:ext uri="{FF2B5EF4-FFF2-40B4-BE49-F238E27FC236}">
                <a16:creationId xmlns:a16="http://schemas.microsoft.com/office/drawing/2014/main" id="{B9142327-F5B0-4290-A99A-B3F81A9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F34A"/>
                </a:solidFill>
              </a:defRPr>
            </a:pPr>
            <a:r>
              <a:rPr sz="1800" b="1">
                <a:solidFill>
                  <a:srgbClr val="B7F34A"/>
                </a:solidFill>
              </a:rPr>
              <a:t>削峰门槛</a:t>
            </a:r>
          </a:p>
        </p:txBody>
      </p:sp>
      <p:sp>
        <p:nvSpPr>
          <p:cNvPr id="19" name="gate-detail-2">
            <a:extLst xmlns:a="http://schemas.openxmlformats.org/drawingml/2006/main">
              <a:ext uri="{FF2B5EF4-FFF2-40B4-BE49-F238E27FC236}">
                <a16:creationId xmlns:a16="http://schemas.microsoft.com/office/drawing/2014/main" id="{6622446A-06DD-4E40-A651-42F58DCD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以最大需量口径核算</a:t>
            </a:r>
          </a:p>
        </p:txBody>
      </p:sp>
      <p:sp>
        <p:nvSpPr>
          <p:cNvPr id="20" name="gate-rule-3">
            <a:extLst xmlns:a="http://schemas.openxmlformats.org/drawingml/2006/main">
              <a:ext uri="{FF2B5EF4-FFF2-40B4-BE49-F238E27FC236}">
                <a16:creationId xmlns:a16="http://schemas.microsoft.com/office/drawing/2014/main" id="{83E2B227-09C5-4750-BAEF-C8788C5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ate-value-3">
            <a:extLst xmlns:a="http://schemas.openxmlformats.org/drawingml/2006/main">
              <a:ext uri="{FF2B5EF4-FFF2-40B4-BE49-F238E27FC236}">
                <a16:creationId xmlns:a16="http://schemas.microsoft.com/office/drawing/2014/main" id="{7F1815FD-5997-4D20-A0BA-E36C3EF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BFF"/>
                </a:solidFill>
              </a:defRPr>
            </a:pPr>
            <a:r>
              <a:rPr sz="3750" b="1">
                <a:solidFill>
                  <a:srgbClr val="F6FBFF"/>
                </a:solidFill>
              </a:rPr>
              <a:t>≤ 12 月</a:t>
            </a:r>
          </a:p>
        </p:txBody>
      </p:sp>
      <p:sp>
        <p:nvSpPr>
          <p:cNvPr id="22" name="gate-label-3">
            <a:extLst xmlns:a="http://schemas.openxmlformats.org/drawingml/2006/main">
              <a:ext uri="{FF2B5EF4-FFF2-40B4-BE49-F238E27FC236}">
                <a16:creationId xmlns:a16="http://schemas.microsoft.com/office/drawing/2014/main" id="{01D3104C-BCEB-438F-B9BE-5755C45C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F34A"/>
                </a:solidFill>
              </a:defRPr>
            </a:pPr>
            <a:r>
              <a:rPr sz="1800" b="1">
                <a:solidFill>
                  <a:srgbClr val="B7F34A"/>
                </a:solidFill>
              </a:rPr>
              <a:t>回收期门槛</a:t>
            </a:r>
          </a:p>
        </p:txBody>
      </p:sp>
      <p:sp>
        <p:nvSpPr>
          <p:cNvPr id="23" name="gate-detail-3">
            <a:extLst xmlns:a="http://schemas.openxmlformats.org/drawingml/2006/main">
              <a:ext uri="{FF2B5EF4-FFF2-40B4-BE49-F238E27FC236}">
                <a16:creationId xmlns:a16="http://schemas.microsoft.com/office/drawing/2014/main" id="{1F444C38-A1A4-4D4A-9B3C-706E2CC0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通过后才复制</a:t>
            </a:r>
          </a:p>
        </p:txBody>
      </p:sp>
      <p:sp>
        <p:nvSpPr>
          <p:cNvPr id="24" name="economics-decision">
            <a:extLst xmlns:a="http://schemas.openxmlformats.org/drawingml/2006/main">
              <a:ext uri="{FF2B5EF4-FFF2-40B4-BE49-F238E27FC236}">
                <a16:creationId xmlns:a16="http://schemas.microsoft.com/office/drawing/2014/main" id="{6C1A5A23-92E6-4523-A1E7-C1619E6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9525">
            <a:solidFill>
              <a:srgbClr val="16D7C8"/>
            </a:solidFill>
            <a:prstDash val="solid"/>
          </a:ln>
        </p:spPr>
      </p:sp>
      <p:sp>
        <p:nvSpPr>
          <p:cNvPr id="25" name="economics-decision-text">
            <a:extLst xmlns:a="http://schemas.openxmlformats.org/drawingml/2006/main">
              <a:ext uri="{FF2B5EF4-FFF2-40B4-BE49-F238E27FC236}">
                <a16:creationId xmlns:a16="http://schemas.microsoft.com/office/drawing/2014/main" id="{A2F87871-FD22-4398-9644-706F2E54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BFF"/>
                </a:solidFill>
              </a:defRPr>
            </a:pPr>
            <a:r>
              <a:rPr sz="1950" b="1">
                <a:solidFill>
                  <a:srgbClr val="F6FBFF"/>
                </a:solidFill>
              </a:rPr>
              <a:t>模拟测算：预计年化收益 235 万元，静态回收期约 3.7 个月</a:t>
            </a:r>
          </a:p>
        </p:txBody>
      </p:sp>
    </p:spTree>
    <p:extLst>
      <p:ext uri="{BB962C8B-B14F-4D97-AF65-F5344CB8AC3E}">
        <p14:creationId xmlns:p14="http://schemas.microsoft.com/office/powerpoint/2010/main" val="26253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6">
            <a:extLst xmlns:a="http://schemas.openxmlformats.org/drawingml/2006/main">
              <a:ext uri="{FF2B5EF4-FFF2-40B4-BE49-F238E27FC236}">
                <a16:creationId xmlns:a16="http://schemas.microsoft.com/office/drawing/2014/main" id="{AA23FA21-AE2A-4B2C-B469-954FBF5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99B0615E-3C96-4668-B661-35E7376B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实施路线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A9C5598-EC2E-4821-B822-AE4FDC5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06</a:t>
            </a:r>
          </a:p>
        </p:txBody>
      </p:sp>
      <p:sp>
        <p:nvSpPr>
          <p:cNvPr id="4" name="top-rule-6">
            <a:extLst xmlns:a="http://schemas.openxmlformats.org/drawingml/2006/main">
              <a:ext uri="{FF2B5EF4-FFF2-40B4-BE49-F238E27FC236}">
                <a16:creationId xmlns:a16="http://schemas.microsoft.com/office/drawing/2014/main" id="{9FFEE17B-8327-4E04-9F3A-2966FA11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B12E414D-F4D5-4D47-9519-66E722DE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12 周按四个决策门推进</a:t>
            </a:r>
          </a:p>
        </p:txBody>
      </p:sp>
      <p:sp>
        <p:nvSpPr>
          <p:cNvPr id="6" name="roadmap-lead">
            <a:extLst xmlns:a="http://schemas.openxmlformats.org/drawingml/2006/main">
              <a:ext uri="{FF2B5EF4-FFF2-40B4-BE49-F238E27FC236}">
                <a16:creationId xmlns:a16="http://schemas.microsoft.com/office/drawing/2014/main" id="{B68456DD-9D30-420C-8521-450FD855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9D6"/>
                </a:solidFill>
              </a:defRPr>
            </a:pPr>
            <a:r>
              <a:rPr sz="1800" b="0">
                <a:solidFill>
                  <a:srgbClr val="B7C9D6"/>
                </a:solidFill>
              </a:rPr>
              <a:t>每个阶段都有证据包；任何安全或生产约束不满足，都可退回观察模式。</a:t>
            </a:r>
          </a:p>
        </p:txBody>
      </p:sp>
      <p:sp>
        <p:nvSpPr>
          <p:cNvPr id="7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5423009B-7251-4841-AB78-7BEE9594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009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node-0">
            <a:extLst xmlns:a="http://schemas.openxmlformats.org/drawingml/2006/main">
              <a:ext uri="{FF2B5EF4-FFF2-40B4-BE49-F238E27FC236}">
                <a16:creationId xmlns:a16="http://schemas.microsoft.com/office/drawing/2014/main" id="{9D470E04-A840-4804-B281-8D7D5D5D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9" name="phase-no-0">
            <a:extLst xmlns:a="http://schemas.openxmlformats.org/drawingml/2006/main">
              <a:ext uri="{FF2B5EF4-FFF2-40B4-BE49-F238E27FC236}">
                <a16:creationId xmlns:a16="http://schemas.microsoft.com/office/drawing/2014/main" id="{073D3DA2-3FBE-424E-8F46-016E099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01</a:t>
            </a:r>
          </a:p>
        </p:txBody>
      </p:sp>
      <p:sp>
        <p:nvSpPr>
          <p:cNvPr id="10" name="phase-week-0">
            <a:extLst xmlns:a="http://schemas.openxmlformats.org/drawingml/2006/main">
              <a:ext uri="{FF2B5EF4-FFF2-40B4-BE49-F238E27FC236}">
                <a16:creationId xmlns:a16="http://schemas.microsoft.com/office/drawing/2014/main" id="{8B804650-AE4E-45DE-AB0E-FEB2FC1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第 1–2 周</a:t>
            </a:r>
          </a:p>
        </p:txBody>
      </p:sp>
      <p:sp>
        <p:nvSpPr>
          <p:cNvPr id="11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6FA54AD-6B90-4835-BD7D-EF27E65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基线</a:t>
            </a:r>
          </a:p>
        </p:txBody>
      </p:sp>
      <p:sp>
        <p:nvSpPr>
          <p:cNvPr id="12" name="phase-detail-0">
            <a:extLst xmlns:a="http://schemas.openxmlformats.org/drawingml/2006/main">
              <a:ext uri="{FF2B5EF4-FFF2-40B4-BE49-F238E27FC236}">
                <a16:creationId xmlns:a16="http://schemas.microsoft.com/office/drawing/2014/main" id="{A29A3F96-BC62-404E-B679-0C8F175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确认数据质量、计量边界与收益口径</a:t>
            </a:r>
          </a:p>
        </p:txBody>
      </p:sp>
      <p:sp>
        <p:nvSpPr>
          <p:cNvPr id="13" name="phase-node-1">
            <a:extLst xmlns:a="http://schemas.openxmlformats.org/drawingml/2006/main">
              <a:ext uri="{FF2B5EF4-FFF2-40B4-BE49-F238E27FC236}">
                <a16:creationId xmlns:a16="http://schemas.microsoft.com/office/drawing/2014/main" id="{A9C62B86-7D19-41EA-B8C7-1D24CEC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14" name="phase-no-1">
            <a:extLst xmlns:a="http://schemas.openxmlformats.org/drawingml/2006/main">
              <a:ext uri="{FF2B5EF4-FFF2-40B4-BE49-F238E27FC236}">
                <a16:creationId xmlns:a16="http://schemas.microsoft.com/office/drawing/2014/main" id="{94A156EA-2A67-4C3D-8592-5EF6DEB3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02</a:t>
            </a:r>
          </a:p>
        </p:txBody>
      </p:sp>
      <p:sp>
        <p:nvSpPr>
          <p:cNvPr id="15" name="phase-week-1">
            <a:extLst xmlns:a="http://schemas.openxmlformats.org/drawingml/2006/main">
              <a:ext uri="{FF2B5EF4-FFF2-40B4-BE49-F238E27FC236}">
                <a16:creationId xmlns:a16="http://schemas.microsoft.com/office/drawing/2014/main" id="{28D52AAD-5AAA-40BF-990A-29506758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86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第 3–5 周</a:t>
            </a:r>
          </a:p>
        </p:txBody>
      </p:sp>
      <p:sp>
        <p:nvSpPr>
          <p:cNvPr id="16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310FB912-146C-4757-BEB3-187E651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48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影子运行</a:t>
            </a:r>
          </a:p>
        </p:txBody>
      </p:sp>
      <p:sp>
        <p:nvSpPr>
          <p:cNvPr id="17" name="phase-detail-1">
            <a:extLst xmlns:a="http://schemas.openxmlformats.org/drawingml/2006/main">
              <a:ext uri="{FF2B5EF4-FFF2-40B4-BE49-F238E27FC236}">
                <a16:creationId xmlns:a16="http://schemas.microsoft.com/office/drawing/2014/main" id="{E56F02D5-0F3A-4EB7-B9C5-8EA88AEE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只给建议，不下发控制</a:t>
            </a:r>
          </a:p>
        </p:txBody>
      </p:sp>
      <p:sp>
        <p:nvSpPr>
          <p:cNvPr id="18" name="phase-node-2">
            <a:extLst xmlns:a="http://schemas.openxmlformats.org/drawingml/2006/main">
              <a:ext uri="{FF2B5EF4-FFF2-40B4-BE49-F238E27FC236}">
                <a16:creationId xmlns:a16="http://schemas.microsoft.com/office/drawing/2014/main" id="{21762680-AD79-4458-A6B0-199C0CFA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28575">
            <a:solidFill>
              <a:srgbClr val="16D7C8"/>
            </a:solidFill>
            <a:prstDash val="solid"/>
          </a:ln>
        </p:spPr>
      </p:sp>
      <p:sp>
        <p:nvSpPr>
          <p:cNvPr id="19" name="phase-no-2">
            <a:extLst xmlns:a="http://schemas.openxmlformats.org/drawingml/2006/main">
              <a:ext uri="{FF2B5EF4-FFF2-40B4-BE49-F238E27FC236}">
                <a16:creationId xmlns:a16="http://schemas.microsoft.com/office/drawing/2014/main" id="{F1DC1FB0-1885-4A3C-A8FD-2C07BB5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03</a:t>
            </a:r>
          </a:p>
        </p:txBody>
      </p:sp>
      <p:sp>
        <p:nvSpPr>
          <p:cNvPr id="20" name="phase-week-2">
            <a:extLst xmlns:a="http://schemas.openxmlformats.org/drawingml/2006/main">
              <a:ext uri="{FF2B5EF4-FFF2-40B4-BE49-F238E27FC236}">
                <a16:creationId xmlns:a16="http://schemas.microsoft.com/office/drawing/2014/main" id="{4B50F112-BF5A-474E-B301-9007D275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第 6–9 周</a:t>
            </a:r>
          </a:p>
        </p:txBody>
      </p:sp>
      <p:sp>
        <p:nvSpPr>
          <p:cNvPr id="2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B899D2AA-C32F-4B59-A4C5-8519E66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受控执行</a:t>
            </a:r>
          </a:p>
        </p:txBody>
      </p:sp>
      <p:sp>
        <p:nvSpPr>
          <p:cNvPr id="22" name="phase-detail-2">
            <a:extLst xmlns:a="http://schemas.openxmlformats.org/drawingml/2006/main">
              <a:ext uri="{FF2B5EF4-FFF2-40B4-BE49-F238E27FC236}">
                <a16:creationId xmlns:a16="http://schemas.microsoft.com/office/drawing/2014/main" id="{DB0A94A9-54FE-437C-A235-E0E5C48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限定设备与时段，逐步扩大覆盖</a:t>
            </a:r>
          </a:p>
        </p:txBody>
      </p:sp>
      <p:sp>
        <p:nvSpPr>
          <p:cNvPr id="23" name="phase-node-3">
            <a:extLst xmlns:a="http://schemas.openxmlformats.org/drawingml/2006/main">
              <a:ext uri="{FF2B5EF4-FFF2-40B4-BE49-F238E27FC236}">
                <a16:creationId xmlns:a16="http://schemas.microsoft.com/office/drawing/2014/main" id="{A1AFE517-0D52-47A9-A263-6BEA919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7F34A"/>
          </a:solidFill>
          <a:ln xmlns:a="http://schemas.openxmlformats.org/drawingml/2006/main" w="28575">
            <a:solidFill>
              <a:srgbClr val="B7F34A"/>
            </a:solidFill>
            <a:prstDash val="solid"/>
          </a:ln>
        </p:spPr>
      </p:sp>
      <p:sp>
        <p:nvSpPr>
          <p:cNvPr id="24" name="phase-no-3">
            <a:extLst xmlns:a="http://schemas.openxmlformats.org/drawingml/2006/main">
              <a:ext uri="{FF2B5EF4-FFF2-40B4-BE49-F238E27FC236}">
                <a16:creationId xmlns:a16="http://schemas.microsoft.com/office/drawing/2014/main" id="{55285D86-2E42-4817-BD5F-CA41397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71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B2C"/>
                </a:solidFill>
              </a:defRPr>
            </a:pPr>
            <a:r>
              <a:rPr sz="1500" b="1">
                <a:solidFill>
                  <a:srgbClr val="061B2C"/>
                </a:solidFill>
              </a:rPr>
              <a:t>04</a:t>
            </a:r>
          </a:p>
        </p:txBody>
      </p:sp>
      <p:sp>
        <p:nvSpPr>
          <p:cNvPr id="25" name="phase-week-3">
            <a:extLst xmlns:a="http://schemas.openxmlformats.org/drawingml/2006/main">
              <a:ext uri="{FF2B5EF4-FFF2-40B4-BE49-F238E27FC236}">
                <a16:creationId xmlns:a16="http://schemas.microsoft.com/office/drawing/2014/main" id="{CF974A6B-EBDE-4928-8C8C-0EAEA0B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第 10–12 周</a:t>
            </a:r>
          </a:p>
        </p:txBody>
      </p:sp>
      <p:sp>
        <p:nvSpPr>
          <p:cNvPr id="26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2AD9B808-9223-49F4-9667-4AD8B6EA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F34A"/>
                </a:solidFill>
              </a:defRPr>
            </a:pPr>
            <a:r>
              <a:rPr sz="2100" b="1">
                <a:solidFill>
                  <a:srgbClr val="B7F34A"/>
                </a:solidFill>
              </a:rPr>
              <a:t>对照评估</a:t>
            </a:r>
          </a:p>
        </p:txBody>
      </p:sp>
      <p:sp>
        <p:nvSpPr>
          <p:cNvPr id="27" name="phase-detail-3">
            <a:extLst xmlns:a="http://schemas.openxmlformats.org/drawingml/2006/main">
              <a:ext uri="{FF2B5EF4-FFF2-40B4-BE49-F238E27FC236}">
                <a16:creationId xmlns:a16="http://schemas.microsoft.com/office/drawing/2014/main" id="{3C805B25-BA57-4D3A-B6AD-608C35C8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9D6"/>
                </a:solidFill>
              </a:defRPr>
            </a:pPr>
            <a:r>
              <a:rPr sz="1425" b="0">
                <a:solidFill>
                  <a:srgbClr val="B7C9D6"/>
                </a:solidFill>
              </a:rPr>
              <a:t>归一化核算并完成复制建议</a:t>
            </a:r>
          </a:p>
        </p:txBody>
      </p:sp>
      <p:sp>
        <p:nvSpPr>
          <p:cNvPr id="28" name="roadmap-takeaway">
            <a:extLst xmlns:a="http://schemas.openxmlformats.org/drawingml/2006/main">
              <a:ext uri="{FF2B5EF4-FFF2-40B4-BE49-F238E27FC236}">
                <a16:creationId xmlns:a16="http://schemas.microsoft.com/office/drawing/2014/main" id="{7B8A0E37-CE11-4A2F-B644-D26EB24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F34A"/>
                </a:solidFill>
              </a:defRPr>
            </a:pPr>
            <a:r>
              <a:rPr sz="1875" b="1">
                <a:solidFill>
                  <a:srgbClr val="B7F34A"/>
                </a:solidFill>
              </a:rPr>
              <a:t>第 12 周只做一个决定：复制、延长验证，或停止。</a:t>
            </a:r>
          </a:p>
        </p:txBody>
      </p:sp>
    </p:spTree>
    <p:extLst>
      <p:ext uri="{BB962C8B-B14F-4D97-AF65-F5344CB8AC3E}">
        <p14:creationId xmlns:p14="http://schemas.microsoft.com/office/powerpoint/2010/main" val="1578753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7">
            <a:extLst xmlns:a="http://schemas.openxmlformats.org/drawingml/2006/main">
              <a:ext uri="{FF2B5EF4-FFF2-40B4-BE49-F238E27FC236}">
                <a16:creationId xmlns:a16="http://schemas.microsoft.com/office/drawing/2014/main" id="{97CA7F75-AF8A-49BC-B9D3-CADD375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D19C7A2C-07B7-402F-BF92-A832284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治理边界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B7D3CED4-3EE6-4004-89C2-0E43EDD0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07</a:t>
            </a:r>
          </a:p>
        </p:txBody>
      </p:sp>
      <p:sp>
        <p:nvSpPr>
          <p:cNvPr id="4" name="top-rule-7">
            <a:extLst xmlns:a="http://schemas.openxmlformats.org/drawingml/2006/main">
              <a:ext uri="{FF2B5EF4-FFF2-40B4-BE49-F238E27FC236}">
                <a16:creationId xmlns:a16="http://schemas.microsoft.com/office/drawing/2014/main" id="{3E104091-055C-486D-A210-4DDAF5C2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75AF5F7F-FF8F-4B08-A478-35C76BD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三条护栏让试点不干扰生产</a:t>
            </a:r>
          </a:p>
        </p:txBody>
      </p:sp>
      <p:sp>
        <p:nvSpPr>
          <p:cNvPr id="6" name="guard-rule-0">
            <a:extLst xmlns:a="http://schemas.openxmlformats.org/drawingml/2006/main">
              <a:ext uri="{FF2B5EF4-FFF2-40B4-BE49-F238E27FC236}">
                <a16:creationId xmlns:a16="http://schemas.microsoft.com/office/drawing/2014/main" id="{19C53F27-A6C5-442E-812B-AA1E2BC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uard-no-0">
            <a:extLst xmlns:a="http://schemas.openxmlformats.org/drawingml/2006/main">
              <a:ext uri="{FF2B5EF4-FFF2-40B4-BE49-F238E27FC236}">
                <a16:creationId xmlns:a16="http://schemas.microsoft.com/office/drawing/2014/main" id="{E02A88A3-2D14-4DE6-B726-CA99EFE4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D7C8"/>
                </a:solidFill>
              </a:defRPr>
            </a:pPr>
            <a:r>
              <a:rPr sz="1350" b="1">
                <a:solidFill>
                  <a:srgbClr val="16D7C8"/>
                </a:solidFill>
              </a:rPr>
              <a:t>01</a:t>
            </a:r>
          </a:p>
        </p:txBody>
      </p:sp>
      <p:sp>
        <p:nvSpPr>
          <p:cNvPr id="8" name="guard-title-0">
            <a:extLst xmlns:a="http://schemas.openxmlformats.org/drawingml/2006/main">
              <a:ext uri="{FF2B5EF4-FFF2-40B4-BE49-F238E27FC236}">
                <a16:creationId xmlns:a16="http://schemas.microsoft.com/office/drawing/2014/main" id="{938EFEF8-6B00-4CDC-A9FB-65A80219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权限护栏</a:t>
            </a:r>
          </a:p>
        </p:txBody>
      </p:sp>
      <p:sp>
        <p:nvSpPr>
          <p:cNvPr id="9" name="guard-detail-0">
            <a:extLst xmlns:a="http://schemas.openxmlformats.org/drawingml/2006/main">
              <a:ext uri="{FF2B5EF4-FFF2-40B4-BE49-F238E27FC236}">
                <a16:creationId xmlns:a16="http://schemas.microsoft.com/office/drawing/2014/main" id="{8CF64B9C-D4A3-4217-A637-11DA50D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只开放白名单设备与限定时段</a:t>
            </a:r>
          </a:p>
        </p:txBody>
      </p:sp>
      <p:sp>
        <p:nvSpPr>
          <p:cNvPr id="10" name="guard-rule-1">
            <a:extLst xmlns:a="http://schemas.openxmlformats.org/drawingml/2006/main">
              <a:ext uri="{FF2B5EF4-FFF2-40B4-BE49-F238E27FC236}">
                <a16:creationId xmlns:a16="http://schemas.microsoft.com/office/drawing/2014/main" id="{FCBFEFC7-9829-4B9C-83B7-D874B023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uard-no-1">
            <a:extLst xmlns:a="http://schemas.openxmlformats.org/drawingml/2006/main">
              <a:ext uri="{FF2B5EF4-FFF2-40B4-BE49-F238E27FC236}">
                <a16:creationId xmlns:a16="http://schemas.microsoft.com/office/drawing/2014/main" id="{CCA2F8D2-EFC2-4E79-86FF-FA03E2B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D7C8"/>
                </a:solidFill>
              </a:defRPr>
            </a:pPr>
            <a:r>
              <a:rPr sz="1350" b="1">
                <a:solidFill>
                  <a:srgbClr val="16D7C8"/>
                </a:solidFill>
              </a:rPr>
              <a:t>02</a:t>
            </a:r>
          </a:p>
        </p:txBody>
      </p:sp>
      <p:sp>
        <p:nvSpPr>
          <p:cNvPr id="12" name="guard-title-1">
            <a:extLst xmlns:a="http://schemas.openxmlformats.org/drawingml/2006/main">
              <a:ext uri="{FF2B5EF4-FFF2-40B4-BE49-F238E27FC236}">
                <a16:creationId xmlns:a16="http://schemas.microsoft.com/office/drawing/2014/main" id="{3E572532-DA99-42AC-B8F4-A7673C8A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回退护栏</a:t>
            </a:r>
          </a:p>
        </p:txBody>
      </p:sp>
      <p:sp>
        <p:nvSpPr>
          <p:cNvPr id="13" name="guard-detail-1">
            <a:extLst xmlns:a="http://schemas.openxmlformats.org/drawingml/2006/main">
              <a:ext uri="{FF2B5EF4-FFF2-40B4-BE49-F238E27FC236}">
                <a16:creationId xmlns:a16="http://schemas.microsoft.com/office/drawing/2014/main" id="{832CF1A5-4DED-4C18-85A7-D9EB3BE7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异常时 60 秒内切回原控制逻辑</a:t>
            </a:r>
          </a:p>
        </p:txBody>
      </p:sp>
      <p:sp>
        <p:nvSpPr>
          <p:cNvPr id="14" name="guard-rule-2">
            <a:extLst xmlns:a="http://schemas.openxmlformats.org/drawingml/2006/main">
              <a:ext uri="{FF2B5EF4-FFF2-40B4-BE49-F238E27FC236}">
                <a16:creationId xmlns:a16="http://schemas.microsoft.com/office/drawing/2014/main" id="{CB01B20B-0D17-4C8A-91F2-809D04E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uard-no-2">
            <a:extLst xmlns:a="http://schemas.openxmlformats.org/drawingml/2006/main">
              <a:ext uri="{FF2B5EF4-FFF2-40B4-BE49-F238E27FC236}">
                <a16:creationId xmlns:a16="http://schemas.microsoft.com/office/drawing/2014/main" id="{7BE58967-A6A8-4C20-B574-160FE5A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34A"/>
                </a:solidFill>
              </a:defRPr>
            </a:pPr>
            <a:r>
              <a:rPr sz="1350" b="1">
                <a:solidFill>
                  <a:srgbClr val="B7F34A"/>
                </a:solidFill>
              </a:rPr>
              <a:t>03</a:t>
            </a:r>
          </a:p>
        </p:txBody>
      </p:sp>
      <p:sp>
        <p:nvSpPr>
          <p:cNvPr id="16" name="guard-title-2">
            <a:extLst xmlns:a="http://schemas.openxmlformats.org/drawingml/2006/main">
              <a:ext uri="{FF2B5EF4-FFF2-40B4-BE49-F238E27FC236}">
                <a16:creationId xmlns:a16="http://schemas.microsoft.com/office/drawing/2014/main" id="{158BFC73-F48C-4305-B2BD-901985B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核算护栏</a:t>
            </a:r>
          </a:p>
        </p:txBody>
      </p:sp>
      <p:sp>
        <p:nvSpPr>
          <p:cNvPr id="17" name="guard-detail-2">
            <a:extLst xmlns:a="http://schemas.openxmlformats.org/drawingml/2006/main">
              <a:ext uri="{FF2B5EF4-FFF2-40B4-BE49-F238E27FC236}">
                <a16:creationId xmlns:a16="http://schemas.microsoft.com/office/drawing/2014/main" id="{792B2197-820B-4942-B59C-74D60128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9D6"/>
                </a:solidFill>
              </a:defRPr>
            </a:pPr>
            <a:r>
              <a:rPr sz="1500" b="0">
                <a:solidFill>
                  <a:srgbClr val="B7C9D6"/>
                </a:solidFill>
              </a:rPr>
              <a:t>天气、产量和班次归一化后再认定收益</a:t>
            </a:r>
          </a:p>
        </p:txBody>
      </p:sp>
      <p:sp>
        <p:nvSpPr>
          <p:cNvPr id="18" name="control-principle">
            <a:extLst xmlns:a="http://schemas.openxmlformats.org/drawingml/2006/main">
              <a:ext uri="{FF2B5EF4-FFF2-40B4-BE49-F238E27FC236}">
                <a16:creationId xmlns:a16="http://schemas.microsoft.com/office/drawing/2014/main" id="{58AC7548-2FF5-4C9F-BD84-099DBB2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43434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9525">
            <a:solidFill>
              <a:srgbClr val="2B5066"/>
            </a:solidFill>
            <a:prstDash val="solid"/>
          </a:ln>
        </p:spPr>
      </p:sp>
      <p:sp>
        <p:nvSpPr>
          <p:cNvPr id="19" name="control-kicker">
            <a:extLst xmlns:a="http://schemas.openxmlformats.org/drawingml/2006/main">
              <a:ext uri="{FF2B5EF4-FFF2-40B4-BE49-F238E27FC236}">
                <a16:creationId xmlns:a16="http://schemas.microsoft.com/office/drawing/2014/main" id="{93E097DB-5A49-4B33-8005-D65DA7F6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D7C8"/>
                </a:solidFill>
              </a:defRPr>
            </a:pPr>
            <a:r>
              <a:rPr sz="1350" b="1">
                <a:solidFill>
                  <a:srgbClr val="16D7C8"/>
                </a:solidFill>
              </a:rPr>
              <a:t>OPERATING CONTROL</a:t>
            </a:r>
          </a:p>
        </p:txBody>
      </p:sp>
      <p:sp>
        <p:nvSpPr>
          <p:cNvPr id="20" name="control-title">
            <a:extLst xmlns:a="http://schemas.openxmlformats.org/drawingml/2006/main">
              <a:ext uri="{FF2B5EF4-FFF2-40B4-BE49-F238E27FC236}">
                <a16:creationId xmlns:a16="http://schemas.microsoft.com/office/drawing/2014/main" id="{94497438-5541-4800-8FCA-9F761D1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6FBFF"/>
                </a:solidFill>
              </a:defRPr>
            </a:pPr>
            <a:r>
              <a:rPr sz="3450" b="1">
                <a:solidFill>
                  <a:srgbClr val="F6FBFF"/>
                </a:solidFill>
              </a:rPr>
              <a:t>运营负责人</a:t>
            </a:r>
          </a:p>
          <a:p xmlns:a="http://schemas.openxmlformats.org/drawingml/2006/main">
            <a:pPr algn="l">
              <a:defRPr sz="3450" b="1">
                <a:solidFill>
                  <a:srgbClr val="F6FBFF"/>
                </a:solidFill>
              </a:defRPr>
            </a:pPr>
            <a:r>
              <a:rPr sz="3450" b="1">
                <a:solidFill>
                  <a:srgbClr val="F6FBFF"/>
                </a:solidFill>
              </a:rPr>
              <a:t>拥有最终控制权</a:t>
            </a:r>
          </a:p>
        </p:txBody>
      </p:sp>
      <p:sp>
        <p:nvSpPr>
          <p:cNvPr id="21" name="control-body">
            <a:extLst xmlns:a="http://schemas.openxmlformats.org/drawingml/2006/main">
              <a:ext uri="{FF2B5EF4-FFF2-40B4-BE49-F238E27FC236}">
                <a16:creationId xmlns:a16="http://schemas.microsoft.com/office/drawing/2014/main" id="{06DCDB9A-4504-490E-BC3F-AADFE50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24350"/>
            <a:ext cx="3562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9D6"/>
                </a:solidFill>
              </a:defRPr>
            </a:pPr>
            <a:r>
              <a:rPr sz="1650" b="0">
                <a:solidFill>
                  <a:srgbClr val="B7C9D6"/>
                </a:solidFill>
              </a:rPr>
              <a:t>自动策略不是唯一通道。</a:t>
            </a:r>
          </a:p>
          <a:p xmlns:a="http://schemas.openxmlformats.org/drawingml/2006/main">
            <a:pPr algn="l">
              <a:defRPr sz="1650" b="0">
                <a:solidFill>
                  <a:srgbClr val="B7C9D6"/>
                </a:solidFill>
              </a:defRPr>
            </a:pPr>
            <a:r>
              <a:rPr sz="1650" b="0">
                <a:solidFill>
                  <a:srgbClr val="B7C9D6"/>
                </a:solidFill>
              </a:rPr>
              <a:t>上线前冻结权限、回退与核算口径。</a:t>
            </a:r>
          </a:p>
        </p:txBody>
      </p:sp>
    </p:spTree>
    <p:extLst>
      <p:ext uri="{BB962C8B-B14F-4D97-AF65-F5344CB8AC3E}">
        <p14:creationId xmlns:p14="http://schemas.microsoft.com/office/powerpoint/2010/main" val="147367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8">
            <a:extLst xmlns:a="http://schemas.openxmlformats.org/drawingml/2006/main">
              <a:ext uri="{FF2B5EF4-FFF2-40B4-BE49-F238E27FC236}">
                <a16:creationId xmlns:a16="http://schemas.microsoft.com/office/drawing/2014/main" id="{26353BCF-4525-4B95-A1E6-E16C6933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7C8"/>
                </a:solidFill>
              </a:defRPr>
            </a:pPr>
            <a:r>
              <a:rPr sz="1275" b="1">
                <a:solidFill>
                  <a:srgbClr val="16D7C8"/>
                </a:solidFill>
              </a:rPr>
              <a:t>GRIDWISE LAB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FD4163E6-9A61-4DE2-9BE5-2B0496E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C9D6"/>
                </a:solidFill>
              </a:defRPr>
            </a:pPr>
            <a:r>
              <a:rPr sz="1200" b="0">
                <a:solidFill>
                  <a:srgbClr val="B7C9D6"/>
                </a:solidFill>
              </a:rPr>
              <a:t>决策请求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A4B4C60E-6A2A-4ED3-81C7-D5AEECE1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F34A"/>
                </a:solidFill>
              </a:defRPr>
            </a:pPr>
            <a:r>
              <a:rPr sz="1200" b="1">
                <a:solidFill>
                  <a:srgbClr val="B7F34A"/>
                </a:solidFill>
              </a:rPr>
              <a:t>08</a:t>
            </a:r>
          </a:p>
        </p:txBody>
      </p:sp>
      <p:sp>
        <p:nvSpPr>
          <p:cNvPr id="4" name="top-rule-8">
            <a:extLst xmlns:a="http://schemas.openxmlformats.org/drawingml/2006/main">
              <a:ext uri="{FF2B5EF4-FFF2-40B4-BE49-F238E27FC236}">
                <a16:creationId xmlns:a16="http://schemas.microsoft.com/office/drawing/2014/main" id="{F7EC2922-9EE8-4FC7-BE67-0BD2237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D4115E30-AFDB-4B17-8CCD-81A14A5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</a:defRPr>
            </a:pPr>
            <a:r>
              <a:rPr sz="3600" b="1">
                <a:solidFill>
                  <a:srgbClr val="F6FBFF"/>
                </a:solidFill>
              </a:rPr>
              <a:t>建议批准 72 万元受控试点</a:t>
            </a:r>
          </a:p>
        </p:txBody>
      </p:sp>
      <p:sp>
        <p:nvSpPr>
          <p:cNvPr id="6" name="decision-value">
            <a:extLst xmlns:a="http://schemas.openxmlformats.org/drawingml/2006/main">
              <a:ext uri="{FF2B5EF4-FFF2-40B4-BE49-F238E27FC236}">
                <a16:creationId xmlns:a16="http://schemas.microsoft.com/office/drawing/2014/main" id="{2EA761FF-19CB-4AA7-9AC0-55FA8AD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B7F34A"/>
                </a:solidFill>
              </a:defRPr>
            </a:pPr>
            <a:r>
              <a:rPr sz="6150" b="1">
                <a:solidFill>
                  <a:srgbClr val="B7F34A"/>
                </a:solidFill>
              </a:rPr>
              <a:t>批准</a:t>
            </a:r>
          </a:p>
        </p:txBody>
      </p:sp>
      <p:sp>
        <p:nvSpPr>
          <p:cNvPr id="7" name="decision-summary">
            <a:extLst xmlns:a="http://schemas.openxmlformats.org/drawingml/2006/main">
              <a:ext uri="{FF2B5EF4-FFF2-40B4-BE49-F238E27FC236}">
                <a16:creationId xmlns:a16="http://schemas.microsoft.com/office/drawing/2014/main" id="{25F9B9B9-838C-4F64-875D-FC3C3CA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BFF"/>
                </a:solidFill>
              </a:defRPr>
            </a:pPr>
            <a:r>
              <a:rPr sz="2850" b="1">
                <a:solidFill>
                  <a:srgbClr val="F6FBFF"/>
                </a:solidFill>
              </a:rPr>
              <a:t>目标不是做出漂亮看板，</a:t>
            </a:r>
          </a:p>
          <a:p xmlns:a="http://schemas.openxmlformats.org/drawingml/2006/main">
            <a:pPr algn="l">
              <a:defRPr sz="2850" b="1">
                <a:solidFill>
                  <a:srgbClr val="F6FBFF"/>
                </a:solidFill>
              </a:defRPr>
            </a:pPr>
            <a:r>
              <a:rPr sz="2850" b="1">
                <a:solidFill>
                  <a:srgbClr val="F6FBFF"/>
                </a:solidFill>
              </a:rPr>
              <a:t>而是证明能源协同能在生产约束内持续运营。</a:t>
            </a:r>
          </a:p>
        </p:txBody>
      </p:sp>
      <p:sp>
        <p:nvSpPr>
          <p:cNvPr id="8" name="decision-divider">
            <a:extLst xmlns:a="http://schemas.openxmlformats.org/drawingml/2006/main">
              <a:ext uri="{FF2B5EF4-FFF2-40B4-BE49-F238E27FC236}">
                <a16:creationId xmlns:a16="http://schemas.microsoft.com/office/drawing/2014/main" id="{11AC358D-DC76-46BB-BFF4-D6A19200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cision-label-0">
            <a:extLst xmlns:a="http://schemas.openxmlformats.org/drawingml/2006/main">
              <a:ext uri="{FF2B5EF4-FFF2-40B4-BE49-F238E27FC236}">
                <a16:creationId xmlns:a16="http://schemas.microsoft.com/office/drawing/2014/main" id="{5C88A48B-E758-4481-B53A-164A89DC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D7C8"/>
                </a:solidFill>
              </a:defRPr>
            </a:pPr>
            <a:r>
              <a:rPr sz="1650" b="1">
                <a:solidFill>
                  <a:srgbClr val="16D7C8"/>
                </a:solidFill>
              </a:rPr>
              <a:t>业务负责人</a:t>
            </a:r>
          </a:p>
        </p:txBody>
      </p:sp>
      <p:sp>
        <p:nvSpPr>
          <p:cNvPr id="10" name="decision-detail-0">
            <a:extLst xmlns:a="http://schemas.openxmlformats.org/drawingml/2006/main">
              <a:ext uri="{FF2B5EF4-FFF2-40B4-BE49-F238E27FC236}">
                <a16:creationId xmlns:a16="http://schemas.microsoft.com/office/drawing/2014/main" id="{3960B7FA-50D4-44CE-91F9-03E07F8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园区运营总监</a:t>
            </a:r>
          </a:p>
        </p:txBody>
      </p:sp>
      <p:sp>
        <p:nvSpPr>
          <p:cNvPr id="11" name="decision-label-1">
            <a:extLst xmlns:a="http://schemas.openxmlformats.org/drawingml/2006/main">
              <a:ext uri="{FF2B5EF4-FFF2-40B4-BE49-F238E27FC236}">
                <a16:creationId xmlns:a16="http://schemas.microsoft.com/office/drawing/2014/main" id="{A3229836-86D7-420C-AD8B-6FDF695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D7C8"/>
                </a:solidFill>
              </a:defRPr>
            </a:pPr>
            <a:r>
              <a:rPr sz="1650" b="1">
                <a:solidFill>
                  <a:srgbClr val="16D7C8"/>
                </a:solidFill>
              </a:rPr>
              <a:t>本次决策</a:t>
            </a:r>
          </a:p>
        </p:txBody>
      </p:sp>
      <p:sp>
        <p:nvSpPr>
          <p:cNvPr id="12" name="decision-detail-1">
            <a:extLst xmlns:a="http://schemas.openxmlformats.org/drawingml/2006/main">
              <a:ext uri="{FF2B5EF4-FFF2-40B4-BE49-F238E27FC236}">
                <a16:creationId xmlns:a16="http://schemas.microsoft.com/office/drawing/2014/main" id="{4ABB85A3-D1C9-441D-925C-931590E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批准试点预算与跨部门资源</a:t>
            </a:r>
          </a:p>
        </p:txBody>
      </p:sp>
      <p:sp>
        <p:nvSpPr>
          <p:cNvPr id="13" name="decision-label-2">
            <a:extLst xmlns:a="http://schemas.openxmlformats.org/drawingml/2006/main">
              <a:ext uri="{FF2B5EF4-FFF2-40B4-BE49-F238E27FC236}">
                <a16:creationId xmlns:a16="http://schemas.microsoft.com/office/drawing/2014/main" id="{96802D73-A5D8-485E-BCDA-553ED366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D7C8"/>
                </a:solidFill>
              </a:defRPr>
            </a:pPr>
            <a:r>
              <a:rPr sz="1650" b="1">
                <a:solidFill>
                  <a:srgbClr val="16D7C8"/>
                </a:solidFill>
              </a:rPr>
              <a:t>下一检查点</a:t>
            </a:r>
          </a:p>
        </p:txBody>
      </p:sp>
      <p:sp>
        <p:nvSpPr>
          <p:cNvPr id="14" name="decision-detail-2">
            <a:extLst xmlns:a="http://schemas.openxmlformats.org/drawingml/2006/main">
              <a:ext uri="{FF2B5EF4-FFF2-40B4-BE49-F238E27FC236}">
                <a16:creationId xmlns:a16="http://schemas.microsoft.com/office/drawing/2014/main" id="{F89E0D3A-5850-4655-95F2-53FE810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第 5 周影子运行评审</a:t>
            </a:r>
          </a:p>
        </p:txBody>
      </p:sp>
      <p:sp>
        <p:nvSpPr>
          <p:cNvPr id="15" name="decision-next">
            <a:extLst xmlns:a="http://schemas.openxmlformats.org/drawingml/2006/main">
              <a:ext uri="{FF2B5EF4-FFF2-40B4-BE49-F238E27FC236}">
                <a16:creationId xmlns:a16="http://schemas.microsoft.com/office/drawing/2014/main" id="{5302F791-24B9-4A3E-B82B-4FF7B4B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A40"/>
          </a:solidFill>
          <a:ln xmlns:a="http://schemas.openxmlformats.org/drawingml/2006/main" w="19050">
            <a:solidFill>
              <a:srgbClr val="B7F34A"/>
            </a:solidFill>
            <a:prstDash val="solid"/>
          </a:ln>
        </p:spPr>
      </p:sp>
      <p:sp>
        <p:nvSpPr>
          <p:cNvPr id="16" name="decision-next-text">
            <a:extLst xmlns:a="http://schemas.openxmlformats.org/drawingml/2006/main">
              <a:ext uri="{FF2B5EF4-FFF2-40B4-BE49-F238E27FC236}">
                <a16:creationId xmlns:a16="http://schemas.microsoft.com/office/drawing/2014/main" id="{D3942586-316F-459F-9472-7865CD69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BFF"/>
                </a:solidFill>
              </a:defRPr>
            </a:pPr>
            <a:r>
              <a:rPr sz="1950" b="1">
                <a:solidFill>
                  <a:srgbClr val="F6FBFF"/>
                </a:solidFill>
              </a:rPr>
              <a:t>批准后两周内完成基线确认，第五周提交首个继续 / 停止决策包</a:t>
            </a:r>
          </a:p>
        </p:txBody>
      </p:sp>
    </p:spTree>
    <p:extLst>
      <p:ext uri="{BB962C8B-B14F-4D97-AF65-F5344CB8AC3E}">
        <p14:creationId xmlns:p14="http://schemas.microsoft.com/office/powerpoint/2010/main" val="66303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2026-08-30T22:40:39.9200000Z</dcterms:created>
  <dcterms:modified xsi:type="dcterms:W3CDTF">2026-08-30T22:40:39.9200000Z</dcterms:modified>
</coreProperties>
</file>