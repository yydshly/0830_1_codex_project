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E11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44300" y="0"/>
            <a:ext cx="3086100" cy="30861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FAFAF6">
                <a:alpha val="1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230100" y="0"/>
            <a:ext cx="2400300" cy="2400300"/>
          </a:xfrm>
          <a:prstGeom prst="ellipse">
            <a:avLst/>
          </a:prstGeom>
          <a:solidFill>
            <a:srgbClr val="FFFFFF">
              <a:alpha val="0"/>
            </a:srgbClr>
          </a:solidFill>
          <a:ln w="171450">
            <a:solidFill>
              <a:srgbClr val="86D62B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8190" y="472470"/>
            <a:ext cx="38130" cy="7284750"/>
          </a:xfrm>
          <a:prstGeom prst="rect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731520"/>
            <a:ext cx="1193383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320" b="1" spc="247" kern="0" dirty="0">
                <a:solidFill>
                  <a:srgbClr val="86D6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技术采用研究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13688477" y="731520"/>
            <a:ext cx="246979" cy="217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b="1" spc="210" kern="0" dirty="0">
                <a:solidFill>
                  <a:srgbClr val="B7B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628316"/>
            <a:ext cx="3526566" cy="652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6"/>
              </a:lnSpc>
              <a:buNone/>
            </a:pPr>
            <a:r>
              <a:rPr lang="en-US" sz="4320" b="1" spc="-189" kern="0" dirty="0">
                <a:solidFill>
                  <a:srgbClr val="FA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Dashi PPT Skill</a:t>
            </a:r>
            <a:endParaRPr lang="en-US" sz="4320" dirty="0"/>
          </a:p>
        </p:txBody>
      </p:sp>
      <p:sp>
        <p:nvSpPr>
          <p:cNvPr id="10" name="Text 8"/>
          <p:cNvSpPr/>
          <p:nvPr/>
        </p:nvSpPr>
        <p:spPr>
          <a:xfrm>
            <a:off x="731520" y="5077206"/>
            <a:ext cx="4553803" cy="408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6"/>
              </a:lnSpc>
              <a:buNone/>
            </a:pPr>
            <a:r>
              <a:rPr lang="en-US" sz="2400" b="1" spc="-36" kern="0" dirty="0">
                <a:solidFill>
                  <a:srgbClr val="FAFA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从材料到可审计演示的本地生产线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631650" y="5099426"/>
            <a:ext cx="4402531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86D6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锁定版本 0.4.11：检验内容契约、3+1 方案与</a:t>
            </a:r>
            <a:endParaRPr lang="en-US" sz="1680" dirty="0"/>
          </a:p>
        </p:txBody>
      </p:sp>
      <p:sp>
        <p:nvSpPr>
          <p:cNvPr id="12" name="Text 10"/>
          <p:cNvSpPr/>
          <p:nvPr/>
        </p:nvSpPr>
        <p:spPr>
          <a:xfrm>
            <a:off x="9631650" y="5419466"/>
            <a:ext cx="94485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86D6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分层导出</a:t>
            </a:r>
            <a:endParaRPr lang="en-US" sz="16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44300" y="0"/>
            <a:ext cx="3086100" cy="30861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E110B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230100" y="0"/>
            <a:ext cx="2400300" cy="2400300"/>
          </a:xfrm>
          <a:prstGeom prst="ellipse">
            <a:avLst/>
          </a:prstGeom>
          <a:solidFill>
            <a:srgbClr val="FFFFFF">
              <a:alpha val="0"/>
            </a:srgbClr>
          </a:solidFill>
          <a:ln w="171450">
            <a:solidFill>
              <a:srgbClr val="86D62B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8190" y="472470"/>
            <a:ext cx="38130" cy="7284750"/>
          </a:xfrm>
          <a:prstGeom prst="rect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731520"/>
            <a:ext cx="807781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320" b="1" spc="247" kern="0" dirty="0">
                <a:solidFill>
                  <a:srgbClr val="86D6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核心差异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13666805" y="731520"/>
            <a:ext cx="268651" cy="217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b="1" spc="210" kern="0" dirty="0">
                <a:solidFill>
                  <a:srgbClr val="838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611447"/>
            <a:ext cx="8507669" cy="652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6"/>
              </a:lnSpc>
              <a:buNone/>
            </a:pPr>
            <a:r>
              <a:rPr lang="en-US" sz="4320" b="1" spc="-189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差异不在生成，而在内容与版式解耦</a:t>
            </a:r>
            <a:endParaRPr lang="en-US" sz="4320" dirty="0"/>
          </a:p>
        </p:txBody>
      </p:sp>
      <p:sp>
        <p:nvSpPr>
          <p:cNvPr id="10" name="Shape 8"/>
          <p:cNvSpPr/>
          <p:nvPr/>
        </p:nvSpPr>
        <p:spPr>
          <a:xfrm>
            <a:off x="731520" y="3337560"/>
            <a:ext cx="7604790" cy="4160520"/>
          </a:xfrm>
          <a:prstGeom prst="roundRect">
            <a:avLst>
              <a:gd name="adj" fmla="val 5573"/>
            </a:avLst>
          </a:prstGeom>
          <a:solidFill>
            <a:srgbClr val="FFFFFF"/>
          </a:solidFill>
          <a:ln w="12700">
            <a:solidFill>
              <a:srgbClr val="0E110B">
                <a:alpha val="0"/>
              </a:srgbClr>
            </a:solidFill>
            <a:prstDash val="solid"/>
          </a:ln>
          <a:effectLst>
            <a:outerShdw sx="100000" sy="100000" kx="0" ky="0" algn="bl" rotWithShape="0" blurRad="304800" dist="171450" dir="5400000">
              <a:srgbClr val="0E110B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324717" y="3337560"/>
            <a:ext cx="11593" cy="4160520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829905"/>
            <a:ext cx="377952" cy="652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96"/>
              </a:lnSpc>
              <a:buNone/>
            </a:pPr>
            <a:r>
              <a:rPr lang="en-US" sz="3840" b="1" dirty="0">
                <a:solidFill>
                  <a:srgbClr val="86D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3840" dirty="0"/>
          </a:p>
        </p:txBody>
      </p:sp>
      <p:sp>
        <p:nvSpPr>
          <p:cNvPr id="13" name="Text 11"/>
          <p:cNvSpPr/>
          <p:nvPr/>
        </p:nvSpPr>
        <p:spPr>
          <a:xfrm>
            <a:off x="731520" y="5471724"/>
            <a:ext cx="5119908" cy="431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125"/>
              </a:lnSpc>
              <a:buNone/>
            </a:pPr>
            <a:r>
              <a:rPr lang="en-US" sz="2520" b="1" spc="-57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换方案时，核心事实不必跟着重写。</a:t>
            </a:r>
            <a:endParaRPr lang="en-US" sz="252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0211" y="2526030"/>
            <a:ext cx="5810189" cy="570357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631650" y="3345150"/>
            <a:ext cx="18097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64" kern="0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20" dirty="0"/>
          </a:p>
        </p:txBody>
      </p:sp>
      <p:sp>
        <p:nvSpPr>
          <p:cNvPr id="16" name="Text 13"/>
          <p:cNvSpPr/>
          <p:nvPr/>
        </p:nvSpPr>
        <p:spPr>
          <a:xfrm>
            <a:off x="10058400" y="3314700"/>
            <a:ext cx="245668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份 · Canonical content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0058400" y="3598530"/>
            <a:ext cx="2072670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每个逻辑页只维护一份事实源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631650" y="4045031"/>
            <a:ext cx="18097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64" kern="0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20" dirty="0"/>
          </a:p>
        </p:txBody>
      </p:sp>
      <p:sp>
        <p:nvSpPr>
          <p:cNvPr id="19" name="Text 16"/>
          <p:cNvSpPr/>
          <p:nvPr/>
        </p:nvSpPr>
        <p:spPr>
          <a:xfrm>
            <a:off x="10058400" y="4014582"/>
            <a:ext cx="1864233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Capacity contract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0058400" y="4298412"/>
            <a:ext cx="2834640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标题、条目、数值与媒体要求参与硬筛选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631650" y="4744913"/>
            <a:ext cx="18097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64" kern="0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20" dirty="0"/>
          </a:p>
        </p:txBody>
      </p:sp>
      <p:sp>
        <p:nvSpPr>
          <p:cNvPr id="22" name="Text 19"/>
          <p:cNvSpPr/>
          <p:nvPr/>
        </p:nvSpPr>
        <p:spPr>
          <a:xfrm>
            <a:off x="10058400" y="4714372"/>
            <a:ext cx="1357503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3+1 variants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0058400" y="4998202"/>
            <a:ext cx="2987070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三个模板候选与一个受主题约束的定制方案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44300" y="0"/>
            <a:ext cx="3086100" cy="30861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E110B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230100" y="0"/>
            <a:ext cx="2400300" cy="2400300"/>
          </a:xfrm>
          <a:prstGeom prst="ellipse">
            <a:avLst/>
          </a:prstGeom>
          <a:solidFill>
            <a:srgbClr val="FFFFFF">
              <a:alpha val="0"/>
            </a:srgbClr>
          </a:solidFill>
          <a:ln w="171450">
            <a:solidFill>
              <a:srgbClr val="86D62B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8190" y="472470"/>
            <a:ext cx="38130" cy="7284750"/>
          </a:xfrm>
          <a:prstGeom prst="rect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731520"/>
            <a:ext cx="615025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320" b="1" spc="247" kern="0" dirty="0">
                <a:solidFill>
                  <a:srgbClr val="86D6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生产链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13664702" y="731520"/>
            <a:ext cx="270754" cy="217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b="1" spc="210" kern="0" dirty="0">
                <a:solidFill>
                  <a:srgbClr val="838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611447"/>
            <a:ext cx="7978140" cy="652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6"/>
              </a:lnSpc>
              <a:buNone/>
            </a:pPr>
            <a:r>
              <a:rPr lang="en-US" sz="4320" b="1" spc="-189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一份内容依次经过五道确定性关卡</a:t>
            </a:r>
            <a:endParaRPr lang="en-US" sz="4320" dirty="0"/>
          </a:p>
        </p:txBody>
      </p:sp>
      <p:sp>
        <p:nvSpPr>
          <p:cNvPr id="10" name="Text 8"/>
          <p:cNvSpPr/>
          <p:nvPr/>
        </p:nvSpPr>
        <p:spPr>
          <a:xfrm>
            <a:off x="731520" y="3339846"/>
            <a:ext cx="4893046" cy="408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6"/>
              </a:lnSpc>
              <a:buNone/>
            </a:pPr>
            <a:r>
              <a:rPr lang="en-US" sz="2400" b="1" spc="-36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负责理解与叙事，脚本负责筛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31520" y="3710132"/>
            <a:ext cx="4307464" cy="416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976"/>
              </a:lnSpc>
              <a:buNone/>
            </a:pPr>
            <a:r>
              <a:rPr lang="en-US" sz="2400" b="1" spc="-36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选、分配、渲染、校验和导出。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31520" y="5968106"/>
            <a:ext cx="499875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86D6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可追踪的中间表示把创作判断与工程执行连接起来。</a:t>
            </a:r>
            <a:endParaRPr lang="en-US" sz="1680" dirty="0"/>
          </a:p>
        </p:txBody>
      </p:sp>
      <p:sp>
        <p:nvSpPr>
          <p:cNvPr id="13" name="Shape 11"/>
          <p:cNvSpPr/>
          <p:nvPr/>
        </p:nvSpPr>
        <p:spPr>
          <a:xfrm>
            <a:off x="6294090" y="3337560"/>
            <a:ext cx="7604790" cy="4160520"/>
          </a:xfrm>
          <a:prstGeom prst="roundRect">
            <a:avLst>
              <a:gd name="adj" fmla="val 5573"/>
            </a:avLst>
          </a:prstGeom>
          <a:solidFill>
            <a:srgbClr val="FFFFFF"/>
          </a:solidFill>
          <a:ln w="12700">
            <a:solidFill>
              <a:srgbClr val="0E110B">
                <a:alpha val="0"/>
              </a:srgbClr>
            </a:solidFill>
            <a:prstDash val="solid"/>
          </a:ln>
          <a:effectLst>
            <a:outerShdw sx="100000" sy="100000" kx="0" ky="0" algn="bl" rotWithShape="0" blurRad="304800" dist="171450" dir="5400000">
              <a:srgbClr val="0E110B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3887287" y="3337560"/>
            <a:ext cx="11593" cy="4160520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94090" y="3345150"/>
            <a:ext cx="18097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64" kern="0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6720840" y="3337560"/>
            <a:ext cx="676656" cy="2407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26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内容规划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6720840" y="3560399"/>
            <a:ext cx="1543736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8"/>
              </a:lnSpc>
              <a:buNone/>
            </a:pPr>
            <a:r>
              <a:rPr lang="en-US" sz="102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形成逐页 brief 与事实包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6294090" y="3853464"/>
            <a:ext cx="7368510" cy="63020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94090" y="3853464"/>
            <a:ext cx="736851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94090" y="3975354"/>
            <a:ext cx="18097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64" kern="0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6720840" y="3952494"/>
            <a:ext cx="73152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26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容量查询</a:t>
            </a:r>
            <a:endParaRPr lang="en-US" sz="1260" dirty="0"/>
          </a:p>
        </p:txBody>
      </p:sp>
      <p:sp>
        <p:nvSpPr>
          <p:cNvPr id="22" name="Text 20"/>
          <p:cNvSpPr/>
          <p:nvPr/>
        </p:nvSpPr>
        <p:spPr>
          <a:xfrm>
            <a:off x="6720840" y="4190604"/>
            <a:ext cx="1516350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8"/>
              </a:lnSpc>
              <a:buNone/>
            </a:pPr>
            <a:r>
              <a:rPr lang="en-US" sz="102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淘汰无法承载内容的版式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6294090" y="4483669"/>
            <a:ext cx="7368510" cy="63020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94090" y="4483669"/>
            <a:ext cx="736851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94090" y="4605558"/>
            <a:ext cx="18097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64" kern="0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6720840" y="4582698"/>
            <a:ext cx="73152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26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全稿分配</a:t>
            </a:r>
            <a:endParaRPr lang="en-US" sz="1260" dirty="0"/>
          </a:p>
        </p:txBody>
      </p:sp>
      <p:sp>
        <p:nvSpPr>
          <p:cNvPr id="27" name="Text 25"/>
          <p:cNvSpPr/>
          <p:nvPr/>
        </p:nvSpPr>
        <p:spPr>
          <a:xfrm>
            <a:off x="6720840" y="4820808"/>
            <a:ext cx="1516350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8"/>
              </a:lnSpc>
              <a:buNone/>
            </a:pPr>
            <a:r>
              <a:rPr lang="en-US" sz="102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控制布局与结构家族复用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6294090" y="5113873"/>
            <a:ext cx="7368510" cy="63020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94090" y="5113873"/>
            <a:ext cx="736851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94090" y="5235763"/>
            <a:ext cx="18097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64" kern="0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6720840" y="5212903"/>
            <a:ext cx="897941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26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 渲染</a:t>
            </a:r>
            <a:endParaRPr lang="en-US" sz="1260" dirty="0"/>
          </a:p>
        </p:txBody>
      </p:sp>
      <p:sp>
        <p:nvSpPr>
          <p:cNvPr id="32" name="Text 30"/>
          <p:cNvSpPr/>
          <p:nvPr/>
        </p:nvSpPr>
        <p:spPr>
          <a:xfrm>
            <a:off x="6720840" y="5451013"/>
            <a:ext cx="1516350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8"/>
              </a:lnSpc>
              <a:buNone/>
            </a:pPr>
            <a:r>
              <a:rPr lang="en-US" sz="102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生成离线编辑器与四方案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6294090" y="5744078"/>
            <a:ext cx="7368510" cy="63020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94090" y="5744078"/>
            <a:ext cx="736851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94090" y="5865967"/>
            <a:ext cx="18097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64" kern="0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20" dirty="0"/>
          </a:p>
        </p:txBody>
      </p:sp>
      <p:sp>
        <p:nvSpPr>
          <p:cNvPr id="36" name="Text 34"/>
          <p:cNvSpPr/>
          <p:nvPr/>
        </p:nvSpPr>
        <p:spPr>
          <a:xfrm>
            <a:off x="6720840" y="5843107"/>
            <a:ext cx="89154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26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校验与导出</a:t>
            </a:r>
            <a:endParaRPr lang="en-US" sz="1260" dirty="0"/>
          </a:p>
        </p:txBody>
      </p:sp>
      <p:sp>
        <p:nvSpPr>
          <p:cNvPr id="37" name="Text 35"/>
          <p:cNvSpPr/>
          <p:nvPr/>
        </p:nvSpPr>
        <p:spPr>
          <a:xfrm>
            <a:off x="6720840" y="6081217"/>
            <a:ext cx="1756181" cy="2179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8"/>
              </a:lnSpc>
              <a:buNone/>
            </a:pPr>
            <a:r>
              <a:rPr lang="en-US" sz="102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检查内容并生成 PDF / PPTX</a:t>
            </a:r>
            <a:endParaRPr lang="en-US" sz="10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44300" y="0"/>
            <a:ext cx="3086100" cy="30861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E110B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230100" y="0"/>
            <a:ext cx="2400300" cy="2400300"/>
          </a:xfrm>
          <a:prstGeom prst="ellipse">
            <a:avLst/>
          </a:prstGeom>
          <a:solidFill>
            <a:srgbClr val="FFFFFF">
              <a:alpha val="0"/>
            </a:srgbClr>
          </a:solidFill>
          <a:ln w="171450">
            <a:solidFill>
              <a:srgbClr val="86D62B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8190" y="472470"/>
            <a:ext cx="38130" cy="7284750"/>
          </a:xfrm>
          <a:prstGeom prst="rect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731520"/>
            <a:ext cx="807781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320" b="1" spc="247" kern="0" dirty="0">
                <a:solidFill>
                  <a:srgbClr val="86D6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资产基线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13660496" y="731520"/>
            <a:ext cx="274960" cy="217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b="1" spc="210" kern="0" dirty="0">
                <a:solidFill>
                  <a:srgbClr val="838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611447"/>
            <a:ext cx="9566453" cy="652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6"/>
              </a:lnSpc>
              <a:buNone/>
            </a:pPr>
            <a:r>
              <a:rPr lang="en-US" sz="4320" b="1" spc="-189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版式库规模可量化，但规模不是质量结论</a:t>
            </a:r>
            <a:endParaRPr lang="en-US" sz="432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526030"/>
            <a:ext cx="8035290" cy="31775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31520" y="3321145"/>
            <a:ext cx="377952" cy="652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96"/>
              </a:lnSpc>
              <a:buNone/>
            </a:pPr>
            <a:r>
              <a:rPr lang="en-US" sz="3840" b="1" dirty="0">
                <a:solidFill>
                  <a:srgbClr val="86D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3840" dirty="0"/>
          </a:p>
        </p:txBody>
      </p:sp>
      <p:sp>
        <p:nvSpPr>
          <p:cNvPr id="12" name="Text 9"/>
          <p:cNvSpPr/>
          <p:nvPr/>
        </p:nvSpPr>
        <p:spPr>
          <a:xfrm>
            <a:off x="731520" y="3962873"/>
            <a:ext cx="2538832" cy="431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125"/>
              </a:lnSpc>
              <a:buNone/>
            </a:pPr>
            <a:r>
              <a:rPr lang="en-US" sz="2520" b="1" spc="-57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套 · 视觉主题</a:t>
            </a:r>
            <a:endParaRPr lang="en-US" sz="2520" dirty="0"/>
          </a:p>
        </p:txBody>
      </p:sp>
      <p:sp>
        <p:nvSpPr>
          <p:cNvPr id="13" name="Text 10"/>
          <p:cNvSpPr/>
          <p:nvPr/>
        </p:nvSpPr>
        <p:spPr>
          <a:xfrm>
            <a:off x="731520" y="4570720"/>
            <a:ext cx="1070896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75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锁定清单复算</a:t>
            </a:r>
            <a:endParaRPr lang="en-US" sz="12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5110" y="2526030"/>
            <a:ext cx="8035290" cy="31775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06640" y="3321145"/>
            <a:ext cx="377952" cy="652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96"/>
              </a:lnSpc>
              <a:buNone/>
            </a:pPr>
            <a:r>
              <a:rPr lang="en-US" sz="384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3840" dirty="0"/>
          </a:p>
        </p:txBody>
      </p:sp>
      <p:sp>
        <p:nvSpPr>
          <p:cNvPr id="16" name="Text 12"/>
          <p:cNvSpPr/>
          <p:nvPr/>
        </p:nvSpPr>
        <p:spPr>
          <a:xfrm>
            <a:off x="7406640" y="3962873"/>
            <a:ext cx="2714854" cy="431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125"/>
              </a:lnSpc>
              <a:buNone/>
            </a:pPr>
            <a:r>
              <a:rPr lang="en-US" sz="2520" b="1" spc="-57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1,020 · 版式页面</a:t>
            </a:r>
            <a:endParaRPr lang="en-US" sz="2520" dirty="0"/>
          </a:p>
        </p:txBody>
      </p:sp>
      <p:sp>
        <p:nvSpPr>
          <p:cNvPr id="17" name="Text 13"/>
          <p:cNvSpPr/>
          <p:nvPr/>
        </p:nvSpPr>
        <p:spPr>
          <a:xfrm>
            <a:off x="7406640" y="4570720"/>
            <a:ext cx="1201769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75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类页面角色</a:t>
            </a:r>
            <a:endParaRPr lang="en-US" sz="12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32070"/>
            <a:ext cx="8035290" cy="309753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31520" y="5927185"/>
            <a:ext cx="377952" cy="652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96"/>
              </a:lnSpc>
              <a:buNone/>
            </a:pPr>
            <a:r>
              <a:rPr lang="en-US" sz="384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3840" dirty="0"/>
          </a:p>
        </p:txBody>
      </p:sp>
      <p:sp>
        <p:nvSpPr>
          <p:cNvPr id="20" name="Text 15"/>
          <p:cNvSpPr/>
          <p:nvPr/>
        </p:nvSpPr>
        <p:spPr>
          <a:xfrm>
            <a:off x="731520" y="6568913"/>
            <a:ext cx="2714854" cy="431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125"/>
              </a:lnSpc>
              <a:buNone/>
            </a:pPr>
            <a:r>
              <a:rPr lang="en-US" sz="2520" b="1" spc="-57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8,576 · 可调控件</a:t>
            </a:r>
            <a:endParaRPr lang="en-US" sz="2520" dirty="0"/>
          </a:p>
        </p:txBody>
      </p:sp>
      <p:sp>
        <p:nvSpPr>
          <p:cNvPr id="21" name="Text 16"/>
          <p:cNvSpPr/>
          <p:nvPr/>
        </p:nvSpPr>
        <p:spPr>
          <a:xfrm>
            <a:off x="731520" y="7176760"/>
            <a:ext cx="1559814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75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覆盖布局与表现参数</a:t>
            </a:r>
            <a:endParaRPr lang="en-US" sz="12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5110" y="5132070"/>
            <a:ext cx="8035290" cy="309753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06640" y="5927185"/>
            <a:ext cx="377952" cy="652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96"/>
              </a:lnSpc>
              <a:buNone/>
            </a:pPr>
            <a:r>
              <a:rPr lang="en-US" sz="3840" b="1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3840" dirty="0"/>
          </a:p>
        </p:txBody>
      </p:sp>
      <p:sp>
        <p:nvSpPr>
          <p:cNvPr id="24" name="Text 18"/>
          <p:cNvSpPr/>
          <p:nvPr/>
        </p:nvSpPr>
        <p:spPr>
          <a:xfrm>
            <a:off x="7406640" y="6568913"/>
            <a:ext cx="2305202" cy="431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125"/>
              </a:lnSpc>
              <a:buNone/>
            </a:pPr>
            <a:r>
              <a:rPr lang="en-US" sz="2520" b="1" spc="-57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3+1 · 每页方案</a:t>
            </a:r>
            <a:endParaRPr lang="en-US" sz="2520" dirty="0"/>
          </a:p>
        </p:txBody>
      </p:sp>
      <p:sp>
        <p:nvSpPr>
          <p:cNvPr id="25" name="Text 19"/>
          <p:cNvSpPr/>
          <p:nvPr/>
        </p:nvSpPr>
        <p:spPr>
          <a:xfrm>
            <a:off x="7406640" y="7176760"/>
            <a:ext cx="1559814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75" kern="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模板候选加定制方案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44300" y="0"/>
            <a:ext cx="3086100" cy="30861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E110B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230100" y="0"/>
            <a:ext cx="2400300" cy="2400300"/>
          </a:xfrm>
          <a:prstGeom prst="ellipse">
            <a:avLst/>
          </a:prstGeom>
          <a:solidFill>
            <a:srgbClr val="FFFFFF">
              <a:alpha val="0"/>
            </a:srgbClr>
          </a:solidFill>
          <a:ln w="171450">
            <a:solidFill>
              <a:srgbClr val="86D62B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8190" y="472470"/>
            <a:ext cx="38130" cy="7284750"/>
          </a:xfrm>
          <a:prstGeom prst="rect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731520"/>
            <a:ext cx="807781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320" b="1" spc="247" kern="0" dirty="0">
                <a:solidFill>
                  <a:srgbClr val="86D6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格式边界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13665982" y="731520"/>
            <a:ext cx="269474" cy="217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b="1" spc="210" kern="0" dirty="0">
                <a:solidFill>
                  <a:srgbClr val="838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611447"/>
            <a:ext cx="8202625" cy="652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6"/>
              </a:lnSpc>
              <a:buNone/>
            </a:pPr>
            <a:r>
              <a:rPr lang="en-US" sz="4320" b="1" spc="-189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 是主产物，PPTX 是分层映射</a:t>
            </a:r>
            <a:endParaRPr lang="en-US" sz="4320" dirty="0"/>
          </a:p>
        </p:txBody>
      </p:sp>
      <p:sp>
        <p:nvSpPr>
          <p:cNvPr id="10" name="Shape 8"/>
          <p:cNvSpPr/>
          <p:nvPr/>
        </p:nvSpPr>
        <p:spPr>
          <a:xfrm>
            <a:off x="731520" y="3337560"/>
            <a:ext cx="7604790" cy="4160520"/>
          </a:xfrm>
          <a:prstGeom prst="roundRect">
            <a:avLst>
              <a:gd name="adj" fmla="val 5573"/>
            </a:avLst>
          </a:prstGeom>
          <a:solidFill>
            <a:srgbClr val="FFFFFF"/>
          </a:solidFill>
          <a:ln w="12700">
            <a:solidFill>
              <a:srgbClr val="0E110B">
                <a:alpha val="0"/>
              </a:srgbClr>
            </a:solidFill>
            <a:prstDash val="solid"/>
          </a:ln>
          <a:effectLst>
            <a:outerShdw sx="100000" sy="100000" kx="0" ky="0" algn="bl" rotWithShape="0" blurRad="304800" dist="171450" dir="5400000">
              <a:srgbClr val="0E110B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324717" y="3337560"/>
            <a:ext cx="11593" cy="4160520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631572"/>
            <a:ext cx="377952" cy="652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96"/>
              </a:lnSpc>
              <a:buNone/>
            </a:pPr>
            <a:r>
              <a:rPr lang="en-US" sz="3840" b="1" dirty="0">
                <a:solidFill>
                  <a:srgbClr val="86D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3840" dirty="0"/>
          </a:p>
        </p:txBody>
      </p:sp>
      <p:sp>
        <p:nvSpPr>
          <p:cNvPr id="13" name="Text 11"/>
          <p:cNvSpPr/>
          <p:nvPr/>
        </p:nvSpPr>
        <p:spPr>
          <a:xfrm>
            <a:off x="731520" y="5273299"/>
            <a:ext cx="5324094" cy="431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125"/>
              </a:lnSpc>
              <a:buNone/>
            </a:pPr>
            <a:r>
              <a:rPr lang="en-US" sz="2520" b="1" spc="-57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浏览器保留最多交互；PPTX 优先保留</a:t>
            </a:r>
            <a:endParaRPr lang="en-US" sz="2520" dirty="0"/>
          </a:p>
        </p:txBody>
      </p:sp>
      <p:sp>
        <p:nvSpPr>
          <p:cNvPr id="14" name="Text 12"/>
          <p:cNvSpPr/>
          <p:nvPr/>
        </p:nvSpPr>
        <p:spPr>
          <a:xfrm>
            <a:off x="731520" y="5670149"/>
            <a:ext cx="5119908" cy="431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125"/>
              </a:lnSpc>
              <a:buNone/>
            </a:pPr>
            <a:r>
              <a:rPr lang="en-US" sz="2520" b="1" spc="-57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原生文字，复杂区域可能截图回退。</a:t>
            </a:r>
            <a:endParaRPr lang="en-US" sz="252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0211" y="2526030"/>
            <a:ext cx="5810189" cy="570357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631650" y="3345150"/>
            <a:ext cx="18097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64" kern="0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20" dirty="0"/>
          </a:p>
        </p:txBody>
      </p:sp>
      <p:sp>
        <p:nvSpPr>
          <p:cNvPr id="17" name="Text 14"/>
          <p:cNvSpPr/>
          <p:nvPr/>
        </p:nvSpPr>
        <p:spPr>
          <a:xfrm>
            <a:off x="10058400" y="3314700"/>
            <a:ext cx="62737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0058400" y="3598530"/>
            <a:ext cx="2377440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可编辑、可切换方案、可自动保存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631650" y="4045031"/>
            <a:ext cx="18097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64" kern="0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20" dirty="0"/>
          </a:p>
        </p:txBody>
      </p:sp>
      <p:sp>
        <p:nvSpPr>
          <p:cNvPr id="20" name="Text 17"/>
          <p:cNvSpPr/>
          <p:nvPr/>
        </p:nvSpPr>
        <p:spPr>
          <a:xfrm>
            <a:off x="10058400" y="4014582"/>
            <a:ext cx="47548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0058400" y="4298412"/>
            <a:ext cx="2682210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便于分发与归档，但不承担结构化编辑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631650" y="4744913"/>
            <a:ext cx="18097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64" kern="0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20" dirty="0"/>
          </a:p>
        </p:txBody>
      </p:sp>
      <p:sp>
        <p:nvSpPr>
          <p:cNvPr id="23" name="Text 20"/>
          <p:cNvSpPr/>
          <p:nvPr/>
        </p:nvSpPr>
        <p:spPr>
          <a:xfrm>
            <a:off x="10058400" y="4714372"/>
            <a:ext cx="59740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PPTX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0058400" y="4998202"/>
            <a:ext cx="3139410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逐节点映射；复杂背景和效果可能回退为截图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44300" y="0"/>
            <a:ext cx="3086100" cy="30861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E110B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230100" y="0"/>
            <a:ext cx="2400300" cy="2400300"/>
          </a:xfrm>
          <a:prstGeom prst="ellipse">
            <a:avLst/>
          </a:prstGeom>
          <a:solidFill>
            <a:srgbClr val="FFFFFF">
              <a:alpha val="0"/>
            </a:srgbClr>
          </a:solidFill>
          <a:ln w="171450">
            <a:solidFill>
              <a:srgbClr val="86D62B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8190" y="472470"/>
            <a:ext cx="38130" cy="7284750"/>
          </a:xfrm>
          <a:prstGeom prst="rect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731520"/>
            <a:ext cx="807781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320" b="1" spc="247" kern="0" dirty="0">
                <a:solidFill>
                  <a:srgbClr val="86D6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采用边界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13663239" y="731520"/>
            <a:ext cx="272217" cy="217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b="1" spc="210" kern="0" dirty="0">
                <a:solidFill>
                  <a:srgbClr val="838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611447"/>
            <a:ext cx="6389827" cy="652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6"/>
              </a:lnSpc>
              <a:buNone/>
            </a:pPr>
            <a:r>
              <a:rPr lang="en-US" sz="4320" b="1" spc="-189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采用前要正视四条工程边界</a:t>
            </a:r>
            <a:endParaRPr lang="en-US" sz="4320" dirty="0"/>
          </a:p>
        </p:txBody>
      </p:sp>
      <p:sp>
        <p:nvSpPr>
          <p:cNvPr id="10" name="Shape 8"/>
          <p:cNvSpPr/>
          <p:nvPr/>
        </p:nvSpPr>
        <p:spPr>
          <a:xfrm>
            <a:off x="731520" y="3337560"/>
            <a:ext cx="6492240" cy="4160520"/>
          </a:xfrm>
          <a:prstGeom prst="roundRect">
            <a:avLst>
              <a:gd name="adj" fmla="val 5573"/>
            </a:avLst>
          </a:prstGeom>
          <a:solidFill>
            <a:srgbClr val="FFFFFF"/>
          </a:solidFill>
          <a:ln w="12700">
            <a:solidFill>
              <a:srgbClr val="0E110B">
                <a:alpha val="0"/>
              </a:srgbClr>
            </a:solidFill>
            <a:prstDash val="solid"/>
          </a:ln>
          <a:effectLst>
            <a:outerShdw sx="100000" sy="100000" kx="0" ky="0" algn="bl" rotWithShape="0" blurRad="304800" dist="171450" dir="5400000">
              <a:srgbClr val="0E110B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212167" y="3337560"/>
            <a:ext cx="11593" cy="4160520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345150"/>
            <a:ext cx="18097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64" kern="0" dirty="0">
                <a:solidFill>
                  <a:srgbClr val="86D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1158270" y="3337560"/>
            <a:ext cx="875264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AGPL-3.0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58270" y="3598530"/>
            <a:ext cx="2682210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网络服务与修改分发需要核对源码义务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923142"/>
            <a:ext cx="6256050" cy="69988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923142"/>
            <a:ext cx="625605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045031"/>
            <a:ext cx="18097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64" kern="0" dirty="0">
                <a:solidFill>
                  <a:srgbClr val="86D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1158270" y="4014582"/>
            <a:ext cx="123444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专有导出组件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58270" y="4298412"/>
            <a:ext cx="2542032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不能脱离本 Skill 单独提取或再分发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406640" y="3337560"/>
            <a:ext cx="6492240" cy="4160520"/>
          </a:xfrm>
          <a:prstGeom prst="roundRect">
            <a:avLst>
              <a:gd name="adj" fmla="val 5573"/>
            </a:avLst>
          </a:prstGeom>
          <a:solidFill>
            <a:srgbClr val="FFFFFF"/>
          </a:solidFill>
          <a:ln w="12700">
            <a:solidFill>
              <a:srgbClr val="0E110B">
                <a:alpha val="0"/>
              </a:srgbClr>
            </a:solidFill>
            <a:prstDash val="solid"/>
          </a:ln>
          <a:effectLst>
            <a:outerShdw sx="100000" sy="100000" kx="0" ky="0" algn="bl" rotWithShape="0" blurRad="304800" dist="171450" dir="5400000">
              <a:srgbClr val="0E110B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3887287" y="3337560"/>
            <a:ext cx="11593" cy="4160520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06640" y="3345150"/>
            <a:ext cx="18097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64" kern="0" dirty="0">
                <a:solidFill>
                  <a:srgbClr val="AEE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7833390" y="3337560"/>
            <a:ext cx="989106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局域网预览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833390" y="3598530"/>
            <a:ext cx="2311908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敏感材料应显式绑定 127.0.0.1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406640" y="3923142"/>
            <a:ext cx="6256050" cy="69988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06640" y="3923142"/>
            <a:ext cx="625605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06640" y="4045031"/>
            <a:ext cx="18097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64" kern="0" dirty="0">
                <a:solidFill>
                  <a:srgbClr val="AEE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7833390" y="4014582"/>
            <a:ext cx="85341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生成成本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833390" y="4298412"/>
            <a:ext cx="3109326" cy="248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上游自述 10 页约 10 万 Token，仍需独立复测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44300" y="0"/>
            <a:ext cx="3086100" cy="30861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E110B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230100" y="0"/>
            <a:ext cx="2400300" cy="2400300"/>
          </a:xfrm>
          <a:prstGeom prst="ellipse">
            <a:avLst/>
          </a:prstGeom>
          <a:solidFill>
            <a:srgbClr val="FFFFFF">
              <a:alpha val="0"/>
            </a:srgbClr>
          </a:solidFill>
          <a:ln w="171450">
            <a:solidFill>
              <a:srgbClr val="86D62B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8190" y="472470"/>
            <a:ext cx="38130" cy="7284750"/>
          </a:xfrm>
          <a:prstGeom prst="rect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731520"/>
            <a:ext cx="807781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320" b="1" spc="247" kern="0" dirty="0">
                <a:solidFill>
                  <a:srgbClr val="86D6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试点协议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13675949" y="731520"/>
            <a:ext cx="259507" cy="217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b="1" spc="210" kern="0" dirty="0">
                <a:solidFill>
                  <a:srgbClr val="838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611447"/>
            <a:ext cx="7448794" cy="652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6"/>
              </a:lnSpc>
              <a:buNone/>
            </a:pPr>
            <a:r>
              <a:rPr lang="en-US" sz="4320" b="1" spc="-189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最小试点先验证四项可量化指标</a:t>
            </a:r>
            <a:endParaRPr lang="en-US" sz="4320" dirty="0"/>
          </a:p>
        </p:txBody>
      </p:sp>
      <p:sp>
        <p:nvSpPr>
          <p:cNvPr id="10" name="Shape 8"/>
          <p:cNvSpPr/>
          <p:nvPr/>
        </p:nvSpPr>
        <p:spPr>
          <a:xfrm>
            <a:off x="731520" y="3337560"/>
            <a:ext cx="13167360" cy="4160520"/>
          </a:xfrm>
          <a:prstGeom prst="roundRect">
            <a:avLst>
              <a:gd name="adj" fmla="val 5573"/>
            </a:avLst>
          </a:prstGeom>
          <a:solidFill>
            <a:srgbClr val="FFFFFF"/>
          </a:solidFill>
          <a:ln w="12700">
            <a:solidFill>
              <a:srgbClr val="0E110B">
                <a:alpha val="0"/>
              </a:srgbClr>
            </a:solidFill>
            <a:prstDash val="solid"/>
          </a:ln>
          <a:effectLst>
            <a:outerShdw sx="100000" sy="100000" kx="0" ky="0" algn="bl" rotWithShape="0" blurRad="304800" dist="171450" dir="5400000">
              <a:srgbClr val="0E110B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3887287" y="3337560"/>
            <a:ext cx="11593" cy="4160520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345150"/>
            <a:ext cx="289708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64" kern="0" dirty="0">
                <a:solidFill>
                  <a:srgbClr val="86D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1158270" y="3337560"/>
            <a:ext cx="989106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内容覆盖率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58270" y="3598530"/>
            <a:ext cx="2613660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required facts 与关键数字是否完整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923142"/>
            <a:ext cx="12931170" cy="69988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923142"/>
            <a:ext cx="1293117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045031"/>
            <a:ext cx="289708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64" kern="0" dirty="0">
                <a:solidFill>
                  <a:srgbClr val="86D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1158270" y="4014582"/>
            <a:ext cx="1568745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 seed 重复性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58270" y="4298412"/>
            <a:ext cx="2072670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版式分配与内容映射是否稳定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4622932"/>
            <a:ext cx="12931170" cy="69988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622932"/>
            <a:ext cx="1293117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744913"/>
            <a:ext cx="289708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64" kern="0" dirty="0">
                <a:solidFill>
                  <a:srgbClr val="86D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1158270" y="4714372"/>
            <a:ext cx="123444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原生对象比例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58270" y="4998202"/>
            <a:ext cx="2225010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文字、形状和截图回退分别统计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" y="5322814"/>
            <a:ext cx="12931170" cy="69988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5322814"/>
            <a:ext cx="1293117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5444703"/>
            <a:ext cx="289708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64" kern="0" dirty="0">
                <a:solidFill>
                  <a:srgbClr val="86D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1158270" y="5414254"/>
            <a:ext cx="123444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兼容性与成本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158270" y="5698084"/>
            <a:ext cx="3107436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PowerPoint / WPS 打开效果、耗时与返工量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44300" y="0"/>
            <a:ext cx="3086100" cy="308610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0E110B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230100" y="0"/>
            <a:ext cx="2400300" cy="2400300"/>
          </a:xfrm>
          <a:prstGeom prst="ellipse">
            <a:avLst/>
          </a:prstGeom>
          <a:solidFill>
            <a:srgbClr val="FFFFFF">
              <a:alpha val="0"/>
            </a:srgbClr>
          </a:solidFill>
          <a:ln w="171450">
            <a:solidFill>
              <a:srgbClr val="86D62B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8190" y="472470"/>
            <a:ext cx="38130" cy="7284750"/>
          </a:xfrm>
          <a:prstGeom prst="rect">
            <a:avLst/>
          </a:prstGeom>
          <a:solidFill>
            <a:srgbClr val="86D6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731520"/>
            <a:ext cx="807781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320" b="1" spc="247" kern="0" dirty="0">
                <a:solidFill>
                  <a:srgbClr val="86D6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采用建议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13665982" y="731520"/>
            <a:ext cx="269474" cy="217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b="1" spc="210" kern="0" dirty="0">
                <a:solidFill>
                  <a:srgbClr val="838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611447"/>
            <a:ext cx="6919356" cy="652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6"/>
              </a:lnSpc>
              <a:buNone/>
            </a:pPr>
            <a:r>
              <a:rPr lang="en-US" sz="4320" b="1" spc="-189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建议：以研究汇报为首个试点</a:t>
            </a:r>
            <a:endParaRPr lang="en-US" sz="4320" dirty="0"/>
          </a:p>
        </p:txBody>
      </p:sp>
      <p:sp>
        <p:nvSpPr>
          <p:cNvPr id="10" name="Text 8"/>
          <p:cNvSpPr/>
          <p:nvPr/>
        </p:nvSpPr>
        <p:spPr>
          <a:xfrm>
            <a:off x="731520" y="3339846"/>
            <a:ext cx="5156027" cy="408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6"/>
              </a:lnSpc>
              <a:buNone/>
            </a:pPr>
            <a:r>
              <a:rPr lang="en-US" sz="2400" b="1" spc="-36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它最有价值的不是替你做一页，而是把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31520" y="3710132"/>
            <a:ext cx="5210891" cy="416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976"/>
              </a:lnSpc>
              <a:buNone/>
            </a:pPr>
            <a:r>
              <a:rPr lang="en-US" sz="2400" b="1" spc="-36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整稿内容、版式和导出纳入同一条可审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31520" y="4088054"/>
            <a:ext cx="1597182" cy="416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976"/>
              </a:lnSpc>
              <a:buNone/>
            </a:pPr>
            <a:r>
              <a:rPr lang="en-US" sz="2400" b="1" spc="-36" kern="0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查生产线。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31520" y="5968106"/>
            <a:ext cx="521208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86D6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通过固定样例验证后，再扩展到经营复盘、培训和方案</a:t>
            </a:r>
            <a:endParaRPr lang="en-US" sz="1680" dirty="0"/>
          </a:p>
        </p:txBody>
      </p:sp>
      <p:sp>
        <p:nvSpPr>
          <p:cNvPr id="14" name="Text 12"/>
          <p:cNvSpPr/>
          <p:nvPr/>
        </p:nvSpPr>
        <p:spPr>
          <a:xfrm>
            <a:off x="731520" y="6288146"/>
            <a:ext cx="73152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680" dirty="0">
                <a:solidFill>
                  <a:srgbClr val="86D6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路演。</a:t>
            </a:r>
            <a:endParaRPr lang="en-US" sz="1680" dirty="0"/>
          </a:p>
        </p:txBody>
      </p:sp>
      <p:sp>
        <p:nvSpPr>
          <p:cNvPr id="15" name="Shape 13"/>
          <p:cNvSpPr/>
          <p:nvPr/>
        </p:nvSpPr>
        <p:spPr>
          <a:xfrm>
            <a:off x="6294090" y="3337560"/>
            <a:ext cx="7604790" cy="4160520"/>
          </a:xfrm>
          <a:prstGeom prst="roundRect">
            <a:avLst>
              <a:gd name="adj" fmla="val 5573"/>
            </a:avLst>
          </a:prstGeom>
          <a:solidFill>
            <a:srgbClr val="FFFFFF"/>
          </a:solidFill>
          <a:ln w="12700">
            <a:solidFill>
              <a:srgbClr val="0E110B">
                <a:alpha val="0"/>
              </a:srgbClr>
            </a:solidFill>
            <a:prstDash val="solid"/>
          </a:ln>
          <a:effectLst>
            <a:outerShdw sx="100000" sy="100000" kx="0" ky="0" algn="bl" rotWithShape="0" blurRad="304800" dist="171450" dir="5400000">
              <a:srgbClr val="0E110B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3887287" y="3337560"/>
            <a:ext cx="11593" cy="4160520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94090" y="3345150"/>
            <a:ext cx="18097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64" kern="0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6720840" y="3337560"/>
            <a:ext cx="798546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内容门槛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20840" y="3598530"/>
            <a:ext cx="1920240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事实完整且无默认文案残留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94090" y="3923142"/>
            <a:ext cx="7368510" cy="69988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94090" y="3923142"/>
            <a:ext cx="736851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94090" y="4045031"/>
            <a:ext cx="18097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64" kern="0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6720840" y="4014582"/>
            <a:ext cx="85341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导出门槛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720840" y="4298412"/>
            <a:ext cx="1463040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关键文字保持可编辑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94090" y="4622932"/>
            <a:ext cx="7368510" cy="69988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94090" y="4622932"/>
            <a:ext cx="7368510" cy="11593"/>
          </a:xfrm>
          <a:prstGeom prst="rect">
            <a:avLst/>
          </a:prstGeom>
          <a:solidFill>
            <a:srgbClr val="0E110B">
              <a:alpha val="10000"/>
            </a:srgbClr>
          </a:solidFill>
          <a:ln w="12700">
            <a:solidFill>
              <a:srgbClr val="0E110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94090" y="4744913"/>
            <a:ext cx="180975" cy="195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b="1" spc="64" kern="0" dirty="0">
                <a:solidFill>
                  <a:srgbClr val="0E11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6720840" y="4714372"/>
            <a:ext cx="85341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0E11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效率门槛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720840" y="4998202"/>
            <a:ext cx="1920240" cy="2484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8387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总耗时与返工优于现有流程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Dashi PPT Skill 真实采用研究精选稿</dc:title>
  <dc:subject>Editable PPTX export</dc:subject>
  <dc:creator>Dashi PPT</dc:creator>
  <cp:lastModifiedBy>Dashi PPT</cp:lastModifiedBy>
  <cp:revision>1</cp:revision>
  <dcterms:created xsi:type="dcterms:W3CDTF">2026-08-30T21:26:23Z</dcterms:created>
  <dcterms:modified xsi:type="dcterms:W3CDTF">2026-08-30T21:26:23Z</dcterms:modified>
</cp:coreProperties>
</file>