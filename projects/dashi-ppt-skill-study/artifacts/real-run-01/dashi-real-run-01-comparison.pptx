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39110"/>
            <a:ext cx="150260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spc="345" kern="0" dirty="0">
                <a:solidFill>
                  <a:srgbClr val="5A5F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技术采用研究</a:t>
            </a:r>
            <a:endParaRPr lang="en-US" sz="1380" dirty="0"/>
          </a:p>
        </p:txBody>
      </p:sp>
      <p:sp>
        <p:nvSpPr>
          <p:cNvPr id="5" name="Shape 3"/>
          <p:cNvSpPr/>
          <p:nvPr/>
        </p:nvSpPr>
        <p:spPr>
          <a:xfrm>
            <a:off x="2115373" y="809610"/>
            <a:ext cx="4512107" cy="11430"/>
          </a:xfrm>
          <a:prstGeom prst="rect">
            <a:avLst/>
          </a:prstGeom>
          <a:solidFill>
            <a:srgbClr val="0D100A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80093" y="720090"/>
            <a:ext cx="1889931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spc="345" kern="0" dirty="0">
                <a:solidFill>
                  <a:srgbClr val="5A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2026-08-31</a:t>
            </a:r>
            <a:endParaRPr lang="en-US" sz="1380" dirty="0"/>
          </a:p>
        </p:txBody>
      </p:sp>
      <p:sp>
        <p:nvSpPr>
          <p:cNvPr id="7" name="Text 5"/>
          <p:cNvSpPr/>
          <p:nvPr/>
        </p:nvSpPr>
        <p:spPr>
          <a:xfrm>
            <a:off x="685800" y="1503639"/>
            <a:ext cx="4266914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spc="788" kern="0" dirty="0">
                <a:solidFill>
                  <a:srgbClr val="5A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DASHI PPT SKILL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777931"/>
            <a:ext cx="5635676" cy="15514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114"/>
              </a:lnSpc>
              <a:buNone/>
            </a:pPr>
            <a:r>
              <a:rPr lang="en-US" sz="8280" b="1" spc="103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Dashi PPT</a:t>
            </a:r>
            <a:endParaRPr lang="en-US" sz="8280" dirty="0"/>
          </a:p>
        </p:txBody>
      </p:sp>
      <p:sp>
        <p:nvSpPr>
          <p:cNvPr id="9" name="Text 7"/>
          <p:cNvSpPr/>
          <p:nvPr/>
        </p:nvSpPr>
        <p:spPr>
          <a:xfrm>
            <a:off x="685800" y="2808460"/>
            <a:ext cx="3188170" cy="15514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114"/>
              </a:lnSpc>
              <a:buNone/>
            </a:pPr>
            <a:r>
              <a:rPr lang="en-US" sz="8280" b="1" spc="103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</a:t>
            </a:r>
            <a:endParaRPr lang="en-US" sz="8280" dirty="0"/>
          </a:p>
        </p:txBody>
      </p:sp>
      <p:sp>
        <p:nvSpPr>
          <p:cNvPr id="10" name="Text 8"/>
          <p:cNvSpPr/>
          <p:nvPr/>
        </p:nvSpPr>
        <p:spPr>
          <a:xfrm>
            <a:off x="685800" y="3793176"/>
            <a:ext cx="6463894" cy="15514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114"/>
              </a:lnSpc>
              <a:buNone/>
            </a:pPr>
            <a:r>
              <a:rPr lang="en-US" sz="8280" b="1" spc="103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本地演示生产</a:t>
            </a:r>
            <a:endParaRPr lang="en-US" sz="8280" dirty="0"/>
          </a:p>
        </p:txBody>
      </p:sp>
      <p:sp>
        <p:nvSpPr>
          <p:cNvPr id="11" name="Text 9"/>
          <p:cNvSpPr/>
          <p:nvPr/>
        </p:nvSpPr>
        <p:spPr>
          <a:xfrm>
            <a:off x="685800" y="4823705"/>
            <a:ext cx="1153607" cy="15514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114"/>
              </a:lnSpc>
              <a:buNone/>
            </a:pPr>
            <a:r>
              <a:rPr lang="en-US" sz="8280" b="1" spc="103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</a:t>
            </a:r>
            <a:endParaRPr lang="en-US" sz="8280" dirty="0"/>
          </a:p>
        </p:txBody>
      </p:sp>
      <p:sp>
        <p:nvSpPr>
          <p:cNvPr id="12" name="Text 10"/>
          <p:cNvSpPr/>
          <p:nvPr/>
        </p:nvSpPr>
        <p:spPr>
          <a:xfrm>
            <a:off x="685800" y="6344198"/>
            <a:ext cx="173736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16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技术采用研究</a:t>
            </a:r>
            <a:endParaRPr lang="en-US" sz="2160" dirty="0"/>
          </a:p>
        </p:txBody>
      </p:sp>
      <p:sp>
        <p:nvSpPr>
          <p:cNvPr id="13" name="Text 11"/>
          <p:cNvSpPr/>
          <p:nvPr/>
        </p:nvSpPr>
        <p:spPr>
          <a:xfrm>
            <a:off x="2307854" y="6418082"/>
            <a:ext cx="1815998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160" b="1" spc="-27" kern="0" dirty="0">
                <a:solidFill>
                  <a:srgbClr val="0D1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2026-08-31</a:t>
            </a:r>
            <a:endParaRPr lang="en-US" sz="2160" dirty="0"/>
          </a:p>
        </p:txBody>
      </p:sp>
      <p:sp>
        <p:nvSpPr>
          <p:cNvPr id="14" name="Text 12"/>
          <p:cNvSpPr/>
          <p:nvPr/>
        </p:nvSpPr>
        <p:spPr>
          <a:xfrm>
            <a:off x="3894338" y="6344198"/>
            <a:ext cx="173736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16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技术采用研究</a:t>
            </a:r>
            <a:endParaRPr lang="en-US" sz="2160" dirty="0"/>
          </a:p>
        </p:txBody>
      </p:sp>
      <p:sp>
        <p:nvSpPr>
          <p:cNvPr id="15" name="Shape 13"/>
          <p:cNvSpPr/>
          <p:nvPr/>
        </p:nvSpPr>
        <p:spPr>
          <a:xfrm>
            <a:off x="685800" y="7444770"/>
            <a:ext cx="411480" cy="53310"/>
          </a:xfrm>
          <a:prstGeom prst="rect">
            <a:avLst/>
          </a:prstGeom>
          <a:solidFill>
            <a:srgbClr val="8FD4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7322790"/>
            <a:ext cx="332441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spc="81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从材料到可审计演示的本地生产线</a:t>
            </a:r>
            <a:endParaRPr lang="en-US" sz="162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0"/>
            <a:ext cx="5852160" cy="8229600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0"/>
            <a:ext cx="5852160" cy="822960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2649170" y="914400"/>
            <a:ext cx="1981230" cy="2514600"/>
          </a:xfrm>
          <a:prstGeom prst="roundRect">
            <a:avLst>
              <a:gd name="adj" fmla="val 28087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170" y="914400"/>
            <a:ext cx="1981230" cy="2514600"/>
          </a:xfrm>
          <a:prstGeom prst="rect">
            <a:avLst/>
          </a:prstGeom>
          <a:effectLst>
            <a:outerShdw sx="100000" sy="100000" kx="0" ky="0" algn="bl" rotWithShape="0" blurRad="304800" dist="12700" dir="16200000">
              <a:srgbClr val="FFFFFF">
                <a:alpha val="35000"/>
              </a:srgbClr>
            </a:outerShdw>
          </a:effectLst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164" y="1736263"/>
            <a:ext cx="3918844" cy="3918844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3724" y="2422063"/>
            <a:ext cx="3216676" cy="3461644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30" y="457200"/>
            <a:ext cx="259050" cy="25905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486900" y="491490"/>
            <a:ext cx="1268854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spc="35" kern="0" dirty="0">
                <a:solidFill>
                  <a:srgbClr val="0D1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2026-08-31</a:t>
            </a:r>
            <a:endParaRPr lang="en-US" sz="1380" dirty="0"/>
          </a:p>
        </p:txBody>
      </p:sp>
      <p:sp>
        <p:nvSpPr>
          <p:cNvPr id="25" name="Text 17"/>
          <p:cNvSpPr/>
          <p:nvPr/>
        </p:nvSpPr>
        <p:spPr>
          <a:xfrm>
            <a:off x="9128730" y="7734270"/>
            <a:ext cx="1139800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216" kern="0" dirty="0">
                <a:solidFill>
                  <a:srgbClr val="0D100A">
                    <a:alpha val="5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技术采用研究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30" y="563910"/>
            <a:ext cx="259050" cy="25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0590" y="617220"/>
            <a:ext cx="1164031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80" b="1" spc="35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技术采用研究</a:t>
            </a:r>
            <a:endParaRPr lang="en-US" sz="1380" dirty="0"/>
          </a:p>
        </p:txBody>
      </p:sp>
      <p:sp>
        <p:nvSpPr>
          <p:cNvPr id="6" name="Text 3"/>
          <p:cNvSpPr/>
          <p:nvPr/>
        </p:nvSpPr>
        <p:spPr>
          <a:xfrm>
            <a:off x="12198620" y="598200"/>
            <a:ext cx="1889931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80" b="1" spc="345" kern="0" dirty="0">
                <a:solidFill>
                  <a:srgbClr val="5A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2026-08-31</a:t>
            </a:r>
            <a:endParaRPr lang="en-US" sz="138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30" y="6705570"/>
            <a:ext cx="12954030" cy="15240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943149" y="1653161"/>
            <a:ext cx="8744102" cy="1437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680"/>
              </a:lnSpc>
              <a:buNone/>
            </a:pPr>
            <a:r>
              <a:rPr lang="en-US" sz="7680" b="1" spc="192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Dashi PPT Skill</a:t>
            </a:r>
            <a:endParaRPr lang="en-US" sz="7680" dirty="0"/>
          </a:p>
        </p:txBody>
      </p:sp>
      <p:sp>
        <p:nvSpPr>
          <p:cNvPr id="9" name="Text 5"/>
          <p:cNvSpPr/>
          <p:nvPr/>
        </p:nvSpPr>
        <p:spPr>
          <a:xfrm>
            <a:off x="3787353" y="2586260"/>
            <a:ext cx="7055510" cy="1437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680"/>
              </a:lnSpc>
              <a:buNone/>
            </a:pPr>
            <a:r>
              <a:rPr lang="en-US" sz="7680" b="1" spc="192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本地演示生产线</a:t>
            </a:r>
            <a:endParaRPr lang="en-US" sz="7680" dirty="0"/>
          </a:p>
        </p:txBody>
      </p:sp>
      <p:sp>
        <p:nvSpPr>
          <p:cNvPr id="10" name="Text 6"/>
          <p:cNvSpPr/>
          <p:nvPr/>
        </p:nvSpPr>
        <p:spPr>
          <a:xfrm>
            <a:off x="4983480" y="4033601"/>
            <a:ext cx="4663440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从材料到可审计演示的本地生产线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5988040" y="4884450"/>
            <a:ext cx="2654229" cy="640080"/>
          </a:xfrm>
          <a:prstGeom prst="roundRect">
            <a:avLst>
              <a:gd name="adj" fmla="val 86937"/>
            </a:avLst>
          </a:prstGeom>
          <a:solidFill>
            <a:srgbClr val="0D10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292809" y="5162520"/>
            <a:ext cx="83850" cy="83850"/>
          </a:xfrm>
          <a:prstGeom prst="ellipse">
            <a:avLst/>
          </a:prstGeom>
          <a:solidFill>
            <a:srgbClr val="C2EE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46306" y="5036790"/>
            <a:ext cx="2343436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spc="113" kern="0" dirty="0">
                <a:solidFill>
                  <a:srgbClr val="F4F5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Dashi PPT Skill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5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8382030" y="0"/>
            <a:ext cx="6248370" cy="518163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8333" y="0"/>
            <a:ext cx="4192067" cy="3948196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30" y="670530"/>
            <a:ext cx="259050" cy="2590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96310" y="723930"/>
            <a:ext cx="1164031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spc="35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技术采用研究</a:t>
            </a:r>
            <a:endParaRPr lang="en-US" sz="1380" dirty="0"/>
          </a:p>
        </p:txBody>
      </p:sp>
      <p:sp>
        <p:nvSpPr>
          <p:cNvPr id="8" name="Text 3"/>
          <p:cNvSpPr/>
          <p:nvPr/>
        </p:nvSpPr>
        <p:spPr>
          <a:xfrm>
            <a:off x="12494910" y="704820"/>
            <a:ext cx="1889931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b="1" spc="345" kern="0" dirty="0">
                <a:solidFill>
                  <a:srgbClr val="5A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2026-08-31</a:t>
            </a:r>
            <a:endParaRPr lang="en-US" sz="138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6827550"/>
            <a:ext cx="863559" cy="73152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4959" y="7105528"/>
            <a:ext cx="863651" cy="453542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28610" y="7281184"/>
            <a:ext cx="863559" cy="277886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838230" y="1945569"/>
            <a:ext cx="4266914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spc="788" kern="0" dirty="0">
                <a:solidFill>
                  <a:srgbClr val="5A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DASHI PPT SKILL</a:t>
            </a:r>
            <a:endParaRPr lang="en-US" sz="1500" dirty="0"/>
          </a:p>
        </p:txBody>
      </p:sp>
      <p:sp>
        <p:nvSpPr>
          <p:cNvPr id="13" name="Text 5"/>
          <p:cNvSpPr/>
          <p:nvPr/>
        </p:nvSpPr>
        <p:spPr>
          <a:xfrm>
            <a:off x="838230" y="2204875"/>
            <a:ext cx="10399071" cy="1772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101"/>
              </a:lnSpc>
              <a:buNone/>
            </a:pPr>
            <a:r>
              <a:rPr lang="en-US" sz="9480" b="1" spc="119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Dashi PPT Skill</a:t>
            </a:r>
            <a:endParaRPr lang="en-US" sz="9480" dirty="0"/>
          </a:p>
        </p:txBody>
      </p:sp>
      <p:sp>
        <p:nvSpPr>
          <p:cNvPr id="14" name="Text 6"/>
          <p:cNvSpPr/>
          <p:nvPr/>
        </p:nvSpPr>
        <p:spPr>
          <a:xfrm>
            <a:off x="838230" y="3308328"/>
            <a:ext cx="8603498" cy="1772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101"/>
              </a:lnSpc>
              <a:buNone/>
            </a:pPr>
            <a:r>
              <a:rPr lang="en-US" sz="9480" b="1" spc="119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本地演示生产线</a:t>
            </a:r>
            <a:endParaRPr lang="en-US" sz="9480" dirty="0"/>
          </a:p>
        </p:txBody>
      </p:sp>
      <p:sp>
        <p:nvSpPr>
          <p:cNvPr id="15" name="Shape 7"/>
          <p:cNvSpPr/>
          <p:nvPr/>
        </p:nvSpPr>
        <p:spPr>
          <a:xfrm>
            <a:off x="838230" y="5057181"/>
            <a:ext cx="731520" cy="53310"/>
          </a:xfrm>
          <a:prstGeom prst="rect">
            <a:avLst/>
          </a:prstGeom>
          <a:solidFill>
            <a:srgbClr val="0D100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8"/>
          <p:cNvSpPr/>
          <p:nvPr/>
        </p:nvSpPr>
        <p:spPr>
          <a:xfrm>
            <a:off x="808055" y="5455356"/>
            <a:ext cx="1953890" cy="3550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b="1" spc="-30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技术采用研究</a:t>
            </a:r>
            <a:endParaRPr lang="en-US" sz="2400" dirty="0"/>
          </a:p>
        </p:txBody>
      </p:sp>
      <p:sp>
        <p:nvSpPr>
          <p:cNvPr id="17" name="Text 9"/>
          <p:cNvSpPr/>
          <p:nvPr/>
        </p:nvSpPr>
        <p:spPr>
          <a:xfrm>
            <a:off x="2723540" y="5372283"/>
            <a:ext cx="4754880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00" spc="60" kern="0" dirty="0">
                <a:solidFill>
                  <a:srgbClr val="0D10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从材料到可审计演示的本地生产线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E11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4300" y="0"/>
            <a:ext cx="3086100" cy="30861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AFAF6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30100" y="0"/>
            <a:ext cx="2400300" cy="2400300"/>
          </a:xfrm>
          <a:prstGeom prst="ellipse">
            <a:avLst/>
          </a:prstGeom>
          <a:solidFill>
            <a:srgbClr val="FFFFFF">
              <a:alpha val="0"/>
            </a:srgbClr>
          </a:solidFill>
          <a:ln w="171450">
            <a:solidFill>
              <a:srgbClr val="86D62B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8190" y="472470"/>
            <a:ext cx="38130" cy="728475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731520"/>
            <a:ext cx="1193383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b="1" spc="247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技术采用研究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3688477" y="731520"/>
            <a:ext cx="246979" cy="21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spc="210" kern="0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628316"/>
            <a:ext cx="3526566" cy="652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FA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Dashi PPT Skill</a:t>
            </a:r>
            <a:endParaRPr lang="en-US" sz="4320" dirty="0"/>
          </a:p>
        </p:txBody>
      </p:sp>
      <p:sp>
        <p:nvSpPr>
          <p:cNvPr id="10" name="Text 8"/>
          <p:cNvSpPr/>
          <p:nvPr/>
        </p:nvSpPr>
        <p:spPr>
          <a:xfrm>
            <a:off x="731520" y="5077206"/>
            <a:ext cx="4553803" cy="408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6"/>
              </a:lnSpc>
              <a:buNone/>
            </a:pPr>
            <a:r>
              <a:rPr lang="en-US" sz="2400" b="1" spc="-36" kern="0" dirty="0">
                <a:solidFill>
                  <a:srgbClr val="FAFA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从材料到可审计演示的本地生产线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31650" y="5099426"/>
            <a:ext cx="440253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锁定版本 0.4.11：检验内容契约、3+1 方案与</a:t>
            </a:r>
            <a:endParaRPr lang="en-US" sz="1680" dirty="0"/>
          </a:p>
        </p:txBody>
      </p:sp>
      <p:sp>
        <p:nvSpPr>
          <p:cNvPr id="12" name="Text 10"/>
          <p:cNvSpPr/>
          <p:nvPr/>
        </p:nvSpPr>
        <p:spPr>
          <a:xfrm>
            <a:off x="9631650" y="5419466"/>
            <a:ext cx="94485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分层导出</a:t>
            </a:r>
            <a:endParaRPr lang="en-US" sz="1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022501" cy="37856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6205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9054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1033272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先冻结内容，再选择表现方式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77889"/>
            <a:ext cx="10332720" cy="64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差异不在生成，而在内容与版式解耦</a:t>
            </a:r>
            <a:endParaRPr lang="en-US" sz="5040" dirty="0"/>
          </a:p>
        </p:txBody>
      </p:sp>
      <p:sp>
        <p:nvSpPr>
          <p:cNvPr id="9" name="Text 6"/>
          <p:cNvSpPr/>
          <p:nvPr/>
        </p:nvSpPr>
        <p:spPr>
          <a:xfrm>
            <a:off x="12984480" y="1324828"/>
            <a:ext cx="10058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核心差异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044141"/>
            <a:ext cx="10058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通用生成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2387041"/>
            <a:ext cx="10058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往往把事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" y="2729941"/>
            <a:ext cx="10058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实与画面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31520" y="3072841"/>
            <a:ext cx="10058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一次性写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31520" y="3415741"/>
            <a:ext cx="1157448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死；Dashi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31520" y="3758641"/>
            <a:ext cx="10058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先冻结内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31520" y="4101541"/>
            <a:ext cx="10058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容，再选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31520" y="4444441"/>
            <a:ext cx="10058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择表现方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31520" y="4787341"/>
            <a:ext cx="5486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式。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21013" y="1883207"/>
            <a:ext cx="10248595" cy="1078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5314"/>
              </a:lnSpc>
              <a:buNone/>
            </a:pPr>
            <a:r>
              <a:rPr lang="en-US" sz="648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份 · Canonical content</a:t>
            </a:r>
            <a:endParaRPr lang="en-US" sz="6480" dirty="0"/>
          </a:p>
        </p:txBody>
      </p:sp>
      <p:sp>
        <p:nvSpPr>
          <p:cNvPr id="20" name="Text 17"/>
          <p:cNvSpPr/>
          <p:nvPr/>
        </p:nvSpPr>
        <p:spPr>
          <a:xfrm>
            <a:off x="11515314" y="2430658"/>
            <a:ext cx="2383566" cy="385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594"/>
              </a:lnSpc>
              <a:buNone/>
            </a:pPr>
            <a:r>
              <a:rPr lang="en-US" sz="1944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Canonical content</a:t>
            </a:r>
            <a:endParaRPr lang="en-US" sz="1944" dirty="0"/>
          </a:p>
        </p:txBody>
      </p:sp>
      <p:sp>
        <p:nvSpPr>
          <p:cNvPr id="21" name="Text 18"/>
          <p:cNvSpPr/>
          <p:nvPr/>
        </p:nvSpPr>
        <p:spPr>
          <a:xfrm>
            <a:off x="2224369" y="2793126"/>
            <a:ext cx="2529870" cy="23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Canonical content</a:t>
            </a:r>
            <a:endParaRPr lang="en-US" sz="114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730" y="3108960"/>
            <a:ext cx="2948940" cy="393192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44850" y="7444770"/>
            <a:ext cx="264444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份 · Canonical content</a:t>
            </a:r>
            <a:endParaRPr lang="en-US" sz="1620" dirty="0"/>
          </a:p>
        </p:txBody>
      </p:sp>
      <p:sp>
        <p:nvSpPr>
          <p:cNvPr id="25" name="Shape 21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0"/>
            <a:ext cx="10241280" cy="65836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7650" y="5105370"/>
            <a:ext cx="1981230" cy="198123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811530"/>
            <a:ext cx="83850" cy="8385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65860" y="761970"/>
            <a:ext cx="3189275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先冻结内容，再选择表现方式</a:t>
            </a:r>
            <a:endParaRPr lang="en-US" sz="1320" dirty="0"/>
          </a:p>
        </p:txBody>
      </p:sp>
      <p:sp>
        <p:nvSpPr>
          <p:cNvPr id="8" name="Shape 4"/>
          <p:cNvSpPr/>
          <p:nvPr/>
        </p:nvSpPr>
        <p:spPr>
          <a:xfrm>
            <a:off x="4035887" y="847740"/>
            <a:ext cx="6722852" cy="1143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926348" y="731520"/>
            <a:ext cx="288109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66" kern="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差异不在生成，而在内容与版式解耦</a:t>
            </a:r>
            <a:endParaRPr lang="en-US" sz="1320" dirty="0"/>
          </a:p>
        </p:txBody>
      </p:sp>
      <p:sp>
        <p:nvSpPr>
          <p:cNvPr id="10" name="Text 6"/>
          <p:cNvSpPr/>
          <p:nvPr/>
        </p:nvSpPr>
        <p:spPr>
          <a:xfrm>
            <a:off x="6841236" y="586062"/>
            <a:ext cx="947928" cy="19705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120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2000" dirty="0"/>
          </a:p>
        </p:txBody>
      </p:sp>
      <p:sp>
        <p:nvSpPr>
          <p:cNvPr id="11" name="Text 7"/>
          <p:cNvSpPr/>
          <p:nvPr/>
        </p:nvSpPr>
        <p:spPr>
          <a:xfrm>
            <a:off x="2471349" y="1752310"/>
            <a:ext cx="3229661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核心差异</a:t>
            </a:r>
            <a:endParaRPr lang="en-US" sz="624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920" y="1717792"/>
            <a:ext cx="9872411" cy="20381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00136" y="1752310"/>
            <a:ext cx="6568440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份 · Canonical</a:t>
            </a:r>
            <a:endParaRPr lang="en-US" sz="6240" dirty="0"/>
          </a:p>
        </p:txBody>
      </p:sp>
      <p:sp>
        <p:nvSpPr>
          <p:cNvPr id="14" name="Text 9"/>
          <p:cNvSpPr/>
          <p:nvPr/>
        </p:nvSpPr>
        <p:spPr>
          <a:xfrm>
            <a:off x="2180951" y="2685850"/>
            <a:ext cx="3160776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6240" dirty="0"/>
          </a:p>
        </p:txBody>
      </p:sp>
      <p:sp>
        <p:nvSpPr>
          <p:cNvPr id="15" name="Text 10"/>
          <p:cNvSpPr/>
          <p:nvPr/>
        </p:nvSpPr>
        <p:spPr>
          <a:xfrm>
            <a:off x="5131430" y="2685850"/>
            <a:ext cx="7408469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Canonical content</a:t>
            </a:r>
            <a:endParaRPr lang="en-US" sz="624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146" y="3492825"/>
            <a:ext cx="8630107" cy="203810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954426" y="3527343"/>
            <a:ext cx="8721547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每个逻辑页只维护一份事</a:t>
            </a:r>
            <a:endParaRPr lang="en-US" sz="6240" dirty="0"/>
          </a:p>
        </p:txBody>
      </p:sp>
      <p:sp>
        <p:nvSpPr>
          <p:cNvPr id="18" name="Text 12"/>
          <p:cNvSpPr/>
          <p:nvPr/>
        </p:nvSpPr>
        <p:spPr>
          <a:xfrm>
            <a:off x="3032790" y="4414768"/>
            <a:ext cx="1660550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实源</a:t>
            </a:r>
            <a:endParaRPr lang="en-US" sz="6240" dirty="0"/>
          </a:p>
        </p:txBody>
      </p:sp>
      <p:sp>
        <p:nvSpPr>
          <p:cNvPr id="19" name="Text 13"/>
          <p:cNvSpPr/>
          <p:nvPr/>
        </p:nvSpPr>
        <p:spPr>
          <a:xfrm>
            <a:off x="4395475" y="4460792"/>
            <a:ext cx="7408469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Capacity contract</a:t>
            </a:r>
            <a:endParaRPr lang="en-US" sz="6240" dirty="0"/>
          </a:p>
        </p:txBody>
      </p:sp>
      <p:sp>
        <p:nvSpPr>
          <p:cNvPr id="20" name="Shape 14"/>
          <p:cNvSpPr/>
          <p:nvPr/>
        </p:nvSpPr>
        <p:spPr>
          <a:xfrm>
            <a:off x="6858000" y="5801136"/>
            <a:ext cx="914400" cy="38130"/>
          </a:xfrm>
          <a:prstGeom prst="rect">
            <a:avLst/>
          </a:prstGeom>
          <a:solidFill>
            <a:srgbClr val="0E11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14400" y="5638830"/>
            <a:ext cx="4063959" cy="11582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14400" y="5638830"/>
            <a:ext cx="4063959" cy="23186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914400" y="5821710"/>
            <a:ext cx="20726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80" kern="0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14400" y="6027450"/>
            <a:ext cx="2215134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Canonical content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914400" y="6362670"/>
            <a:ext cx="3489716" cy="248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Canonical content：每个逻辑页只维护一份事实源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283129" y="5638830"/>
            <a:ext cx="4063959" cy="11582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283129" y="5638830"/>
            <a:ext cx="4063959" cy="23186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283129" y="5821710"/>
            <a:ext cx="20726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80" kern="0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283129" y="6027450"/>
            <a:ext cx="2215134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Capacity contract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5283129" y="6362670"/>
            <a:ext cx="4051981" cy="248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Capacity contract：标题、条目、数值与媒体要求参与硬筛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283129" y="6576090"/>
            <a:ext cx="256032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9651949" y="5638830"/>
            <a:ext cx="4063959" cy="11582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651949" y="5638830"/>
            <a:ext cx="4063959" cy="23186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9651949" y="5821710"/>
            <a:ext cx="20726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80" kern="0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9651949" y="6027450"/>
            <a:ext cx="1607058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3+1 variants</a:t>
            </a:r>
            <a:endParaRPr lang="en-US" sz="1800" dirty="0"/>
          </a:p>
        </p:txBody>
      </p:sp>
      <p:sp>
        <p:nvSpPr>
          <p:cNvPr id="36" name="Text 30"/>
          <p:cNvSpPr/>
          <p:nvPr/>
        </p:nvSpPr>
        <p:spPr>
          <a:xfrm>
            <a:off x="9651949" y="6362670"/>
            <a:ext cx="3966210" cy="248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3+1 variants：三个模板候选与一个受主题约束的定制方案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914400" y="7338060"/>
            <a:ext cx="172669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content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11430000" y="733047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494282" y="733047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11558748" y="733047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11623030" y="733047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11687404" y="733047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11751686" y="733047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11816151" y="733047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11880433" y="733047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11944807" y="733047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12009090" y="733047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12073555" y="733047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12137837" y="733047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12202211" y="733047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12266493" y="733047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12330958" y="733047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12395241" y="733047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12459614" y="733047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12523988" y="733047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12588362" y="733047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12652644" y="733047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12717109" y="733047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12781392" y="733047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12845766" y="733047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12910048" y="733047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12974513" y="733047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13038795" y="733047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13103169" y="733047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13167451" y="733047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13231917" y="733047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13296199" y="733047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13360573" y="733047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13424855" y="733047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13489320" y="733047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13553603" y="733047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6"/>
          <p:cNvSpPr/>
          <p:nvPr/>
        </p:nvSpPr>
        <p:spPr>
          <a:xfrm>
            <a:off x="13617885" y="733047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13682167" y="733047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467" y="0"/>
            <a:ext cx="7022501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3288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6137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984507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先冻结内容，再选择表现方式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77364"/>
            <a:ext cx="9845070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4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差异不在生成，而在内容与版式解耦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11314237" y="1295659"/>
            <a:ext cx="292608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份 · Canonical content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381280"/>
            <a:ext cx="396210" cy="3813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49710" y="2308860"/>
            <a:ext cx="892226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spc="252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核心差异</a:t>
            </a:r>
            <a:endParaRPr lang="en-US" sz="1260" dirty="0"/>
          </a:p>
        </p:txBody>
      </p:sp>
      <p:sp>
        <p:nvSpPr>
          <p:cNvPr id="12" name="Text 9"/>
          <p:cNvSpPr/>
          <p:nvPr/>
        </p:nvSpPr>
        <p:spPr>
          <a:xfrm>
            <a:off x="731520" y="2661178"/>
            <a:ext cx="6626931" cy="332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通用生成往往把事实与画面一次性写死；Dashi 先冻结内容，再选择表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731520" y="2981218"/>
            <a:ext cx="94485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现方式。</a:t>
            </a:r>
            <a:endParaRPr lang="en-US" sz="1680" dirty="0"/>
          </a:p>
        </p:txBody>
      </p:sp>
      <p:sp>
        <p:nvSpPr>
          <p:cNvPr id="14" name="Text 11"/>
          <p:cNvSpPr/>
          <p:nvPr/>
        </p:nvSpPr>
        <p:spPr>
          <a:xfrm>
            <a:off x="731520" y="3390870"/>
            <a:ext cx="3666287" cy="225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5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Canonical content：每个逻辑页只维护一份事实源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3817620"/>
            <a:ext cx="679701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spc="179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标题、条目、数值与媒体要求参与硬筛选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777240" y="4069080"/>
            <a:ext cx="6705570" cy="876270"/>
          </a:xfrm>
          <a:prstGeom prst="roundRect">
            <a:avLst>
              <a:gd name="adj" fmla="val 18522"/>
            </a:avLst>
          </a:prstGeom>
          <a:solidFill>
            <a:srgbClr val="EFFAE3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4933756"/>
            <a:ext cx="670557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2056" y="4279301"/>
            <a:ext cx="558394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2760" b="1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760" dirty="0"/>
          </a:p>
        </p:txBody>
      </p:sp>
      <p:sp>
        <p:nvSpPr>
          <p:cNvPr id="19" name="Text 16"/>
          <p:cNvSpPr/>
          <p:nvPr/>
        </p:nvSpPr>
        <p:spPr>
          <a:xfrm>
            <a:off x="1539210" y="4190970"/>
            <a:ext cx="2215134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Canonical content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39210" y="4587270"/>
            <a:ext cx="3662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Canonical content：每个逻辑页只维护一份事实源</a:t>
            </a:r>
            <a:endParaRPr lang="en-US" sz="1260" dirty="0"/>
          </a:p>
        </p:txBody>
      </p:sp>
      <p:sp>
        <p:nvSpPr>
          <p:cNvPr id="21" name="Shape 18"/>
          <p:cNvSpPr/>
          <p:nvPr/>
        </p:nvSpPr>
        <p:spPr>
          <a:xfrm>
            <a:off x="731520" y="4945350"/>
            <a:ext cx="6705570" cy="876270"/>
          </a:xfrm>
          <a:prstGeom prst="roundRect">
            <a:avLst>
              <a:gd name="adj" fmla="val 18522"/>
            </a:avLst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5810026"/>
            <a:ext cx="670557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6336" y="5155662"/>
            <a:ext cx="596829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2760" b="1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760" dirty="0"/>
          </a:p>
        </p:txBody>
      </p:sp>
      <p:sp>
        <p:nvSpPr>
          <p:cNvPr id="24" name="Text 21"/>
          <p:cNvSpPr/>
          <p:nvPr/>
        </p:nvSpPr>
        <p:spPr>
          <a:xfrm>
            <a:off x="1493490" y="5067330"/>
            <a:ext cx="2215134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Capacity contract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93490" y="5463540"/>
            <a:ext cx="4412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Capacity contract：标题、条目、数值与媒体要求参与硬筛选</a:t>
            </a:r>
            <a:endParaRPr lang="en-US" sz="1260" dirty="0"/>
          </a:p>
        </p:txBody>
      </p:sp>
      <p:sp>
        <p:nvSpPr>
          <p:cNvPr id="26" name="Text 23"/>
          <p:cNvSpPr/>
          <p:nvPr/>
        </p:nvSpPr>
        <p:spPr>
          <a:xfrm>
            <a:off x="856336" y="6031931"/>
            <a:ext cx="601767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2760" b="1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760" dirty="0"/>
          </a:p>
        </p:txBody>
      </p:sp>
      <p:sp>
        <p:nvSpPr>
          <p:cNvPr id="27" name="Text 24"/>
          <p:cNvSpPr/>
          <p:nvPr/>
        </p:nvSpPr>
        <p:spPr>
          <a:xfrm>
            <a:off x="1493490" y="5943600"/>
            <a:ext cx="1607058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3+1 variants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493490" y="6339810"/>
            <a:ext cx="41628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3+1 variants：三个模板候选与一个受主题约束的定制方案</a:t>
            </a:r>
            <a:endParaRPr lang="en-US" sz="1260" dirty="0"/>
          </a:p>
        </p:txBody>
      </p:sp>
      <p:sp>
        <p:nvSpPr>
          <p:cNvPr id="29" name="Shape 26"/>
          <p:cNvSpPr/>
          <p:nvPr/>
        </p:nvSpPr>
        <p:spPr>
          <a:xfrm>
            <a:off x="7741950" y="2286000"/>
            <a:ext cx="6156930" cy="4800600"/>
          </a:xfrm>
          <a:prstGeom prst="roundRect">
            <a:avLst>
              <a:gd name="adj" fmla="val 5796"/>
            </a:avLst>
          </a:prstGeom>
          <a:solidFill>
            <a:srgbClr val="E9FBC6"/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9540" y="2293590"/>
            <a:ext cx="6141750" cy="4785330"/>
          </a:xfrm>
          <a:prstGeom prst="rect">
            <a:avLst/>
          </a:prstGeom>
        </p:spPr>
      </p:pic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0" y="2293590"/>
            <a:ext cx="6141750" cy="478533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44850" y="7444770"/>
            <a:ext cx="264444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份 · Canonical content</a:t>
            </a:r>
            <a:endParaRPr lang="en-US" sz="1620" dirty="0"/>
          </a:p>
        </p:txBody>
      </p:sp>
      <p:sp>
        <p:nvSpPr>
          <p:cNvPr id="34" name="Shape 29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4300" y="0"/>
            <a:ext cx="3086100" cy="30861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30100" y="0"/>
            <a:ext cx="2400300" cy="2400300"/>
          </a:xfrm>
          <a:prstGeom prst="ellipse">
            <a:avLst/>
          </a:prstGeom>
          <a:solidFill>
            <a:srgbClr val="FFFFFF">
              <a:alpha val="0"/>
            </a:srgbClr>
          </a:solidFill>
          <a:ln w="171450">
            <a:solidFill>
              <a:srgbClr val="86D62B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8190" y="472470"/>
            <a:ext cx="38130" cy="728475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731520"/>
            <a:ext cx="807781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b="1" spc="247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核心差异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3666805" y="731520"/>
            <a:ext cx="268651" cy="21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611447"/>
            <a:ext cx="8507669" cy="652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差异不在生成，而在内容与版式解耦</a:t>
            </a:r>
            <a:endParaRPr lang="en-US" sz="432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7604790" cy="4160520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 w="12700">
            <a:solidFill>
              <a:srgbClr val="0E110B">
                <a:alpha val="0"/>
              </a:srgbClr>
            </a:solidFill>
            <a:prstDash val="solid"/>
          </a:ln>
          <a:effectLst>
            <a:outerShdw sx="100000" sy="100000" kx="0" ky="0" algn="bl" rotWithShape="0" blurRad="304800" dist="171450" dir="5400000">
              <a:srgbClr val="0E110B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24717" y="3337560"/>
            <a:ext cx="11593" cy="416052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829905"/>
            <a:ext cx="377952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96"/>
              </a:lnSpc>
              <a:buNone/>
            </a:pPr>
            <a:r>
              <a:rPr lang="en-US" sz="384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840" dirty="0"/>
          </a:p>
        </p:txBody>
      </p:sp>
      <p:sp>
        <p:nvSpPr>
          <p:cNvPr id="13" name="Text 11"/>
          <p:cNvSpPr/>
          <p:nvPr/>
        </p:nvSpPr>
        <p:spPr>
          <a:xfrm>
            <a:off x="731520" y="5471724"/>
            <a:ext cx="5119908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20" b="1" spc="-5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换方案时，核心事实不必跟着重写。</a:t>
            </a:r>
            <a:endParaRPr lang="en-US" sz="252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0211" y="2526030"/>
            <a:ext cx="5810189" cy="570357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631650" y="3345150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10058400" y="3314700"/>
            <a:ext cx="245668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份 · Canonical content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058400" y="3598530"/>
            <a:ext cx="207267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每个逻辑页只维护一份事实源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31650" y="4045031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19" name="Text 16"/>
          <p:cNvSpPr/>
          <p:nvPr/>
        </p:nvSpPr>
        <p:spPr>
          <a:xfrm>
            <a:off x="10058400" y="4014582"/>
            <a:ext cx="186423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Capacity contract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058400" y="4298412"/>
            <a:ext cx="283464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标题、条目、数值与媒体要求参与硬筛选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631650" y="4744913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10058400" y="4714372"/>
            <a:ext cx="135750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3+1 variants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0058400" y="4998202"/>
            <a:ext cx="298707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三个模板候选与一个受主题约束的定制方案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022501" cy="37856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316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6009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393192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LENS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47348"/>
            <a:ext cx="3931920" cy="64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活跃资本图谱</a:t>
            </a:r>
            <a:endParaRPr lang="en-US" sz="5040" dirty="0"/>
          </a:p>
        </p:txBody>
      </p:sp>
      <p:sp>
        <p:nvSpPr>
          <p:cNvPr id="9" name="Text 6"/>
          <p:cNvSpPr/>
          <p:nvPr/>
        </p:nvSpPr>
        <p:spPr>
          <a:xfrm>
            <a:off x="12527280" y="1294287"/>
            <a:ext cx="14630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头部投资机构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044141"/>
            <a:ext cx="8494776" cy="362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大额融资背后是一批高频出手的头部机构，资本正从广撒网转向对头部资产的集中下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2387041"/>
            <a:ext cx="5486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注。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444710" y="1925269"/>
            <a:ext cx="1275222" cy="1078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5314"/>
              </a:lnSpc>
              <a:buNone/>
            </a:pPr>
            <a:r>
              <a:rPr lang="en-US" sz="648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6480" dirty="0"/>
          </a:p>
        </p:txBody>
      </p:sp>
      <p:sp>
        <p:nvSpPr>
          <p:cNvPr id="13" name="Text 10"/>
          <p:cNvSpPr/>
          <p:nvPr/>
        </p:nvSpPr>
        <p:spPr>
          <a:xfrm>
            <a:off x="13552140" y="2432807"/>
            <a:ext cx="346740" cy="385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594"/>
              </a:lnSpc>
              <a:buNone/>
            </a:pPr>
            <a:r>
              <a:rPr lang="en-US" sz="1944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</a:t>
            </a:r>
            <a:endParaRPr lang="en-US" sz="1944" dirty="0"/>
          </a:p>
        </p:txBody>
      </p:sp>
      <p:sp>
        <p:nvSpPr>
          <p:cNvPr id="14" name="Text 11"/>
          <p:cNvSpPr/>
          <p:nvPr/>
        </p:nvSpPr>
        <p:spPr>
          <a:xfrm>
            <a:off x="11925330" y="2793126"/>
            <a:ext cx="1973550" cy="23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全年参与大额轮次的活跃机构</a:t>
            </a:r>
            <a:endParaRPr lang="en-US" sz="114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730" y="3108960"/>
            <a:ext cx="2948940" cy="39319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44850" y="7444770"/>
            <a:ext cx="42062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钱多不稀缺，稀缺的是愿意下重注的确定性。</a:t>
            </a:r>
            <a:endParaRPr lang="en-US" sz="1620" dirty="0"/>
          </a:p>
        </p:txBody>
      </p:sp>
      <p:sp>
        <p:nvSpPr>
          <p:cNvPr id="18" name="Shape 14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8256" y="0"/>
            <a:ext cx="10533797" cy="6089904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790" y="914400"/>
            <a:ext cx="1752630" cy="175263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811530"/>
            <a:ext cx="83850" cy="8385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65860" y="761970"/>
            <a:ext cx="2813761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决策，脚本执行</a:t>
            </a:r>
            <a:endParaRPr lang="en-US" sz="1320" dirty="0"/>
          </a:p>
        </p:txBody>
      </p:sp>
      <p:sp>
        <p:nvSpPr>
          <p:cNvPr id="8" name="Shape 4"/>
          <p:cNvSpPr/>
          <p:nvPr/>
        </p:nvSpPr>
        <p:spPr>
          <a:xfrm>
            <a:off x="3587466" y="847740"/>
            <a:ext cx="7345650" cy="1143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100816" y="731520"/>
            <a:ext cx="2729103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66" kern="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一份内容依次经过五道确定性关卡</a:t>
            </a:r>
            <a:endParaRPr lang="en-US" sz="1320" dirty="0"/>
          </a:p>
        </p:txBody>
      </p:sp>
      <p:sp>
        <p:nvSpPr>
          <p:cNvPr id="10" name="Shape 6"/>
          <p:cNvSpPr/>
          <p:nvPr/>
        </p:nvSpPr>
        <p:spPr>
          <a:xfrm>
            <a:off x="5833781" y="2087850"/>
            <a:ext cx="2962747" cy="365760"/>
          </a:xfrm>
          <a:prstGeom prst="roundRect">
            <a:avLst>
              <a:gd name="adj" fmla="val 152139"/>
            </a:avLst>
          </a:prstGeom>
          <a:solidFill>
            <a:srgbClr val="E9FBC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814110" y="2087850"/>
            <a:ext cx="3002090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60" b="1" spc="189" kern="0" dirty="0">
                <a:solidFill>
                  <a:srgbClr val="5FA0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一份内容依次经过五道确定性关卡</a:t>
            </a:r>
            <a:endParaRPr lang="en-US" sz="1260" dirty="0"/>
          </a:p>
        </p:txBody>
      </p:sp>
      <p:sp>
        <p:nvSpPr>
          <p:cNvPr id="12" name="Text 8"/>
          <p:cNvSpPr/>
          <p:nvPr/>
        </p:nvSpPr>
        <p:spPr>
          <a:xfrm>
            <a:off x="6904055" y="2284238"/>
            <a:ext cx="822198" cy="1680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120"/>
              </a:lnSpc>
              <a:buNone/>
            </a:pPr>
            <a:r>
              <a:rPr lang="en-US" sz="102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0200" dirty="0"/>
          </a:p>
        </p:txBody>
      </p:sp>
      <p:sp>
        <p:nvSpPr>
          <p:cNvPr id="13" name="Text 9"/>
          <p:cNvSpPr/>
          <p:nvPr/>
        </p:nvSpPr>
        <p:spPr>
          <a:xfrm>
            <a:off x="2619847" y="3262624"/>
            <a:ext cx="9390614" cy="1086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451"/>
              </a:lnSpc>
              <a:buNone/>
            </a:pPr>
            <a:r>
              <a:rPr lang="en-US" sz="5760" b="1" spc="-72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内容规划｜形成逐页 brief 与</a:t>
            </a:r>
            <a:endParaRPr lang="en-US" sz="5760" dirty="0"/>
          </a:p>
        </p:txBody>
      </p:sp>
      <p:sp>
        <p:nvSpPr>
          <p:cNvPr id="14" name="Text 10"/>
          <p:cNvSpPr/>
          <p:nvPr/>
        </p:nvSpPr>
        <p:spPr>
          <a:xfrm>
            <a:off x="3286262" y="4081926"/>
            <a:ext cx="2264054" cy="1086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451"/>
              </a:lnSpc>
              <a:buNone/>
            </a:pPr>
            <a:r>
              <a:rPr lang="en-US" sz="5760" b="1" spc="-72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事实包</a:t>
            </a:r>
            <a:endParaRPr lang="en-US" sz="576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670" y="4050152"/>
            <a:ext cx="8270657" cy="18784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58877" y="4081926"/>
            <a:ext cx="5885170" cy="1086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451"/>
              </a:lnSpc>
              <a:buNone/>
            </a:pPr>
            <a:r>
              <a:rPr lang="en-US" sz="5760" b="1" spc="-72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内容规划：形成逐</a:t>
            </a:r>
            <a:endParaRPr lang="en-US" sz="5760" dirty="0"/>
          </a:p>
        </p:txBody>
      </p:sp>
      <p:sp>
        <p:nvSpPr>
          <p:cNvPr id="17" name="Text 12"/>
          <p:cNvSpPr/>
          <p:nvPr/>
        </p:nvSpPr>
        <p:spPr>
          <a:xfrm>
            <a:off x="2816261" y="4901229"/>
            <a:ext cx="6100877" cy="1086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451"/>
              </a:lnSpc>
              <a:buNone/>
            </a:pPr>
            <a:r>
              <a:rPr lang="en-US" sz="5760" b="1" spc="-72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 brief 与事实包</a:t>
            </a:r>
            <a:endParaRPr lang="en-US" sz="5760" dirty="0"/>
          </a:p>
        </p:txBody>
      </p:sp>
      <p:sp>
        <p:nvSpPr>
          <p:cNvPr id="18" name="Text 13"/>
          <p:cNvSpPr/>
          <p:nvPr/>
        </p:nvSpPr>
        <p:spPr>
          <a:xfrm>
            <a:off x="8660008" y="4901229"/>
            <a:ext cx="2988351" cy="1086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451"/>
              </a:lnSpc>
              <a:buNone/>
            </a:pPr>
            <a:r>
              <a:rPr lang="en-US" sz="5760" b="1" spc="-72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内容规划</a:t>
            </a:r>
            <a:endParaRPr lang="en-US" sz="5760" dirty="0"/>
          </a:p>
        </p:txBody>
      </p:sp>
      <p:sp>
        <p:nvSpPr>
          <p:cNvPr id="19" name="Shape 14"/>
          <p:cNvSpPr/>
          <p:nvPr/>
        </p:nvSpPr>
        <p:spPr>
          <a:xfrm>
            <a:off x="6858000" y="6176406"/>
            <a:ext cx="914400" cy="38130"/>
          </a:xfrm>
          <a:prstGeom prst="rect">
            <a:avLst/>
          </a:prstGeom>
          <a:solidFill>
            <a:srgbClr val="0E11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5229728"/>
            <a:ext cx="4063959" cy="168926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86D62B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4400" y="5229728"/>
            <a:ext cx="4063959" cy="23186"/>
          </a:xfrm>
          <a:prstGeom prst="rect">
            <a:avLst/>
          </a:prstGeom>
          <a:solidFill>
            <a:srgbClr val="86D62B"/>
          </a:solidFill>
          <a:ln w="12700">
            <a:solidFill>
              <a:srgbClr val="86D62B">
                <a:alpha val="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443057"/>
            <a:ext cx="381030" cy="3810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5857555"/>
            <a:ext cx="149349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760" b="1" dirty="0">
                <a:solidFill>
                  <a:srgbClr val="5FA0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内容规划</a:t>
            </a:r>
            <a:endParaRPr lang="en-US" sz="2760" dirty="0"/>
          </a:p>
        </p:txBody>
      </p:sp>
      <p:sp>
        <p:nvSpPr>
          <p:cNvPr id="24" name="Text 18"/>
          <p:cNvSpPr/>
          <p:nvPr/>
        </p:nvSpPr>
        <p:spPr>
          <a:xfrm>
            <a:off x="2438430" y="6113587"/>
            <a:ext cx="85570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spc="285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内容规划</a:t>
            </a:r>
            <a:endParaRPr lang="en-US" sz="1140" dirty="0"/>
          </a:p>
        </p:txBody>
      </p:sp>
      <p:sp>
        <p:nvSpPr>
          <p:cNvPr id="25" name="Text 19"/>
          <p:cNvSpPr/>
          <p:nvPr/>
        </p:nvSpPr>
        <p:spPr>
          <a:xfrm>
            <a:off x="914400" y="6403177"/>
            <a:ext cx="2839761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1"/>
              </a:lnSpc>
              <a:buNone/>
            </a:pPr>
            <a:r>
              <a:rPr lang="en-US" sz="138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内容规划：形成逐页 brief 与事实包</a:t>
            </a:r>
            <a:endParaRPr lang="en-US" sz="1380" dirty="0"/>
          </a:p>
        </p:txBody>
      </p:sp>
      <p:sp>
        <p:nvSpPr>
          <p:cNvPr id="26" name="Shape 20"/>
          <p:cNvSpPr/>
          <p:nvPr/>
        </p:nvSpPr>
        <p:spPr>
          <a:xfrm>
            <a:off x="5283129" y="5229728"/>
            <a:ext cx="4063959" cy="168926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283129" y="5229728"/>
            <a:ext cx="4063959" cy="23186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3129" y="5443057"/>
            <a:ext cx="381030" cy="38103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83129" y="5857555"/>
            <a:ext cx="149349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7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容量查询</a:t>
            </a:r>
            <a:endParaRPr lang="en-US" sz="2760" dirty="0"/>
          </a:p>
        </p:txBody>
      </p:sp>
      <p:sp>
        <p:nvSpPr>
          <p:cNvPr id="30" name="Text 23"/>
          <p:cNvSpPr/>
          <p:nvPr/>
        </p:nvSpPr>
        <p:spPr>
          <a:xfrm>
            <a:off x="6807159" y="6113587"/>
            <a:ext cx="85570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spc="285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容量查询</a:t>
            </a:r>
            <a:endParaRPr lang="en-US" sz="1140" dirty="0"/>
          </a:p>
        </p:txBody>
      </p:sp>
      <p:sp>
        <p:nvSpPr>
          <p:cNvPr id="31" name="Text 24"/>
          <p:cNvSpPr/>
          <p:nvPr/>
        </p:nvSpPr>
        <p:spPr>
          <a:xfrm>
            <a:off x="5283129" y="6403177"/>
            <a:ext cx="3886200" cy="286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1"/>
              </a:lnSpc>
              <a:buNone/>
            </a:pPr>
            <a:r>
              <a:rPr lang="en-US" sz="138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容量查询｜HTML 渲染：生成离线编辑器与四方案</a:t>
            </a:r>
            <a:endParaRPr lang="en-US" sz="1380" dirty="0"/>
          </a:p>
        </p:txBody>
      </p:sp>
      <p:sp>
        <p:nvSpPr>
          <p:cNvPr id="32" name="Shape 25"/>
          <p:cNvSpPr/>
          <p:nvPr/>
        </p:nvSpPr>
        <p:spPr>
          <a:xfrm>
            <a:off x="9651949" y="5229728"/>
            <a:ext cx="4063959" cy="168926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9651949" y="5229728"/>
            <a:ext cx="4063959" cy="23186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1949" y="5443057"/>
            <a:ext cx="381030" cy="38103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651949" y="5857555"/>
            <a:ext cx="149349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7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全稿分配</a:t>
            </a:r>
            <a:endParaRPr lang="en-US" sz="2760" dirty="0"/>
          </a:p>
        </p:txBody>
      </p:sp>
      <p:sp>
        <p:nvSpPr>
          <p:cNvPr id="36" name="Text 28"/>
          <p:cNvSpPr/>
          <p:nvPr/>
        </p:nvSpPr>
        <p:spPr>
          <a:xfrm>
            <a:off x="11175888" y="6113587"/>
            <a:ext cx="85570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spc="285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全稿分配</a:t>
            </a:r>
            <a:endParaRPr lang="en-US" sz="1140" dirty="0"/>
          </a:p>
        </p:txBody>
      </p:sp>
      <p:sp>
        <p:nvSpPr>
          <p:cNvPr id="37" name="Text 29"/>
          <p:cNvSpPr/>
          <p:nvPr/>
        </p:nvSpPr>
        <p:spPr>
          <a:xfrm>
            <a:off x="9651949" y="6403177"/>
            <a:ext cx="3728649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1"/>
              </a:lnSpc>
              <a:buNone/>
            </a:pPr>
            <a:r>
              <a:rPr lang="en-US" sz="138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全稿分配｜校验与导出：检查内容并生成 PDF /</a:t>
            </a:r>
            <a:endParaRPr lang="en-US" sz="1380" dirty="0"/>
          </a:p>
        </p:txBody>
      </p:sp>
      <p:sp>
        <p:nvSpPr>
          <p:cNvPr id="38" name="Text 30"/>
          <p:cNvSpPr/>
          <p:nvPr/>
        </p:nvSpPr>
        <p:spPr>
          <a:xfrm>
            <a:off x="9651949" y="6657289"/>
            <a:ext cx="558394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1"/>
              </a:lnSpc>
              <a:buNone/>
            </a:pPr>
            <a:r>
              <a:rPr lang="en-US" sz="138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</a:t>
            </a:r>
            <a:endParaRPr lang="en-US" sz="1380" dirty="0"/>
          </a:p>
        </p:txBody>
      </p:sp>
      <p:sp>
        <p:nvSpPr>
          <p:cNvPr id="39" name="Text 31"/>
          <p:cNvSpPr/>
          <p:nvPr/>
        </p:nvSpPr>
        <p:spPr>
          <a:xfrm>
            <a:off x="914400" y="7345650"/>
            <a:ext cx="2719197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内容规划：形成逐页 brief 与事实包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11430000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11494282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11558748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11623030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11687404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11751686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11816151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11880433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11944807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12009090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12073555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12137837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12202211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12266493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12330958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12395241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12459614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12523988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12588362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12652644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12717109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12781392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12845766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12910048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12974513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7"/>
          <p:cNvSpPr/>
          <p:nvPr/>
        </p:nvSpPr>
        <p:spPr>
          <a:xfrm>
            <a:off x="13038795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8"/>
          <p:cNvSpPr/>
          <p:nvPr/>
        </p:nvSpPr>
        <p:spPr>
          <a:xfrm>
            <a:off x="13103169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13167451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0"/>
          <p:cNvSpPr/>
          <p:nvPr/>
        </p:nvSpPr>
        <p:spPr>
          <a:xfrm>
            <a:off x="13231917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13296199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2"/>
          <p:cNvSpPr/>
          <p:nvPr/>
        </p:nvSpPr>
        <p:spPr>
          <a:xfrm>
            <a:off x="13360573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3"/>
          <p:cNvSpPr/>
          <p:nvPr/>
        </p:nvSpPr>
        <p:spPr>
          <a:xfrm>
            <a:off x="13424855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4"/>
          <p:cNvSpPr/>
          <p:nvPr/>
        </p:nvSpPr>
        <p:spPr>
          <a:xfrm>
            <a:off x="13489320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5"/>
          <p:cNvSpPr/>
          <p:nvPr/>
        </p:nvSpPr>
        <p:spPr>
          <a:xfrm>
            <a:off x="13553603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6"/>
          <p:cNvSpPr/>
          <p:nvPr/>
        </p:nvSpPr>
        <p:spPr>
          <a:xfrm>
            <a:off x="13617885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7"/>
          <p:cNvSpPr/>
          <p:nvPr/>
        </p:nvSpPr>
        <p:spPr>
          <a:xfrm>
            <a:off x="13682167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40080"/>
            <a:ext cx="13167360" cy="187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504927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"/>
            <a:ext cx="8599566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生产链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31520" y="923406"/>
            <a:ext cx="8412480" cy="949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一份内容依次经过五道确定性</a:t>
            </a:r>
            <a:endParaRPr lang="en-US" sz="5040" dirty="0"/>
          </a:p>
        </p:txBody>
      </p:sp>
      <p:sp>
        <p:nvSpPr>
          <p:cNvPr id="8" name="Text 6"/>
          <p:cNvSpPr/>
          <p:nvPr/>
        </p:nvSpPr>
        <p:spPr>
          <a:xfrm>
            <a:off x="731520" y="1537700"/>
            <a:ext cx="1371600" cy="949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关卡</a:t>
            </a:r>
            <a:endParaRPr lang="en-US" sz="5040" dirty="0"/>
          </a:p>
        </p:txBody>
      </p:sp>
      <p:sp>
        <p:nvSpPr>
          <p:cNvPr id="9" name="Text 7"/>
          <p:cNvSpPr/>
          <p:nvPr/>
        </p:nvSpPr>
        <p:spPr>
          <a:xfrm>
            <a:off x="9239646" y="1603903"/>
            <a:ext cx="46634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可追踪的中间表示把创作判断与工程执行连接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239646" y="1939122"/>
            <a:ext cx="7772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起来。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074865"/>
            <a:ext cx="902814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负责理解与叙事，脚本负责筛选、分配、渲染、校验和导出。</a:t>
            </a:r>
            <a:endParaRPr lang="en-US" sz="192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76570"/>
            <a:ext cx="3166110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7710" y="3512850"/>
            <a:ext cx="25603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67710" y="4101907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内容规划</a:t>
            </a:r>
            <a:endParaRPr lang="en-US" sz="2160" dirty="0"/>
          </a:p>
        </p:txBody>
      </p:sp>
      <p:sp>
        <p:nvSpPr>
          <p:cNvPr id="15" name="Text 12"/>
          <p:cNvSpPr/>
          <p:nvPr/>
        </p:nvSpPr>
        <p:spPr>
          <a:xfrm>
            <a:off x="967710" y="4572000"/>
            <a:ext cx="278508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内容规划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240" y="3230850"/>
            <a:ext cx="3166110" cy="1783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05042" y="4125773"/>
            <a:ext cx="1002182" cy="1490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b="1" dirty="0">
                <a:solidFill>
                  <a:srgbClr val="86D62B">
                    <a:alpha val="1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0" dirty="0"/>
          </a:p>
        </p:txBody>
      </p:sp>
      <p:sp>
        <p:nvSpPr>
          <p:cNvPr id="18" name="Text 14"/>
          <p:cNvSpPr/>
          <p:nvPr/>
        </p:nvSpPr>
        <p:spPr>
          <a:xfrm>
            <a:off x="6630589" y="3467130"/>
            <a:ext cx="37581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60" b="1" spc="144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</a:t>
            </a:r>
            <a:endParaRPr lang="en-US" sz="960" dirty="0"/>
          </a:p>
        </p:txBody>
      </p:sp>
      <p:sp>
        <p:nvSpPr>
          <p:cNvPr id="19" name="Text 15"/>
          <p:cNvSpPr/>
          <p:nvPr/>
        </p:nvSpPr>
        <p:spPr>
          <a:xfrm>
            <a:off x="4301520" y="3467130"/>
            <a:ext cx="27432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301520" y="4056187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容量查询</a:t>
            </a:r>
            <a:endParaRPr lang="en-US" sz="2160" dirty="0"/>
          </a:p>
        </p:txBody>
      </p:sp>
      <p:sp>
        <p:nvSpPr>
          <p:cNvPr id="21" name="Text 17"/>
          <p:cNvSpPr/>
          <p:nvPr/>
        </p:nvSpPr>
        <p:spPr>
          <a:xfrm>
            <a:off x="4301520" y="4526280"/>
            <a:ext cx="278508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容量查询</a:t>
            </a:r>
            <a:endParaRPr lang="en-US" sz="1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050" y="3276570"/>
            <a:ext cx="3166110" cy="17830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635240" y="3512850"/>
            <a:ext cx="27761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7635240" y="4101907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全稿分配</a:t>
            </a:r>
            <a:endParaRPr lang="en-US" sz="2160" dirty="0"/>
          </a:p>
        </p:txBody>
      </p:sp>
      <p:sp>
        <p:nvSpPr>
          <p:cNvPr id="25" name="Text 20"/>
          <p:cNvSpPr/>
          <p:nvPr/>
        </p:nvSpPr>
        <p:spPr>
          <a:xfrm>
            <a:off x="7635240" y="4572000"/>
            <a:ext cx="278508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全稿分配</a:t>
            </a:r>
            <a:endParaRPr lang="en-US" sz="12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2770" y="3276570"/>
            <a:ext cx="3166110" cy="17830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68960" y="3512850"/>
            <a:ext cx="284013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10968960" y="4101907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渲染</a:t>
            </a:r>
            <a:endParaRPr lang="en-US" sz="2160" dirty="0"/>
          </a:p>
        </p:txBody>
      </p:sp>
      <p:sp>
        <p:nvSpPr>
          <p:cNvPr id="29" name="Text 23"/>
          <p:cNvSpPr/>
          <p:nvPr/>
        </p:nvSpPr>
        <p:spPr>
          <a:xfrm>
            <a:off x="10968960" y="4572000"/>
            <a:ext cx="278508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HTML 渲染</a:t>
            </a:r>
            <a:endParaRPr lang="en-US" sz="12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227350"/>
            <a:ext cx="3166110" cy="17830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7710" y="5463540"/>
            <a:ext cx="27569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967710" y="6052688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校验与导出</a:t>
            </a:r>
            <a:endParaRPr lang="en-US" sz="2160" dirty="0"/>
          </a:p>
        </p:txBody>
      </p:sp>
      <p:sp>
        <p:nvSpPr>
          <p:cNvPr id="33" name="Text 26"/>
          <p:cNvSpPr/>
          <p:nvPr/>
        </p:nvSpPr>
        <p:spPr>
          <a:xfrm>
            <a:off x="967710" y="6522690"/>
            <a:ext cx="278508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校验与导出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731520" y="750192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944850" y="7399050"/>
            <a:ext cx="70866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生产链</a:t>
            </a:r>
            <a:endParaRPr lang="en-US" sz="1620" dirty="0"/>
          </a:p>
        </p:txBody>
      </p:sp>
      <p:sp>
        <p:nvSpPr>
          <p:cNvPr id="36" name="Shape 29"/>
          <p:cNvSpPr/>
          <p:nvPr/>
        </p:nvSpPr>
        <p:spPr>
          <a:xfrm>
            <a:off x="11765310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1819352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1187348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11927525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11981749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12035790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12089922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12144055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12198187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12252228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12306452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12360493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1241462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12468667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12522891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12576932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1263106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12685197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12739329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12793370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1284759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12901635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12955768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13009809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13064033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13118074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1317220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13226339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13280471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13334512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1338873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13442777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13496910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13550951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13604992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4"/>
          <p:cNvSpPr/>
          <p:nvPr/>
        </p:nvSpPr>
        <p:spPr>
          <a:xfrm>
            <a:off x="1365912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5"/>
          <p:cNvSpPr/>
          <p:nvPr/>
        </p:nvSpPr>
        <p:spPr>
          <a:xfrm>
            <a:off x="13713165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6"/>
          <p:cNvSpPr/>
          <p:nvPr/>
        </p:nvSpPr>
        <p:spPr>
          <a:xfrm>
            <a:off x="1376720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>
            <a:off x="13821247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8"/>
          <p:cNvSpPr/>
          <p:nvPr/>
        </p:nvSpPr>
        <p:spPr>
          <a:xfrm>
            <a:off x="13875288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4300" y="0"/>
            <a:ext cx="3086100" cy="30861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30100" y="0"/>
            <a:ext cx="2400300" cy="2400300"/>
          </a:xfrm>
          <a:prstGeom prst="ellipse">
            <a:avLst/>
          </a:prstGeom>
          <a:solidFill>
            <a:srgbClr val="FFFFFF">
              <a:alpha val="0"/>
            </a:srgbClr>
          </a:solidFill>
          <a:ln w="171450">
            <a:solidFill>
              <a:srgbClr val="86D62B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8190" y="472470"/>
            <a:ext cx="38130" cy="728475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731520"/>
            <a:ext cx="61502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b="1" spc="247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生产链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3664702" y="731520"/>
            <a:ext cx="270754" cy="21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611447"/>
            <a:ext cx="7978140" cy="652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一份内容依次经过五道确定性关卡</a:t>
            </a:r>
            <a:endParaRPr lang="en-US" sz="4320" dirty="0"/>
          </a:p>
        </p:txBody>
      </p:sp>
      <p:sp>
        <p:nvSpPr>
          <p:cNvPr id="10" name="Text 8"/>
          <p:cNvSpPr/>
          <p:nvPr/>
        </p:nvSpPr>
        <p:spPr>
          <a:xfrm>
            <a:off x="731520" y="3339846"/>
            <a:ext cx="4893046" cy="408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6"/>
              </a:lnSpc>
              <a:buNone/>
            </a:pPr>
            <a:r>
              <a:rPr lang="en-US" sz="2400" b="1" spc="-36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负责理解与叙事，脚本负责筛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3710132"/>
            <a:ext cx="4307464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76"/>
              </a:lnSpc>
              <a:buNone/>
            </a:pPr>
            <a:r>
              <a:rPr lang="en-US" sz="2400" b="1" spc="-36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选、分配、渲染、校验和导出。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5968106"/>
            <a:ext cx="499875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可追踪的中间表示把创作判断与工程执行连接起来。</a:t>
            </a:r>
            <a:endParaRPr lang="en-US" sz="1680" dirty="0"/>
          </a:p>
        </p:txBody>
      </p:sp>
      <p:sp>
        <p:nvSpPr>
          <p:cNvPr id="13" name="Shape 11"/>
          <p:cNvSpPr/>
          <p:nvPr/>
        </p:nvSpPr>
        <p:spPr>
          <a:xfrm>
            <a:off x="6294090" y="3337560"/>
            <a:ext cx="7604790" cy="4160520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 w="12700">
            <a:solidFill>
              <a:srgbClr val="0E110B">
                <a:alpha val="0"/>
              </a:srgbClr>
            </a:solidFill>
            <a:prstDash val="solid"/>
          </a:ln>
          <a:effectLst>
            <a:outerShdw sx="100000" sy="100000" kx="0" ky="0" algn="bl" rotWithShape="0" blurRad="304800" dist="171450" dir="5400000">
              <a:srgbClr val="0E110B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3887287" y="3337560"/>
            <a:ext cx="11593" cy="416052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4090" y="3345150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6720840" y="3337560"/>
            <a:ext cx="676656" cy="240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内容规划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6720840" y="3560399"/>
            <a:ext cx="1543736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形成逐页 brief 与事实包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294090" y="3853464"/>
            <a:ext cx="7368510" cy="6302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94090" y="3853464"/>
            <a:ext cx="736851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4090" y="3975354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6720840" y="3952494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容量查询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6720840" y="4190604"/>
            <a:ext cx="151635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淘汰无法承载内容的版式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294090" y="4483669"/>
            <a:ext cx="7368510" cy="6302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94090" y="4483669"/>
            <a:ext cx="736851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4090" y="4605558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6720840" y="4582698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全稿分配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6720840" y="4820808"/>
            <a:ext cx="151635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控制布局与结构家族复用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294090" y="5113873"/>
            <a:ext cx="7368510" cy="6302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94090" y="5113873"/>
            <a:ext cx="736851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4090" y="5235763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6720840" y="5212903"/>
            <a:ext cx="897941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渲染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6720840" y="5451013"/>
            <a:ext cx="151635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生成离线编辑器与四方案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6294090" y="5744078"/>
            <a:ext cx="7368510" cy="6302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94090" y="5744078"/>
            <a:ext cx="736851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4090" y="5865967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6720840" y="5843107"/>
            <a:ext cx="89154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校验与导出</a:t>
            </a:r>
            <a:endParaRPr lang="en-US" sz="1260" dirty="0"/>
          </a:p>
        </p:txBody>
      </p:sp>
      <p:sp>
        <p:nvSpPr>
          <p:cNvPr id="37" name="Text 35"/>
          <p:cNvSpPr/>
          <p:nvPr/>
        </p:nvSpPr>
        <p:spPr>
          <a:xfrm>
            <a:off x="6720840" y="6081217"/>
            <a:ext cx="1756181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检查内容并生成 PDF / PPTX</a:t>
            </a:r>
            <a:endParaRPr lang="en-US" sz="10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99" y="0"/>
            <a:ext cx="7022501" cy="39502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6205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9054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521208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资产基线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77889"/>
            <a:ext cx="5212080" cy="64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规模不是质量结论</a:t>
            </a:r>
            <a:endParaRPr lang="en-US" sz="5040" dirty="0"/>
          </a:p>
        </p:txBody>
      </p:sp>
      <p:sp>
        <p:nvSpPr>
          <p:cNvPr id="9" name="Text 6"/>
          <p:cNvSpPr/>
          <p:nvPr/>
        </p:nvSpPr>
        <p:spPr>
          <a:xfrm>
            <a:off x="12070080" y="1324828"/>
            <a:ext cx="19202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规模不是质量结论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255550"/>
            <a:ext cx="426750" cy="6858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2354580"/>
            <a:ext cx="320040" cy="68580"/>
          </a:xfrm>
          <a:prstGeom prst="rect">
            <a:avLst/>
          </a:prstGeom>
          <a:solidFill>
            <a:srgbClr val="C0EA9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453610"/>
            <a:ext cx="228600" cy="68580"/>
          </a:xfrm>
          <a:prstGeom prst="roundRect">
            <a:avLst>
              <a:gd name="adj" fmla="val 33809"/>
            </a:avLst>
          </a:prstGeom>
          <a:solidFill>
            <a:srgbClr val="DBF3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95430" y="2297430"/>
            <a:ext cx="283186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spc="221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资产规模已核验，效果仍需实测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731520" y="2722397"/>
            <a:ext cx="735177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锁定清单可以复算资产规模；真实适配率、审美与返工量仍需运行实验。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31520" y="3192810"/>
            <a:ext cx="355271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spc="47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把资产数量当作覆盖面证据，而不是效果保证。</a:t>
            </a:r>
            <a:endParaRPr lang="en-US" sz="1260" dirty="0"/>
          </a:p>
        </p:txBody>
      </p:sp>
      <p:sp>
        <p:nvSpPr>
          <p:cNvPr id="16" name="Text 13"/>
          <p:cNvSpPr/>
          <p:nvPr/>
        </p:nvSpPr>
        <p:spPr>
          <a:xfrm>
            <a:off x="10867522" y="2128752"/>
            <a:ext cx="2858719" cy="1155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5707"/>
              </a:lnSpc>
              <a:buNone/>
            </a:pPr>
            <a:r>
              <a:rPr lang="en-US" sz="696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1,020</a:t>
            </a:r>
            <a:endParaRPr lang="en-US" sz="6960" dirty="0"/>
          </a:p>
        </p:txBody>
      </p:sp>
      <p:sp>
        <p:nvSpPr>
          <p:cNvPr id="17" name="Text 14"/>
          <p:cNvSpPr/>
          <p:nvPr/>
        </p:nvSpPr>
        <p:spPr>
          <a:xfrm>
            <a:off x="13594842" y="2653772"/>
            <a:ext cx="329184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476"/>
              </a:lnSpc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3167360" y="3086923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26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版式页面</a:t>
            </a:r>
            <a:endParaRPr lang="en-US" sz="1260" dirty="0"/>
          </a:p>
        </p:txBody>
      </p:sp>
      <p:sp>
        <p:nvSpPr>
          <p:cNvPr id="19" name="Shape 16"/>
          <p:cNvSpPr/>
          <p:nvPr/>
        </p:nvSpPr>
        <p:spPr>
          <a:xfrm>
            <a:off x="731520" y="3992910"/>
            <a:ext cx="13167360" cy="3504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" y="4320214"/>
            <a:ext cx="13167360" cy="23186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44850" y="4015770"/>
            <a:ext cx="77969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spc="171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资产基线</a:t>
            </a:r>
            <a:endParaRPr lang="en-US" sz="1140" dirty="0"/>
          </a:p>
        </p:txBody>
      </p:sp>
      <p:sp>
        <p:nvSpPr>
          <p:cNvPr id="22" name="Text 19"/>
          <p:cNvSpPr/>
          <p:nvPr/>
        </p:nvSpPr>
        <p:spPr>
          <a:xfrm>
            <a:off x="8136057" y="4015770"/>
            <a:ext cx="253563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140" b="1" spc="171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</a:t>
            </a:r>
            <a:endParaRPr lang="en-US" sz="1140" dirty="0"/>
          </a:p>
        </p:txBody>
      </p:sp>
      <p:sp>
        <p:nvSpPr>
          <p:cNvPr id="23" name="Text 20"/>
          <p:cNvSpPr/>
          <p:nvPr/>
        </p:nvSpPr>
        <p:spPr>
          <a:xfrm>
            <a:off x="8633490" y="4015770"/>
            <a:ext cx="2490273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spc="171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资产规模已核验，效果仍需实测</a:t>
            </a:r>
            <a:endParaRPr lang="en-US" sz="114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43400"/>
            <a:ext cx="13167360" cy="6877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36290" y="4565325"/>
            <a:ext cx="219456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373154" y="4555723"/>
            <a:ext cx="57909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</a:t>
            </a:r>
            <a:endParaRPr lang="en-US" sz="1920" dirty="0"/>
          </a:p>
        </p:txBody>
      </p:sp>
      <p:sp>
        <p:nvSpPr>
          <p:cNvPr id="27" name="Text 23"/>
          <p:cNvSpPr/>
          <p:nvPr/>
        </p:nvSpPr>
        <p:spPr>
          <a:xfrm>
            <a:off x="7363328" y="4529389"/>
            <a:ext cx="851002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套</a:t>
            </a:r>
            <a:endParaRPr lang="en-US" sz="2280" dirty="0"/>
          </a:p>
        </p:txBody>
      </p:sp>
      <p:sp>
        <p:nvSpPr>
          <p:cNvPr id="28" name="Text 24"/>
          <p:cNvSpPr/>
          <p:nvPr/>
        </p:nvSpPr>
        <p:spPr>
          <a:xfrm>
            <a:off x="8148218" y="4672035"/>
            <a:ext cx="24140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</a:t>
            </a:r>
            <a:endParaRPr lang="en-US" sz="1080" dirty="0"/>
          </a:p>
        </p:txBody>
      </p:sp>
      <p:sp>
        <p:nvSpPr>
          <p:cNvPr id="29" name="Text 25"/>
          <p:cNvSpPr/>
          <p:nvPr/>
        </p:nvSpPr>
        <p:spPr>
          <a:xfrm>
            <a:off x="8633490" y="4553895"/>
            <a:ext cx="114300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锁定清单复算</a:t>
            </a:r>
            <a:endParaRPr lang="en-US" sz="138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031120"/>
            <a:ext cx="13167360" cy="6877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082010" y="5253045"/>
            <a:ext cx="219456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418874" y="5243444"/>
            <a:ext cx="57909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</a:t>
            </a:r>
            <a:endParaRPr lang="en-US" sz="1920" dirty="0"/>
          </a:p>
        </p:txBody>
      </p:sp>
      <p:sp>
        <p:nvSpPr>
          <p:cNvPr id="33" name="Text 28"/>
          <p:cNvSpPr/>
          <p:nvPr/>
        </p:nvSpPr>
        <p:spPr>
          <a:xfrm>
            <a:off x="7038503" y="5217109"/>
            <a:ext cx="1221638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280" b="1" dirty="0">
                <a:solidFill>
                  <a:srgbClr val="5FA0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1020 个</a:t>
            </a:r>
            <a:endParaRPr lang="en-US" sz="2280" dirty="0"/>
          </a:p>
        </p:txBody>
      </p:sp>
      <p:sp>
        <p:nvSpPr>
          <p:cNvPr id="34" name="Text 29"/>
          <p:cNvSpPr/>
          <p:nvPr/>
        </p:nvSpPr>
        <p:spPr>
          <a:xfrm>
            <a:off x="8193938" y="5359756"/>
            <a:ext cx="24140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</a:t>
            </a:r>
            <a:endParaRPr lang="en-US" sz="1080" dirty="0"/>
          </a:p>
        </p:txBody>
      </p:sp>
      <p:sp>
        <p:nvSpPr>
          <p:cNvPr id="35" name="Text 30"/>
          <p:cNvSpPr/>
          <p:nvPr/>
        </p:nvSpPr>
        <p:spPr>
          <a:xfrm>
            <a:off x="8679210" y="5241615"/>
            <a:ext cx="123139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类页面角色</a:t>
            </a:r>
            <a:endParaRPr lang="en-US" sz="138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18840"/>
            <a:ext cx="13167360" cy="68772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036290" y="5940765"/>
            <a:ext cx="219456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373154" y="5931164"/>
            <a:ext cx="57909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控件</a:t>
            </a:r>
            <a:endParaRPr lang="en-US" sz="1920" dirty="0"/>
          </a:p>
        </p:txBody>
      </p:sp>
      <p:sp>
        <p:nvSpPr>
          <p:cNvPr id="39" name="Text 33"/>
          <p:cNvSpPr/>
          <p:nvPr/>
        </p:nvSpPr>
        <p:spPr>
          <a:xfrm>
            <a:off x="6992783" y="5904829"/>
            <a:ext cx="1221638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8576 个</a:t>
            </a:r>
            <a:endParaRPr lang="en-US" sz="2280" dirty="0"/>
          </a:p>
        </p:txBody>
      </p:sp>
      <p:sp>
        <p:nvSpPr>
          <p:cNvPr id="40" name="Text 34"/>
          <p:cNvSpPr/>
          <p:nvPr/>
        </p:nvSpPr>
        <p:spPr>
          <a:xfrm>
            <a:off x="8148218" y="6047384"/>
            <a:ext cx="24140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</a:t>
            </a:r>
            <a:endParaRPr lang="en-US" sz="1080" dirty="0"/>
          </a:p>
        </p:txBody>
      </p:sp>
      <p:sp>
        <p:nvSpPr>
          <p:cNvPr id="41" name="Text 35"/>
          <p:cNvSpPr/>
          <p:nvPr/>
        </p:nvSpPr>
        <p:spPr>
          <a:xfrm>
            <a:off x="8633490" y="5929335"/>
            <a:ext cx="166878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覆盖布局与表现参数</a:t>
            </a:r>
            <a:endParaRPr lang="en-US" sz="1380" dirty="0"/>
          </a:p>
        </p:txBody>
      </p:sp>
      <p:sp>
        <p:nvSpPr>
          <p:cNvPr id="42" name="Shape 36"/>
          <p:cNvSpPr/>
          <p:nvPr/>
        </p:nvSpPr>
        <p:spPr>
          <a:xfrm>
            <a:off x="944850" y="6628486"/>
            <a:ext cx="306324" cy="236190"/>
          </a:xfrm>
          <a:prstGeom prst="roundRect">
            <a:avLst>
              <a:gd name="adj" fmla="val 235601"/>
            </a:avLst>
          </a:prstGeom>
          <a:solidFill>
            <a:srgbClr val="0E110B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1036290" y="6628486"/>
            <a:ext cx="219456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1373154" y="6618884"/>
            <a:ext cx="57909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920" dirty="0"/>
          </a:p>
        </p:txBody>
      </p:sp>
      <p:sp>
        <p:nvSpPr>
          <p:cNvPr id="45" name="Text 39"/>
          <p:cNvSpPr/>
          <p:nvPr/>
        </p:nvSpPr>
        <p:spPr>
          <a:xfrm>
            <a:off x="7548646" y="6592550"/>
            <a:ext cx="665683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228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套</a:t>
            </a:r>
            <a:endParaRPr lang="en-US" sz="2280" dirty="0"/>
          </a:p>
        </p:txBody>
      </p:sp>
      <p:sp>
        <p:nvSpPr>
          <p:cNvPr id="46" name="Text 40"/>
          <p:cNvSpPr/>
          <p:nvPr/>
        </p:nvSpPr>
        <p:spPr>
          <a:xfrm>
            <a:off x="8148218" y="6735105"/>
            <a:ext cx="24140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</a:t>
            </a:r>
            <a:endParaRPr lang="en-US" sz="1080" dirty="0"/>
          </a:p>
        </p:txBody>
      </p:sp>
      <p:sp>
        <p:nvSpPr>
          <p:cNvPr id="47" name="Text 41"/>
          <p:cNvSpPr/>
          <p:nvPr/>
        </p:nvSpPr>
        <p:spPr>
          <a:xfrm>
            <a:off x="8633490" y="6617056"/>
            <a:ext cx="166878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模板候选加定制方案</a:t>
            </a:r>
            <a:endParaRPr lang="en-US" sz="1380" dirty="0"/>
          </a:p>
        </p:txBody>
      </p:sp>
      <p:sp>
        <p:nvSpPr>
          <p:cNvPr id="48" name="Shape 42"/>
          <p:cNvSpPr/>
          <p:nvPr/>
        </p:nvSpPr>
        <p:spPr>
          <a:xfrm>
            <a:off x="731520" y="750192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944850" y="7399050"/>
            <a:ext cx="29718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资产规模已核验，效果仍需实测</a:t>
            </a:r>
            <a:endParaRPr lang="en-US" sz="1620" dirty="0"/>
          </a:p>
        </p:txBody>
      </p:sp>
      <p:sp>
        <p:nvSpPr>
          <p:cNvPr id="50" name="Shape 44"/>
          <p:cNvSpPr/>
          <p:nvPr/>
        </p:nvSpPr>
        <p:spPr>
          <a:xfrm>
            <a:off x="11612880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11677162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11741628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11805910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11870284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11934566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11999031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12063313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12127687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12191970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12256435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12320717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12385091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12449373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12513838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12578121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12642494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12706868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12771242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12835524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12899989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12964272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6"/>
          <p:cNvSpPr/>
          <p:nvPr/>
        </p:nvSpPr>
        <p:spPr>
          <a:xfrm>
            <a:off x="13028646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13092928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8"/>
          <p:cNvSpPr/>
          <p:nvPr/>
        </p:nvSpPr>
        <p:spPr>
          <a:xfrm>
            <a:off x="13157393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9"/>
          <p:cNvSpPr/>
          <p:nvPr/>
        </p:nvSpPr>
        <p:spPr>
          <a:xfrm>
            <a:off x="13221675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0"/>
          <p:cNvSpPr/>
          <p:nvPr/>
        </p:nvSpPr>
        <p:spPr>
          <a:xfrm>
            <a:off x="13286049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1"/>
          <p:cNvSpPr/>
          <p:nvPr/>
        </p:nvSpPr>
        <p:spPr>
          <a:xfrm>
            <a:off x="13350331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2"/>
          <p:cNvSpPr/>
          <p:nvPr/>
        </p:nvSpPr>
        <p:spPr>
          <a:xfrm>
            <a:off x="13414797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3"/>
          <p:cNvSpPr/>
          <p:nvPr/>
        </p:nvSpPr>
        <p:spPr>
          <a:xfrm>
            <a:off x="13479079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4"/>
          <p:cNvSpPr/>
          <p:nvPr/>
        </p:nvSpPr>
        <p:spPr>
          <a:xfrm>
            <a:off x="13543453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5"/>
          <p:cNvSpPr/>
          <p:nvPr/>
        </p:nvSpPr>
        <p:spPr>
          <a:xfrm>
            <a:off x="13607735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6"/>
          <p:cNvSpPr/>
          <p:nvPr/>
        </p:nvSpPr>
        <p:spPr>
          <a:xfrm>
            <a:off x="13672200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77"/>
          <p:cNvSpPr/>
          <p:nvPr/>
        </p:nvSpPr>
        <p:spPr>
          <a:xfrm>
            <a:off x="13736483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78"/>
          <p:cNvSpPr/>
          <p:nvPr/>
        </p:nvSpPr>
        <p:spPr>
          <a:xfrm>
            <a:off x="13800765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79"/>
          <p:cNvSpPr/>
          <p:nvPr/>
        </p:nvSpPr>
        <p:spPr>
          <a:xfrm>
            <a:off x="13865047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0773" y="0"/>
            <a:ext cx="7022501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3288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6137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1106424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资产基线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77364"/>
            <a:ext cx="11064240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4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版式库规模可量化，但规模不是质量结论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11841480" y="1295659"/>
            <a:ext cx="21488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主题：锁定清单复算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339310"/>
            <a:ext cx="2814352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89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1020 个 · 版式｜20 类页面角色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6276167" y="2362170"/>
            <a:ext cx="1273588" cy="172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68" kern="0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版式：20 类页面角色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575590"/>
            <a:ext cx="4511010" cy="45110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81755" y="6110112"/>
            <a:ext cx="324307" cy="23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20" dirty="0"/>
          </a:p>
        </p:txBody>
      </p:sp>
      <p:sp>
        <p:nvSpPr>
          <p:cNvPr id="14" name="Text 10"/>
          <p:cNvSpPr/>
          <p:nvPr/>
        </p:nvSpPr>
        <p:spPr>
          <a:xfrm>
            <a:off x="3918936" y="6478067"/>
            <a:ext cx="431597" cy="2708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</a:t>
            </a:r>
            <a:endParaRPr lang="en-US" sz="1320" dirty="0"/>
          </a:p>
        </p:txBody>
      </p:sp>
      <p:sp>
        <p:nvSpPr>
          <p:cNvPr id="15" name="Text 11"/>
          <p:cNvSpPr/>
          <p:nvPr/>
        </p:nvSpPr>
        <p:spPr>
          <a:xfrm>
            <a:off x="2436693" y="4697730"/>
            <a:ext cx="662755" cy="294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1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1020</a:t>
            </a:r>
            <a:endParaRPr lang="en-US" sz="1701" dirty="0"/>
          </a:p>
        </p:txBody>
      </p:sp>
      <p:sp>
        <p:nvSpPr>
          <p:cNvPr id="16" name="Text 12"/>
          <p:cNvSpPr/>
          <p:nvPr/>
        </p:nvSpPr>
        <p:spPr>
          <a:xfrm>
            <a:off x="2535540" y="5173218"/>
            <a:ext cx="431597" cy="2708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</a:t>
            </a:r>
            <a:endParaRPr lang="en-US" sz="1320" dirty="0"/>
          </a:p>
        </p:txBody>
      </p:sp>
      <p:sp>
        <p:nvSpPr>
          <p:cNvPr id="17" name="Text 13"/>
          <p:cNvSpPr/>
          <p:nvPr/>
        </p:nvSpPr>
        <p:spPr>
          <a:xfrm>
            <a:off x="3691250" y="3244840"/>
            <a:ext cx="932152" cy="4331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53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8576</a:t>
            </a:r>
            <a:endParaRPr lang="en-US" sz="2530" dirty="0"/>
          </a:p>
        </p:txBody>
      </p:sp>
      <p:sp>
        <p:nvSpPr>
          <p:cNvPr id="18" name="Text 14"/>
          <p:cNvSpPr/>
          <p:nvPr/>
        </p:nvSpPr>
        <p:spPr>
          <a:xfrm>
            <a:off x="3918936" y="3957340"/>
            <a:ext cx="431597" cy="2708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控件</a:t>
            </a:r>
            <a:endParaRPr lang="en-US" sz="1320" dirty="0"/>
          </a:p>
        </p:txBody>
      </p:sp>
      <p:sp>
        <p:nvSpPr>
          <p:cNvPr id="19" name="Text 15"/>
          <p:cNvSpPr/>
          <p:nvPr/>
        </p:nvSpPr>
        <p:spPr>
          <a:xfrm>
            <a:off x="5416448" y="4726716"/>
            <a:ext cx="217018" cy="2360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20" dirty="0"/>
          </a:p>
        </p:txBody>
      </p:sp>
      <p:sp>
        <p:nvSpPr>
          <p:cNvPr id="20" name="Text 16"/>
          <p:cNvSpPr/>
          <p:nvPr/>
        </p:nvSpPr>
        <p:spPr>
          <a:xfrm>
            <a:off x="5302331" y="5090648"/>
            <a:ext cx="431597" cy="2708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320" dirty="0"/>
          </a:p>
        </p:txBody>
      </p:sp>
      <p:sp>
        <p:nvSpPr>
          <p:cNvPr id="21" name="Text 17"/>
          <p:cNvSpPr/>
          <p:nvPr/>
        </p:nvSpPr>
        <p:spPr>
          <a:xfrm>
            <a:off x="453177" y="4536421"/>
            <a:ext cx="7353788" cy="4679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7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把资产数量当作覆盖面证据，而不是效果保证。</a:t>
            </a:r>
            <a:endParaRPr lang="en-US" sz="2760" dirty="0"/>
          </a:p>
        </p:txBody>
      </p:sp>
      <p:sp>
        <p:nvSpPr>
          <p:cNvPr id="22" name="Text 18"/>
          <p:cNvSpPr/>
          <p:nvPr/>
        </p:nvSpPr>
        <p:spPr>
          <a:xfrm>
            <a:off x="3668664" y="4969855"/>
            <a:ext cx="972007" cy="1781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60" b="1" spc="144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锁定清单复算</a:t>
            </a:r>
            <a:endParaRPr lang="en-US" sz="960" dirty="0"/>
          </a:p>
        </p:txBody>
      </p:sp>
      <p:sp>
        <p:nvSpPr>
          <p:cNvPr id="23" name="Shape 19"/>
          <p:cNvSpPr/>
          <p:nvPr/>
        </p:nvSpPr>
        <p:spPr>
          <a:xfrm>
            <a:off x="8016270" y="2411730"/>
            <a:ext cx="396210" cy="3813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534370" y="2339310"/>
            <a:ext cx="2866873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spc="252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套 · 主题｜锁定清单复算</a:t>
            </a:r>
            <a:endParaRPr lang="en-US" sz="1260" dirty="0"/>
          </a:p>
        </p:txBody>
      </p:sp>
      <p:sp>
        <p:nvSpPr>
          <p:cNvPr id="25" name="Text 21"/>
          <p:cNvSpPr/>
          <p:nvPr/>
        </p:nvSpPr>
        <p:spPr>
          <a:xfrm>
            <a:off x="8016270" y="2682210"/>
            <a:ext cx="57972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锁定清单可以复算资产规模；真实适配率、审美与返工量仍需运</a:t>
            </a:r>
            <a:endParaRPr lang="en-US" sz="1620" dirty="0"/>
          </a:p>
        </p:txBody>
      </p:sp>
      <p:sp>
        <p:nvSpPr>
          <p:cNvPr id="26" name="Text 22"/>
          <p:cNvSpPr/>
          <p:nvPr/>
        </p:nvSpPr>
        <p:spPr>
          <a:xfrm>
            <a:off x="8016270" y="2990820"/>
            <a:ext cx="9144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行实验。</a:t>
            </a:r>
            <a:endParaRPr lang="en-US" sz="1620" dirty="0"/>
          </a:p>
        </p:txBody>
      </p:sp>
      <p:sp>
        <p:nvSpPr>
          <p:cNvPr id="27" name="Text 23"/>
          <p:cNvSpPr/>
          <p:nvPr/>
        </p:nvSpPr>
        <p:spPr>
          <a:xfrm>
            <a:off x="8016270" y="3413730"/>
            <a:ext cx="150427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45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主题：锁定清单复算</a:t>
            </a:r>
            <a:endParaRPr lang="en-US" sz="12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270" y="3794760"/>
            <a:ext cx="5882610" cy="329184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944850" y="7444770"/>
            <a:ext cx="129735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套 · 主题</a:t>
            </a:r>
            <a:endParaRPr lang="en-US" sz="1620" dirty="0"/>
          </a:p>
        </p:txBody>
      </p:sp>
      <p:sp>
        <p:nvSpPr>
          <p:cNvPr id="31" name="Shape 26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0"/>
            <a:ext cx="73152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87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2504927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10309037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资产基线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923406"/>
            <a:ext cx="9692640" cy="949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版式库规模可量化，但规模不是质</a:t>
            </a:r>
            <a:endParaRPr lang="en-US" sz="5040" dirty="0"/>
          </a:p>
        </p:txBody>
      </p:sp>
      <p:sp>
        <p:nvSpPr>
          <p:cNvPr id="9" name="Text 6"/>
          <p:cNvSpPr/>
          <p:nvPr/>
        </p:nvSpPr>
        <p:spPr>
          <a:xfrm>
            <a:off x="731520" y="1537700"/>
            <a:ext cx="2011680" cy="949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量结论</a:t>
            </a:r>
            <a:endParaRPr lang="en-US" sz="5040" dirty="0"/>
          </a:p>
        </p:txBody>
      </p:sp>
      <p:sp>
        <p:nvSpPr>
          <p:cNvPr id="10" name="Text 7"/>
          <p:cNvSpPr/>
          <p:nvPr/>
        </p:nvSpPr>
        <p:spPr>
          <a:xfrm>
            <a:off x="10949117" y="1939122"/>
            <a:ext cx="284835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套 · 主题｜锁定清单复算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754130" y="1937339"/>
            <a:ext cx="25603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" y="2318507"/>
            <a:ext cx="363474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6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锁定清单可以复算资产规模；真实</a:t>
            </a:r>
            <a:endParaRPr lang="en-US" sz="1860" dirty="0"/>
          </a:p>
        </p:txBody>
      </p:sp>
      <p:sp>
        <p:nvSpPr>
          <p:cNvPr id="13" name="Text 10"/>
          <p:cNvSpPr/>
          <p:nvPr/>
        </p:nvSpPr>
        <p:spPr>
          <a:xfrm>
            <a:off x="731520" y="2672837"/>
            <a:ext cx="363474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6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适配率、审美与返工量仍需运行实</a:t>
            </a:r>
            <a:endParaRPr lang="en-US" sz="1860" dirty="0"/>
          </a:p>
        </p:txBody>
      </p:sp>
      <p:sp>
        <p:nvSpPr>
          <p:cNvPr id="14" name="Text 11"/>
          <p:cNvSpPr/>
          <p:nvPr/>
        </p:nvSpPr>
        <p:spPr>
          <a:xfrm>
            <a:off x="731520" y="3027167"/>
            <a:ext cx="56391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6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验。</a:t>
            </a:r>
            <a:endParaRPr lang="en-US" sz="1860" dirty="0"/>
          </a:p>
        </p:txBody>
      </p:sp>
      <p:sp>
        <p:nvSpPr>
          <p:cNvPr id="15" name="Text 12"/>
          <p:cNvSpPr/>
          <p:nvPr/>
        </p:nvSpPr>
        <p:spPr>
          <a:xfrm>
            <a:off x="699425" y="3608954"/>
            <a:ext cx="8505657" cy="119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4"/>
              </a:lnSpc>
              <a:buNone/>
            </a:pPr>
            <a:r>
              <a:rPr lang="en-US" sz="72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主题：锁定清单复算</a:t>
            </a:r>
            <a:endParaRPr lang="en-US" sz="7200" dirty="0"/>
          </a:p>
        </p:txBody>
      </p:sp>
      <p:sp>
        <p:nvSpPr>
          <p:cNvPr id="16" name="Text 13"/>
          <p:cNvSpPr/>
          <p:nvPr/>
        </p:nvSpPr>
        <p:spPr>
          <a:xfrm>
            <a:off x="731520" y="4632168"/>
            <a:ext cx="3291840" cy="2593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27"/>
              </a:lnSpc>
              <a:buNone/>
            </a:pPr>
            <a:r>
              <a:rPr lang="en-US" sz="126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主题：锁定清单复算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731520" y="539368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4850" y="5290810"/>
            <a:ext cx="129735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套 · 主题</a:t>
            </a:r>
            <a:endParaRPr lang="en-US" sz="1620" dirty="0"/>
          </a:p>
        </p:txBody>
      </p:sp>
      <p:sp>
        <p:nvSpPr>
          <p:cNvPr id="19" name="Text 16"/>
          <p:cNvSpPr/>
          <p:nvPr/>
        </p:nvSpPr>
        <p:spPr>
          <a:xfrm>
            <a:off x="12960706" y="2308860"/>
            <a:ext cx="1109796" cy="202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b="1" spc="189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锁定清单复算</a:t>
            </a:r>
            <a:endParaRPr lang="en-US" sz="108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30" y="2590770"/>
            <a:ext cx="8762970" cy="1125809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12755" y="2951775"/>
            <a:ext cx="342077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5974050" y="2888818"/>
            <a:ext cx="5486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5974050" y="3191805"/>
            <a:ext cx="580187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主题</a:t>
            </a:r>
            <a:endParaRPr lang="en-US" sz="1080" dirty="0"/>
          </a:p>
        </p:txBody>
      </p:sp>
      <p:sp>
        <p:nvSpPr>
          <p:cNvPr id="24" name="Text 20"/>
          <p:cNvSpPr/>
          <p:nvPr/>
        </p:nvSpPr>
        <p:spPr>
          <a:xfrm>
            <a:off x="13225577" y="2997495"/>
            <a:ext cx="421843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9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920" dirty="0"/>
          </a:p>
        </p:txBody>
      </p:sp>
      <p:sp>
        <p:nvSpPr>
          <p:cNvPr id="25" name="Text 21"/>
          <p:cNvSpPr/>
          <p:nvPr/>
        </p:nvSpPr>
        <p:spPr>
          <a:xfrm>
            <a:off x="13580669" y="3111795"/>
            <a:ext cx="226771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</a:t>
            </a:r>
            <a:endParaRPr lang="en-US" sz="96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910" y="3716670"/>
            <a:ext cx="8762970" cy="112590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267035" y="4077675"/>
            <a:ext cx="342077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8" name="Text 23"/>
          <p:cNvSpPr/>
          <p:nvPr/>
        </p:nvSpPr>
        <p:spPr>
          <a:xfrm>
            <a:off x="5928330" y="4014627"/>
            <a:ext cx="5486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5928330" y="4317705"/>
            <a:ext cx="580187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版式</a:t>
            </a:r>
            <a:endParaRPr lang="en-US" sz="1080" dirty="0"/>
          </a:p>
        </p:txBody>
      </p:sp>
      <p:sp>
        <p:nvSpPr>
          <p:cNvPr id="30" name="Text 25"/>
          <p:cNvSpPr/>
          <p:nvPr/>
        </p:nvSpPr>
        <p:spPr>
          <a:xfrm>
            <a:off x="12867742" y="4123395"/>
            <a:ext cx="733958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9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1020</a:t>
            </a:r>
            <a:endParaRPr lang="en-US" sz="1920" dirty="0"/>
          </a:p>
        </p:txBody>
      </p:sp>
      <p:sp>
        <p:nvSpPr>
          <p:cNvPr id="31" name="Text 26"/>
          <p:cNvSpPr/>
          <p:nvPr/>
        </p:nvSpPr>
        <p:spPr>
          <a:xfrm>
            <a:off x="13534949" y="4237695"/>
            <a:ext cx="226771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</a:t>
            </a:r>
            <a:endParaRPr lang="en-US" sz="96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910" y="4842480"/>
            <a:ext cx="8762970" cy="1125809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67035" y="5203485"/>
            <a:ext cx="342077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34" name="Text 28"/>
          <p:cNvSpPr/>
          <p:nvPr/>
        </p:nvSpPr>
        <p:spPr>
          <a:xfrm>
            <a:off x="5928330" y="5140528"/>
            <a:ext cx="5486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控件</a:t>
            </a:r>
            <a:endParaRPr lang="en-US" sz="1800" dirty="0"/>
          </a:p>
        </p:txBody>
      </p:sp>
      <p:sp>
        <p:nvSpPr>
          <p:cNvPr id="35" name="Text 29"/>
          <p:cNvSpPr/>
          <p:nvPr/>
        </p:nvSpPr>
        <p:spPr>
          <a:xfrm>
            <a:off x="5928330" y="5443515"/>
            <a:ext cx="580187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控件</a:t>
            </a:r>
            <a:endParaRPr lang="en-US" sz="1080" dirty="0"/>
          </a:p>
        </p:txBody>
      </p:sp>
      <p:sp>
        <p:nvSpPr>
          <p:cNvPr id="36" name="Text 30"/>
          <p:cNvSpPr/>
          <p:nvPr/>
        </p:nvSpPr>
        <p:spPr>
          <a:xfrm>
            <a:off x="12867742" y="5249205"/>
            <a:ext cx="733958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9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8576</a:t>
            </a:r>
            <a:endParaRPr lang="en-US" sz="1920" dirty="0"/>
          </a:p>
        </p:txBody>
      </p:sp>
      <p:sp>
        <p:nvSpPr>
          <p:cNvPr id="37" name="Text 31"/>
          <p:cNvSpPr/>
          <p:nvPr/>
        </p:nvSpPr>
        <p:spPr>
          <a:xfrm>
            <a:off x="13534949" y="5363505"/>
            <a:ext cx="226771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</a:t>
            </a:r>
            <a:endParaRPr lang="en-US" sz="960" dirty="0"/>
          </a:p>
        </p:txBody>
      </p:sp>
      <p:sp>
        <p:nvSpPr>
          <p:cNvPr id="38" name="Text 32"/>
          <p:cNvSpPr/>
          <p:nvPr/>
        </p:nvSpPr>
        <p:spPr>
          <a:xfrm>
            <a:off x="5267035" y="6329385"/>
            <a:ext cx="342077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39" name="Text 33"/>
          <p:cNvSpPr/>
          <p:nvPr/>
        </p:nvSpPr>
        <p:spPr>
          <a:xfrm>
            <a:off x="5928330" y="6266337"/>
            <a:ext cx="5486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800" dirty="0"/>
          </a:p>
        </p:txBody>
      </p:sp>
      <p:sp>
        <p:nvSpPr>
          <p:cNvPr id="40" name="Text 34"/>
          <p:cNvSpPr/>
          <p:nvPr/>
        </p:nvSpPr>
        <p:spPr>
          <a:xfrm>
            <a:off x="5928330" y="6569415"/>
            <a:ext cx="580187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方案</a:t>
            </a:r>
            <a:endParaRPr lang="en-US" sz="1080" dirty="0"/>
          </a:p>
        </p:txBody>
      </p:sp>
      <p:sp>
        <p:nvSpPr>
          <p:cNvPr id="41" name="Shape 35"/>
          <p:cNvSpPr/>
          <p:nvPr/>
        </p:nvSpPr>
        <p:spPr>
          <a:xfrm>
            <a:off x="8869680" y="6443685"/>
            <a:ext cx="4038630" cy="167610"/>
          </a:xfrm>
          <a:prstGeom prst="roundRect">
            <a:avLst>
              <a:gd name="adj" fmla="val 332000"/>
            </a:avLst>
          </a:prstGeom>
          <a:solidFill>
            <a:srgbClr val="0E11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13335914" y="6375105"/>
            <a:ext cx="265786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92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20" dirty="0"/>
          </a:p>
        </p:txBody>
      </p:sp>
      <p:sp>
        <p:nvSpPr>
          <p:cNvPr id="43" name="Text 37"/>
          <p:cNvSpPr/>
          <p:nvPr/>
        </p:nvSpPr>
        <p:spPr>
          <a:xfrm>
            <a:off x="13534949" y="6489405"/>
            <a:ext cx="226771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</a:t>
            </a:r>
            <a:endParaRPr lang="en-US" sz="960" dirty="0"/>
          </a:p>
        </p:txBody>
      </p:sp>
      <p:sp>
        <p:nvSpPr>
          <p:cNvPr id="44" name="Shape 38"/>
          <p:cNvSpPr/>
          <p:nvPr/>
        </p:nvSpPr>
        <p:spPr>
          <a:xfrm>
            <a:off x="11612880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11677162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11741628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11805910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11870284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11934566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11999031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12063313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12127687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12191970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12256435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12320717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12385091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12449373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12513838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12578121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12642494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12706868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12771242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12835524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12899989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12964272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13028646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13092928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13157393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13221675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13286049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13350331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6"/>
          <p:cNvSpPr/>
          <p:nvPr/>
        </p:nvSpPr>
        <p:spPr>
          <a:xfrm>
            <a:off x="13414797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13479079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8"/>
          <p:cNvSpPr/>
          <p:nvPr/>
        </p:nvSpPr>
        <p:spPr>
          <a:xfrm>
            <a:off x="13543453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9"/>
          <p:cNvSpPr/>
          <p:nvPr/>
        </p:nvSpPr>
        <p:spPr>
          <a:xfrm>
            <a:off x="13607735" y="751335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0"/>
          <p:cNvSpPr/>
          <p:nvPr/>
        </p:nvSpPr>
        <p:spPr>
          <a:xfrm>
            <a:off x="13672200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1"/>
          <p:cNvSpPr/>
          <p:nvPr/>
        </p:nvSpPr>
        <p:spPr>
          <a:xfrm>
            <a:off x="13736483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2"/>
          <p:cNvSpPr/>
          <p:nvPr/>
        </p:nvSpPr>
        <p:spPr>
          <a:xfrm>
            <a:off x="13800765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3"/>
          <p:cNvSpPr/>
          <p:nvPr/>
        </p:nvSpPr>
        <p:spPr>
          <a:xfrm>
            <a:off x="13865047" y="751335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4300" y="0"/>
            <a:ext cx="3086100" cy="30861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30100" y="0"/>
            <a:ext cx="2400300" cy="2400300"/>
          </a:xfrm>
          <a:prstGeom prst="ellipse">
            <a:avLst/>
          </a:prstGeom>
          <a:solidFill>
            <a:srgbClr val="FFFFFF">
              <a:alpha val="0"/>
            </a:srgbClr>
          </a:solidFill>
          <a:ln w="171450">
            <a:solidFill>
              <a:srgbClr val="86D62B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8190" y="472470"/>
            <a:ext cx="38130" cy="728475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731520"/>
            <a:ext cx="807781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b="1" spc="247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资产基线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3660496" y="731520"/>
            <a:ext cx="274960" cy="21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611447"/>
            <a:ext cx="9566453" cy="652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版式库规模可量化，但规模不是质量结论</a:t>
            </a:r>
            <a:endParaRPr lang="en-US" sz="432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26030"/>
            <a:ext cx="8035290" cy="31775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3321145"/>
            <a:ext cx="377952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96"/>
              </a:lnSpc>
              <a:buNone/>
            </a:pPr>
            <a:r>
              <a:rPr lang="en-US" sz="384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840" dirty="0"/>
          </a:p>
        </p:txBody>
      </p:sp>
      <p:sp>
        <p:nvSpPr>
          <p:cNvPr id="12" name="Text 9"/>
          <p:cNvSpPr/>
          <p:nvPr/>
        </p:nvSpPr>
        <p:spPr>
          <a:xfrm>
            <a:off x="731520" y="3962873"/>
            <a:ext cx="2538832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20" b="1" spc="-5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套 · 视觉主题</a:t>
            </a:r>
            <a:endParaRPr lang="en-US" sz="2520" dirty="0"/>
          </a:p>
        </p:txBody>
      </p:sp>
      <p:sp>
        <p:nvSpPr>
          <p:cNvPr id="13" name="Text 10"/>
          <p:cNvSpPr/>
          <p:nvPr/>
        </p:nvSpPr>
        <p:spPr>
          <a:xfrm>
            <a:off x="731520" y="4570720"/>
            <a:ext cx="107089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5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锁定清单复算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110" y="2526030"/>
            <a:ext cx="8035290" cy="31775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06640" y="3321145"/>
            <a:ext cx="377952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96"/>
              </a:lnSpc>
              <a:buNone/>
            </a:pPr>
            <a:r>
              <a:rPr lang="en-US" sz="38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840" dirty="0"/>
          </a:p>
        </p:txBody>
      </p:sp>
      <p:sp>
        <p:nvSpPr>
          <p:cNvPr id="16" name="Text 12"/>
          <p:cNvSpPr/>
          <p:nvPr/>
        </p:nvSpPr>
        <p:spPr>
          <a:xfrm>
            <a:off x="7406640" y="3962873"/>
            <a:ext cx="2714854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20" b="1" spc="-5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1,020 · 版式页面</a:t>
            </a:r>
            <a:endParaRPr lang="en-US" sz="2520" dirty="0"/>
          </a:p>
        </p:txBody>
      </p:sp>
      <p:sp>
        <p:nvSpPr>
          <p:cNvPr id="17" name="Text 13"/>
          <p:cNvSpPr/>
          <p:nvPr/>
        </p:nvSpPr>
        <p:spPr>
          <a:xfrm>
            <a:off x="7406640" y="4570720"/>
            <a:ext cx="120176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5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类页面角色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32070"/>
            <a:ext cx="8035290" cy="30975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" y="5927185"/>
            <a:ext cx="377952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96"/>
              </a:lnSpc>
              <a:buNone/>
            </a:pPr>
            <a:r>
              <a:rPr lang="en-US" sz="38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840" dirty="0"/>
          </a:p>
        </p:txBody>
      </p:sp>
      <p:sp>
        <p:nvSpPr>
          <p:cNvPr id="20" name="Text 15"/>
          <p:cNvSpPr/>
          <p:nvPr/>
        </p:nvSpPr>
        <p:spPr>
          <a:xfrm>
            <a:off x="731520" y="6568913"/>
            <a:ext cx="2714854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20" b="1" spc="-5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8,576 · 可调控件</a:t>
            </a:r>
            <a:endParaRPr lang="en-US" sz="2520" dirty="0"/>
          </a:p>
        </p:txBody>
      </p:sp>
      <p:sp>
        <p:nvSpPr>
          <p:cNvPr id="21" name="Text 16"/>
          <p:cNvSpPr/>
          <p:nvPr/>
        </p:nvSpPr>
        <p:spPr>
          <a:xfrm>
            <a:off x="731520" y="7176760"/>
            <a:ext cx="155981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5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覆盖布局与表现参数</a:t>
            </a:r>
            <a:endParaRPr lang="en-US" sz="1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110" y="5132070"/>
            <a:ext cx="8035290" cy="30975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5927185"/>
            <a:ext cx="377952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96"/>
              </a:lnSpc>
              <a:buNone/>
            </a:pPr>
            <a:r>
              <a:rPr lang="en-US" sz="38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840" dirty="0"/>
          </a:p>
        </p:txBody>
      </p:sp>
      <p:sp>
        <p:nvSpPr>
          <p:cNvPr id="24" name="Text 18"/>
          <p:cNvSpPr/>
          <p:nvPr/>
        </p:nvSpPr>
        <p:spPr>
          <a:xfrm>
            <a:off x="7406640" y="6568913"/>
            <a:ext cx="2305202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20" b="1" spc="-5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3+1 · 每页方案</a:t>
            </a:r>
            <a:endParaRPr lang="en-US" sz="2520" dirty="0"/>
          </a:p>
        </p:txBody>
      </p:sp>
      <p:sp>
        <p:nvSpPr>
          <p:cNvPr id="25" name="Text 19"/>
          <p:cNvSpPr/>
          <p:nvPr/>
        </p:nvSpPr>
        <p:spPr>
          <a:xfrm>
            <a:off x="7406640" y="7176760"/>
            <a:ext cx="155981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5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模板候选加定制方案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467" y="0"/>
            <a:ext cx="7022501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8181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2446588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8991935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格式边界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930311"/>
            <a:ext cx="8605144" cy="911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4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是主产物，PPTX 是分层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731520" y="1515527"/>
            <a:ext cx="1310610" cy="911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4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9632015" y="1880784"/>
            <a:ext cx="4358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HTML：可编辑、可切换方案、可自动保存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31520" y="2381280"/>
            <a:ext cx="396210" cy="3813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9710" y="2308860"/>
            <a:ext cx="3975811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spc="252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HTML｜可编辑、可切换方案、可自动保存</a:t>
            </a:r>
            <a:endParaRPr lang="en-US" sz="1260" dirty="0"/>
          </a:p>
        </p:txBody>
      </p:sp>
      <p:sp>
        <p:nvSpPr>
          <p:cNvPr id="13" name="Text 10"/>
          <p:cNvSpPr/>
          <p:nvPr/>
        </p:nvSpPr>
        <p:spPr>
          <a:xfrm>
            <a:off x="731520" y="2653680"/>
            <a:ext cx="67421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三种交付格式服务不同任务，不能用同一把尺子评价。</a:t>
            </a:r>
            <a:endParaRPr lang="en-US" sz="1680" dirty="0"/>
          </a:p>
        </p:txBody>
      </p:sp>
      <p:sp>
        <p:nvSpPr>
          <p:cNvPr id="14" name="Text 11"/>
          <p:cNvSpPr/>
          <p:nvPr/>
        </p:nvSpPr>
        <p:spPr>
          <a:xfrm>
            <a:off x="731520" y="3070830"/>
            <a:ext cx="3027487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45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HTML：可编辑、可切换方案、可自动保存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3497580"/>
            <a:ext cx="679701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spc="179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便于分发与归档，但不承担结构化编辑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777240" y="3749040"/>
            <a:ext cx="6705570" cy="876270"/>
          </a:xfrm>
          <a:prstGeom prst="roundRect">
            <a:avLst>
              <a:gd name="adj" fmla="val 18522"/>
            </a:avLst>
          </a:prstGeom>
          <a:solidFill>
            <a:srgbClr val="EFFAE3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4613716"/>
            <a:ext cx="670557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2056" y="3959261"/>
            <a:ext cx="558394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2760" b="1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760" dirty="0"/>
          </a:p>
        </p:txBody>
      </p:sp>
      <p:sp>
        <p:nvSpPr>
          <p:cNvPr id="19" name="Text 16"/>
          <p:cNvSpPr/>
          <p:nvPr/>
        </p:nvSpPr>
        <p:spPr>
          <a:xfrm>
            <a:off x="1539210" y="3870930"/>
            <a:ext cx="734538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39210" y="4267230"/>
            <a:ext cx="309030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HTML：可编辑、可切换方案、可自动保存</a:t>
            </a:r>
            <a:endParaRPr lang="en-US" sz="1260" dirty="0"/>
          </a:p>
        </p:txBody>
      </p:sp>
      <p:sp>
        <p:nvSpPr>
          <p:cNvPr id="21" name="Shape 18"/>
          <p:cNvSpPr/>
          <p:nvPr/>
        </p:nvSpPr>
        <p:spPr>
          <a:xfrm>
            <a:off x="731520" y="4625310"/>
            <a:ext cx="6705570" cy="876270"/>
          </a:xfrm>
          <a:prstGeom prst="roundRect">
            <a:avLst>
              <a:gd name="adj" fmla="val 18522"/>
            </a:avLst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5489986"/>
            <a:ext cx="670557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6336" y="4835622"/>
            <a:ext cx="596829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2760" b="1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760" dirty="0"/>
          </a:p>
        </p:txBody>
      </p:sp>
      <p:sp>
        <p:nvSpPr>
          <p:cNvPr id="24" name="Text 21"/>
          <p:cNvSpPr/>
          <p:nvPr/>
        </p:nvSpPr>
        <p:spPr>
          <a:xfrm>
            <a:off x="1493490" y="4747290"/>
            <a:ext cx="5486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93490" y="5143500"/>
            <a:ext cx="3278033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PDF：便于分发与归档，但不承担结构化编辑</a:t>
            </a:r>
            <a:endParaRPr lang="en-US" sz="1260" dirty="0"/>
          </a:p>
        </p:txBody>
      </p:sp>
      <p:sp>
        <p:nvSpPr>
          <p:cNvPr id="26" name="Text 23"/>
          <p:cNvSpPr/>
          <p:nvPr/>
        </p:nvSpPr>
        <p:spPr>
          <a:xfrm>
            <a:off x="856336" y="5711891"/>
            <a:ext cx="601767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2760" b="1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760" dirty="0"/>
          </a:p>
        </p:txBody>
      </p:sp>
      <p:sp>
        <p:nvSpPr>
          <p:cNvPr id="27" name="Text 24"/>
          <p:cNvSpPr/>
          <p:nvPr/>
        </p:nvSpPr>
        <p:spPr>
          <a:xfrm>
            <a:off x="1493490" y="5623560"/>
            <a:ext cx="694944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493490" y="6019770"/>
            <a:ext cx="3788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PPTX：逐节点映射；复杂背景和效果可能回退为截图</a:t>
            </a:r>
            <a:endParaRPr lang="en-US" sz="1260" dirty="0"/>
          </a:p>
        </p:txBody>
      </p:sp>
      <p:sp>
        <p:nvSpPr>
          <p:cNvPr id="29" name="Shape 26"/>
          <p:cNvSpPr/>
          <p:nvPr/>
        </p:nvSpPr>
        <p:spPr>
          <a:xfrm>
            <a:off x="7741950" y="2286000"/>
            <a:ext cx="6156930" cy="4800600"/>
          </a:xfrm>
          <a:prstGeom prst="roundRect">
            <a:avLst>
              <a:gd name="adj" fmla="val 5796"/>
            </a:avLst>
          </a:prstGeom>
          <a:solidFill>
            <a:srgbClr val="E9FBC6"/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9540" y="2293590"/>
            <a:ext cx="6141750" cy="4785330"/>
          </a:xfrm>
          <a:prstGeom prst="rect">
            <a:avLst/>
          </a:prstGeom>
        </p:spPr>
      </p:pic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0" y="2293590"/>
            <a:ext cx="6141750" cy="478533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44850" y="7444770"/>
            <a:ext cx="670164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</a:t>
            </a:r>
            <a:endParaRPr lang="en-US" sz="1620" dirty="0"/>
          </a:p>
        </p:txBody>
      </p:sp>
      <p:sp>
        <p:nvSpPr>
          <p:cNvPr id="34" name="Shape 29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40080"/>
            <a:ext cx="13167360" cy="187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504927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"/>
            <a:ext cx="7263536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格式边界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31520" y="923406"/>
            <a:ext cx="7110649" cy="949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主产物，PPTX 分</a:t>
            </a:r>
            <a:endParaRPr lang="en-US" sz="5040" dirty="0"/>
          </a:p>
        </p:txBody>
      </p:sp>
      <p:sp>
        <p:nvSpPr>
          <p:cNvPr id="8" name="Text 6"/>
          <p:cNvSpPr/>
          <p:nvPr/>
        </p:nvSpPr>
        <p:spPr>
          <a:xfrm>
            <a:off x="731520" y="1537700"/>
            <a:ext cx="2011680" cy="949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层映射</a:t>
            </a:r>
            <a:endParaRPr lang="en-US" sz="5040" dirty="0"/>
          </a:p>
        </p:txBody>
      </p:sp>
      <p:sp>
        <p:nvSpPr>
          <p:cNvPr id="9" name="Text 7"/>
          <p:cNvSpPr/>
          <p:nvPr/>
        </p:nvSpPr>
        <p:spPr>
          <a:xfrm>
            <a:off x="7903616" y="1603903"/>
            <a:ext cx="596399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浏览器保留最多交互；PPTX 优先保留原生文字，复杂区域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03616" y="1939122"/>
            <a:ext cx="16916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可能截图回退。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074865"/>
            <a:ext cx="902814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三种交付格式服务不同任务，不能用同一把尺子评价。</a:t>
            </a:r>
            <a:endParaRPr lang="en-US" sz="192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76570"/>
            <a:ext cx="4277289" cy="1783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7710" y="3512850"/>
            <a:ext cx="25603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67710" y="4122390"/>
            <a:ext cx="389635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</a:t>
            </a:r>
            <a:endParaRPr lang="en-US" sz="2160" dirty="0"/>
          </a:p>
        </p:txBody>
      </p:sp>
      <p:sp>
        <p:nvSpPr>
          <p:cNvPr id="15" name="Text 12"/>
          <p:cNvSpPr/>
          <p:nvPr/>
        </p:nvSpPr>
        <p:spPr>
          <a:xfrm>
            <a:off x="967710" y="4594860"/>
            <a:ext cx="389635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HTML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510" y="3276570"/>
            <a:ext cx="4277289" cy="1783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12699" y="3512850"/>
            <a:ext cx="27432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412699" y="4122390"/>
            <a:ext cx="389635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</a:t>
            </a:r>
            <a:endParaRPr lang="en-US" sz="2160" dirty="0"/>
          </a:p>
        </p:txBody>
      </p:sp>
      <p:sp>
        <p:nvSpPr>
          <p:cNvPr id="19" name="Text 15"/>
          <p:cNvSpPr/>
          <p:nvPr/>
        </p:nvSpPr>
        <p:spPr>
          <a:xfrm>
            <a:off x="5412699" y="4594860"/>
            <a:ext cx="389635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PDF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408" y="3230850"/>
            <a:ext cx="4277289" cy="1783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156479" y="4125773"/>
            <a:ext cx="1018093" cy="1490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b="1" dirty="0">
                <a:solidFill>
                  <a:srgbClr val="86D62B">
                    <a:alpha val="1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0" dirty="0"/>
          </a:p>
        </p:txBody>
      </p:sp>
      <p:sp>
        <p:nvSpPr>
          <p:cNvPr id="22" name="Text 17"/>
          <p:cNvSpPr/>
          <p:nvPr/>
        </p:nvSpPr>
        <p:spPr>
          <a:xfrm>
            <a:off x="13297936" y="3467130"/>
            <a:ext cx="37581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60" b="1" spc="144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</a:t>
            </a:r>
            <a:endParaRPr lang="en-US" sz="960" dirty="0"/>
          </a:p>
        </p:txBody>
      </p:sp>
      <p:sp>
        <p:nvSpPr>
          <p:cNvPr id="23" name="Text 18"/>
          <p:cNvSpPr/>
          <p:nvPr/>
        </p:nvSpPr>
        <p:spPr>
          <a:xfrm>
            <a:off x="9857689" y="3467130"/>
            <a:ext cx="27761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9857689" y="4076670"/>
            <a:ext cx="389635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</a:t>
            </a:r>
            <a:endParaRPr lang="en-US" sz="2160" dirty="0"/>
          </a:p>
        </p:txBody>
      </p:sp>
      <p:sp>
        <p:nvSpPr>
          <p:cNvPr id="25" name="Text 20"/>
          <p:cNvSpPr/>
          <p:nvPr/>
        </p:nvSpPr>
        <p:spPr>
          <a:xfrm>
            <a:off x="9857689" y="4549140"/>
            <a:ext cx="389635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PPTX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731520" y="750192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44850" y="7399050"/>
            <a:ext cx="21488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三种格式服务不同任务</a:t>
            </a:r>
            <a:endParaRPr lang="en-US" sz="1620" dirty="0"/>
          </a:p>
        </p:txBody>
      </p:sp>
      <p:sp>
        <p:nvSpPr>
          <p:cNvPr id="28" name="Shape 23"/>
          <p:cNvSpPr/>
          <p:nvPr/>
        </p:nvSpPr>
        <p:spPr>
          <a:xfrm>
            <a:off x="11765310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819352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187348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11927525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11981749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2035790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2089922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2144055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2198187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2252228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2306452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2360493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1241462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12468667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2522891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2576932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263106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12685197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12739329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12793370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1284759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2901635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2955768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13009809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13064033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13118074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1317220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13226339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13280471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13334512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338873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13442777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13496910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13550951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13604992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1365912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13713165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1376720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13821247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13875288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16" y="0"/>
            <a:ext cx="6729984" cy="39502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87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2504927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7697236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格式边界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923406"/>
            <a:ext cx="6964070" cy="949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是主产物，PPTX</a:t>
            </a:r>
            <a:endParaRPr lang="en-US" sz="5040" dirty="0"/>
          </a:p>
        </p:txBody>
      </p:sp>
      <p:sp>
        <p:nvSpPr>
          <p:cNvPr id="9" name="Text 6"/>
          <p:cNvSpPr/>
          <p:nvPr/>
        </p:nvSpPr>
        <p:spPr>
          <a:xfrm>
            <a:off x="731520" y="1537700"/>
            <a:ext cx="3291840" cy="949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是分层映射</a:t>
            </a:r>
            <a:endParaRPr lang="en-US" sz="5040" dirty="0"/>
          </a:p>
        </p:txBody>
      </p:sp>
      <p:sp>
        <p:nvSpPr>
          <p:cNvPr id="10" name="Text 7"/>
          <p:cNvSpPr/>
          <p:nvPr/>
        </p:nvSpPr>
        <p:spPr>
          <a:xfrm>
            <a:off x="8337316" y="1603903"/>
            <a:ext cx="550679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浏览器保留最多交互；PPTX 优先保留原生文字，复杂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337316" y="1939122"/>
            <a:ext cx="21488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区域可能截图回退。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" y="2181484"/>
            <a:ext cx="100949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三种交付格式服务不同任务，不能用同一把尺子评价。</a:t>
            </a:r>
            <a:endParaRPr lang="en-US" sz="1920" dirty="0"/>
          </a:p>
        </p:txBody>
      </p:sp>
      <p:sp>
        <p:nvSpPr>
          <p:cNvPr id="13" name="Shape 10"/>
          <p:cNvSpPr/>
          <p:nvPr/>
        </p:nvSpPr>
        <p:spPr>
          <a:xfrm>
            <a:off x="2872770" y="3047970"/>
            <a:ext cx="106710" cy="106710"/>
          </a:xfrm>
          <a:prstGeom prst="ellipse">
            <a:avLst/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11653" y="3207990"/>
            <a:ext cx="520202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59650" y="3093690"/>
            <a:ext cx="25905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7261890" y="3047970"/>
            <a:ext cx="106710" cy="106710"/>
          </a:xfrm>
          <a:prstGeom prst="ellipse">
            <a:avLst/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65330" y="3207990"/>
            <a:ext cx="402336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448770" y="3093690"/>
            <a:ext cx="25905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20" dirty="0"/>
          </a:p>
        </p:txBody>
      </p:sp>
      <p:sp>
        <p:nvSpPr>
          <p:cNvPr id="19" name="Shape 16"/>
          <p:cNvSpPr/>
          <p:nvPr/>
        </p:nvSpPr>
        <p:spPr>
          <a:xfrm>
            <a:off x="11651010" y="3047970"/>
            <a:ext cx="106710" cy="106710"/>
          </a:xfrm>
          <a:prstGeom prst="ellipse">
            <a:avLst/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511199" y="3207990"/>
            <a:ext cx="499872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10" y="3657600"/>
            <a:ext cx="6534120" cy="1741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79505" y="4410060"/>
            <a:ext cx="343814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E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40" dirty="0"/>
          </a:p>
        </p:txBody>
      </p:sp>
      <p:sp>
        <p:nvSpPr>
          <p:cNvPr id="23" name="Text 19"/>
          <p:cNvSpPr/>
          <p:nvPr/>
        </p:nvSpPr>
        <p:spPr>
          <a:xfrm>
            <a:off x="1885218" y="4261470"/>
            <a:ext cx="5327112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HTML</a:t>
            </a:r>
            <a:endParaRPr lang="en-US" sz="1560" dirty="0"/>
          </a:p>
        </p:txBody>
      </p:sp>
      <p:sp>
        <p:nvSpPr>
          <p:cNvPr id="24" name="Text 20"/>
          <p:cNvSpPr/>
          <p:nvPr/>
        </p:nvSpPr>
        <p:spPr>
          <a:xfrm>
            <a:off x="1885218" y="4573920"/>
            <a:ext cx="5327112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HTML：可编辑、可切换方案、可自动保存</a:t>
            </a:r>
            <a:endParaRPr lang="en-US" sz="1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760" y="3657600"/>
            <a:ext cx="6534120" cy="1741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551755" y="4410060"/>
            <a:ext cx="356067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40" dirty="0"/>
          </a:p>
        </p:txBody>
      </p:sp>
      <p:sp>
        <p:nvSpPr>
          <p:cNvPr id="27" name="Text 22"/>
          <p:cNvSpPr/>
          <p:nvPr/>
        </p:nvSpPr>
        <p:spPr>
          <a:xfrm>
            <a:off x="8483437" y="4261470"/>
            <a:ext cx="530114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PDF</a:t>
            </a:r>
            <a:endParaRPr lang="en-US" sz="1560" dirty="0"/>
          </a:p>
        </p:txBody>
      </p:sp>
      <p:sp>
        <p:nvSpPr>
          <p:cNvPr id="28" name="Text 23"/>
          <p:cNvSpPr/>
          <p:nvPr/>
        </p:nvSpPr>
        <p:spPr>
          <a:xfrm>
            <a:off x="8483437" y="4573920"/>
            <a:ext cx="5301143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PDF：便于分发与归档，但不承担结构化编辑</a:t>
            </a:r>
            <a:endParaRPr lang="en-US" sz="12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497830"/>
            <a:ext cx="6534120" cy="1741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18515" y="6250290"/>
            <a:ext cx="358628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40" dirty="0"/>
          </a:p>
        </p:txBody>
      </p:sp>
      <p:sp>
        <p:nvSpPr>
          <p:cNvPr id="31" name="Text 25"/>
          <p:cNvSpPr/>
          <p:nvPr/>
        </p:nvSpPr>
        <p:spPr>
          <a:xfrm>
            <a:off x="1852849" y="6101700"/>
            <a:ext cx="5298491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PPTX</a:t>
            </a:r>
            <a:endParaRPr lang="en-US" sz="1560" dirty="0"/>
          </a:p>
        </p:txBody>
      </p:sp>
      <p:sp>
        <p:nvSpPr>
          <p:cNvPr id="32" name="Text 26"/>
          <p:cNvSpPr/>
          <p:nvPr/>
        </p:nvSpPr>
        <p:spPr>
          <a:xfrm>
            <a:off x="1852849" y="6414150"/>
            <a:ext cx="5243627" cy="248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PPTX：逐节点映射；复杂背景和效果可能回退为截图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731520" y="750192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944850" y="7399050"/>
            <a:ext cx="3962004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HTML｜可编辑、可切换方案、可自动保存</a:t>
            </a:r>
            <a:endParaRPr lang="en-US" sz="1620" dirty="0"/>
          </a:p>
        </p:txBody>
      </p:sp>
      <p:sp>
        <p:nvSpPr>
          <p:cNvPr id="35" name="Shape 29"/>
          <p:cNvSpPr/>
          <p:nvPr/>
        </p:nvSpPr>
        <p:spPr>
          <a:xfrm>
            <a:off x="11612880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11677162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1741628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1805910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870284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11934566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11999031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12063313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12127687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12191970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12256435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12320717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12385091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12449373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12513838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12578121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12642494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12706868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12771242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12835524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12899989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12964272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13028646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13092928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13157393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13221675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13286049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13350331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13414797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13479079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13543453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13607735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13672200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13736483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13800765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13865047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4300" y="0"/>
            <a:ext cx="3086100" cy="30861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30100" y="0"/>
            <a:ext cx="2400300" cy="2400300"/>
          </a:xfrm>
          <a:prstGeom prst="ellipse">
            <a:avLst/>
          </a:prstGeom>
          <a:solidFill>
            <a:srgbClr val="FFFFFF">
              <a:alpha val="0"/>
            </a:srgbClr>
          </a:solidFill>
          <a:ln w="171450">
            <a:solidFill>
              <a:srgbClr val="86D62B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8190" y="472470"/>
            <a:ext cx="38130" cy="728475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731520"/>
            <a:ext cx="807781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b="1" spc="247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格式边界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3665982" y="731520"/>
            <a:ext cx="269474" cy="21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611447"/>
            <a:ext cx="8202625" cy="652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是主产物，PPTX 是分层映射</a:t>
            </a:r>
            <a:endParaRPr lang="en-US" sz="432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7604790" cy="4160520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 w="12700">
            <a:solidFill>
              <a:srgbClr val="0E110B">
                <a:alpha val="0"/>
              </a:srgbClr>
            </a:solidFill>
            <a:prstDash val="solid"/>
          </a:ln>
          <a:effectLst>
            <a:outerShdw sx="100000" sy="100000" kx="0" ky="0" algn="bl" rotWithShape="0" blurRad="304800" dist="171450" dir="5400000">
              <a:srgbClr val="0E110B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24717" y="3337560"/>
            <a:ext cx="11593" cy="416052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631572"/>
            <a:ext cx="377952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96"/>
              </a:lnSpc>
              <a:buNone/>
            </a:pPr>
            <a:r>
              <a:rPr lang="en-US" sz="384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840" dirty="0"/>
          </a:p>
        </p:txBody>
      </p:sp>
      <p:sp>
        <p:nvSpPr>
          <p:cNvPr id="13" name="Text 11"/>
          <p:cNvSpPr/>
          <p:nvPr/>
        </p:nvSpPr>
        <p:spPr>
          <a:xfrm>
            <a:off x="731520" y="5273299"/>
            <a:ext cx="5324094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20" b="1" spc="-5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浏览器保留最多交互；PPTX 优先保留</a:t>
            </a:r>
            <a:endParaRPr lang="en-US" sz="2520" dirty="0"/>
          </a:p>
        </p:txBody>
      </p:sp>
      <p:sp>
        <p:nvSpPr>
          <p:cNvPr id="14" name="Text 12"/>
          <p:cNvSpPr/>
          <p:nvPr/>
        </p:nvSpPr>
        <p:spPr>
          <a:xfrm>
            <a:off x="731520" y="5670149"/>
            <a:ext cx="5119908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20" b="1" spc="-5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原生文字，复杂区域可能截图回退。</a:t>
            </a:r>
            <a:endParaRPr lang="en-US" sz="252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0211" y="2526030"/>
            <a:ext cx="5810189" cy="570357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631650" y="3345150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10058400" y="3314700"/>
            <a:ext cx="6273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058400" y="3598530"/>
            <a:ext cx="237744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可编辑、可切换方案、可自动保存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31650" y="4045031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10058400" y="4014582"/>
            <a:ext cx="47548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0058400" y="4298412"/>
            <a:ext cx="268221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便于分发与归档，但不承担结构化编辑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631650" y="4744913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10058400" y="4714372"/>
            <a:ext cx="59740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0058400" y="4998202"/>
            <a:ext cx="313941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逐节点映射；复杂背景和效果可能回退为截图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467" y="0"/>
            <a:ext cx="7022501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024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30923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5677235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LAB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46823"/>
            <a:ext cx="6108192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4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 AI Capital Lab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12298680" y="1265118"/>
            <a:ext cx="16916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研究团队与方法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381280"/>
            <a:ext cx="396210" cy="3813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49710" y="2308860"/>
            <a:ext cx="1521104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spc="252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研究团队与方法</a:t>
            </a:r>
            <a:endParaRPr lang="en-US" sz="1260" dirty="0"/>
          </a:p>
        </p:txBody>
      </p:sp>
      <p:sp>
        <p:nvSpPr>
          <p:cNvPr id="12" name="Text 9"/>
          <p:cNvSpPr/>
          <p:nvPr/>
        </p:nvSpPr>
        <p:spPr>
          <a:xfrm>
            <a:off x="731520" y="2661178"/>
            <a:ext cx="6678320" cy="332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Capital Lab 专注于 AI 产业的资本流向研究，用横纵分析法把融资数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731520" y="2981218"/>
            <a:ext cx="5583966" cy="332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据转化为结构化判断，服务投资人、创业者与产业研究者。</a:t>
            </a:r>
            <a:endParaRPr lang="en-US" sz="1680" dirty="0"/>
          </a:p>
        </p:txBody>
      </p:sp>
      <p:sp>
        <p:nvSpPr>
          <p:cNvPr id="14" name="Text 11"/>
          <p:cNvSpPr/>
          <p:nvPr/>
        </p:nvSpPr>
        <p:spPr>
          <a:xfrm>
            <a:off x="731520" y="3390870"/>
            <a:ext cx="2554415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45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横纵分析法 · 多源交叉 · 持续追踪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3817620"/>
            <a:ext cx="679701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spc="179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我们做什么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777240" y="4069080"/>
            <a:ext cx="6705570" cy="876270"/>
          </a:xfrm>
          <a:prstGeom prst="roundRect">
            <a:avLst>
              <a:gd name="adj" fmla="val 18522"/>
            </a:avLst>
          </a:prstGeom>
          <a:solidFill>
            <a:srgbClr val="EFFAE3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4933756"/>
            <a:ext cx="670557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2056" y="4279301"/>
            <a:ext cx="558394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2760" b="1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760" dirty="0"/>
          </a:p>
        </p:txBody>
      </p:sp>
      <p:sp>
        <p:nvSpPr>
          <p:cNvPr id="19" name="Text 16"/>
          <p:cNvSpPr/>
          <p:nvPr/>
        </p:nvSpPr>
        <p:spPr>
          <a:xfrm>
            <a:off x="1539210" y="4192981"/>
            <a:ext cx="14630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资本流向研究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39210" y="4587270"/>
            <a:ext cx="249174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追踪大额融资事件与赛道结构变化</a:t>
            </a:r>
            <a:endParaRPr lang="en-US" sz="1260" dirty="0"/>
          </a:p>
        </p:txBody>
      </p:sp>
      <p:sp>
        <p:nvSpPr>
          <p:cNvPr id="21" name="Shape 18"/>
          <p:cNvSpPr/>
          <p:nvPr/>
        </p:nvSpPr>
        <p:spPr>
          <a:xfrm>
            <a:off x="731520" y="4945350"/>
            <a:ext cx="6705570" cy="876270"/>
          </a:xfrm>
          <a:prstGeom prst="roundRect">
            <a:avLst>
              <a:gd name="adj" fmla="val 18522"/>
            </a:avLst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5810026"/>
            <a:ext cx="670557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6336" y="5155662"/>
            <a:ext cx="596829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2760" b="1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760" dirty="0"/>
          </a:p>
        </p:txBody>
      </p:sp>
      <p:sp>
        <p:nvSpPr>
          <p:cNvPr id="24" name="Text 21"/>
          <p:cNvSpPr/>
          <p:nvPr/>
        </p:nvSpPr>
        <p:spPr>
          <a:xfrm>
            <a:off x="1493490" y="5069342"/>
            <a:ext cx="14630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横纵分析方法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93490" y="5463540"/>
            <a:ext cx="2475829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空间对比 × 时间演化 × 产业分层</a:t>
            </a:r>
            <a:endParaRPr lang="en-US" sz="1260" dirty="0"/>
          </a:p>
        </p:txBody>
      </p:sp>
      <p:sp>
        <p:nvSpPr>
          <p:cNvPr id="26" name="Text 23"/>
          <p:cNvSpPr/>
          <p:nvPr/>
        </p:nvSpPr>
        <p:spPr>
          <a:xfrm>
            <a:off x="856336" y="6031931"/>
            <a:ext cx="601767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2760" b="1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760" dirty="0"/>
          </a:p>
        </p:txBody>
      </p:sp>
      <p:sp>
        <p:nvSpPr>
          <p:cNvPr id="27" name="Text 24"/>
          <p:cNvSpPr/>
          <p:nvPr/>
        </p:nvSpPr>
        <p:spPr>
          <a:xfrm>
            <a:off x="1493490" y="5945612"/>
            <a:ext cx="14630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多源数据核对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493490" y="6339810"/>
            <a:ext cx="265176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公开披露交叉验证，口径透明可复核</a:t>
            </a:r>
            <a:endParaRPr lang="en-US" sz="1260" dirty="0"/>
          </a:p>
        </p:txBody>
      </p:sp>
      <p:sp>
        <p:nvSpPr>
          <p:cNvPr id="29" name="Shape 26"/>
          <p:cNvSpPr/>
          <p:nvPr/>
        </p:nvSpPr>
        <p:spPr>
          <a:xfrm>
            <a:off x="7741950" y="2286000"/>
            <a:ext cx="6156930" cy="4800600"/>
          </a:xfrm>
          <a:prstGeom prst="roundRect">
            <a:avLst>
              <a:gd name="adj" fmla="val 5796"/>
            </a:avLst>
          </a:prstGeom>
          <a:solidFill>
            <a:srgbClr val="E9FBC6"/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9540" y="2293590"/>
            <a:ext cx="6141750" cy="4785330"/>
          </a:xfrm>
          <a:prstGeom prst="rect">
            <a:avLst/>
          </a:prstGeom>
        </p:spPr>
      </p:pic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0" y="2293590"/>
            <a:ext cx="6141750" cy="478533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44850" y="7444770"/>
            <a:ext cx="347078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从资本流向，看 AI 产业的真实重心。</a:t>
            </a:r>
            <a:endParaRPr lang="en-US" sz="1620" dirty="0"/>
          </a:p>
        </p:txBody>
      </p:sp>
      <p:sp>
        <p:nvSpPr>
          <p:cNvPr id="34" name="Shape 29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40080"/>
            <a:ext cx="13167360" cy="126205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9054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"/>
            <a:ext cx="777240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采用边界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31520" y="1077889"/>
            <a:ext cx="7772400" cy="64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采用前要正视四条工程边界</a:t>
            </a:r>
            <a:endParaRPr lang="en-US" sz="5040" dirty="0"/>
          </a:p>
        </p:txBody>
      </p:sp>
      <p:sp>
        <p:nvSpPr>
          <p:cNvPr id="8" name="Text 6"/>
          <p:cNvSpPr/>
          <p:nvPr/>
        </p:nvSpPr>
        <p:spPr>
          <a:xfrm>
            <a:off x="8955359" y="1324828"/>
            <a:ext cx="503496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适合内部试点，不等于可以直接嵌入商业 SaaS。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074865"/>
            <a:ext cx="902814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许可证、可编辑性、网络暴露和生成成本都会改变落地方式。</a:t>
            </a:r>
            <a:endParaRPr lang="en-US" sz="192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76570"/>
            <a:ext cx="3166110" cy="1783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7710" y="3512850"/>
            <a:ext cx="25603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67710" y="4122390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AGPL-3.0</a:t>
            </a:r>
            <a:endParaRPr lang="en-US" sz="2160" dirty="0"/>
          </a:p>
        </p:txBody>
      </p:sp>
      <p:sp>
        <p:nvSpPr>
          <p:cNvPr id="13" name="Text 10"/>
          <p:cNvSpPr/>
          <p:nvPr/>
        </p:nvSpPr>
        <p:spPr>
          <a:xfrm>
            <a:off x="967710" y="4594860"/>
            <a:ext cx="27850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AGPL-3.0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240" y="3230850"/>
            <a:ext cx="3166110" cy="1783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05042" y="4125773"/>
            <a:ext cx="1002182" cy="1490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b="1" dirty="0">
                <a:solidFill>
                  <a:srgbClr val="86D62B">
                    <a:alpha val="1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0" dirty="0"/>
          </a:p>
        </p:txBody>
      </p:sp>
      <p:sp>
        <p:nvSpPr>
          <p:cNvPr id="16" name="Text 12"/>
          <p:cNvSpPr/>
          <p:nvPr/>
        </p:nvSpPr>
        <p:spPr>
          <a:xfrm>
            <a:off x="6630589" y="3467130"/>
            <a:ext cx="37581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60" b="1" spc="144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</a:t>
            </a:r>
            <a:endParaRPr lang="en-US" sz="960" dirty="0"/>
          </a:p>
        </p:txBody>
      </p:sp>
      <p:sp>
        <p:nvSpPr>
          <p:cNvPr id="17" name="Text 13"/>
          <p:cNvSpPr/>
          <p:nvPr/>
        </p:nvSpPr>
        <p:spPr>
          <a:xfrm>
            <a:off x="4301520" y="3467130"/>
            <a:ext cx="27432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301520" y="4056187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专有导出组件</a:t>
            </a:r>
            <a:endParaRPr lang="en-US" sz="2160" dirty="0"/>
          </a:p>
        </p:txBody>
      </p:sp>
      <p:sp>
        <p:nvSpPr>
          <p:cNvPr id="19" name="Text 15"/>
          <p:cNvSpPr/>
          <p:nvPr/>
        </p:nvSpPr>
        <p:spPr>
          <a:xfrm>
            <a:off x="4301520" y="4526280"/>
            <a:ext cx="278508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专有导出组件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050" y="3276570"/>
            <a:ext cx="3166110" cy="1783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635240" y="3512850"/>
            <a:ext cx="27761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7635240" y="4101907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局域网预览</a:t>
            </a:r>
            <a:endParaRPr lang="en-US" sz="2160" dirty="0"/>
          </a:p>
        </p:txBody>
      </p:sp>
      <p:sp>
        <p:nvSpPr>
          <p:cNvPr id="23" name="Text 18"/>
          <p:cNvSpPr/>
          <p:nvPr/>
        </p:nvSpPr>
        <p:spPr>
          <a:xfrm>
            <a:off x="7635240" y="4572000"/>
            <a:ext cx="278508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局域网预览</a:t>
            </a:r>
            <a:endParaRPr lang="en-US" sz="12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2770" y="3276570"/>
            <a:ext cx="3166110" cy="17830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968960" y="3512850"/>
            <a:ext cx="284013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0968960" y="4101907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生成成本</a:t>
            </a:r>
            <a:endParaRPr lang="en-US" sz="2160" dirty="0"/>
          </a:p>
        </p:txBody>
      </p:sp>
      <p:sp>
        <p:nvSpPr>
          <p:cNvPr id="27" name="Text 21"/>
          <p:cNvSpPr/>
          <p:nvPr/>
        </p:nvSpPr>
        <p:spPr>
          <a:xfrm>
            <a:off x="10968960" y="4572000"/>
            <a:ext cx="278508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生成成本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731520" y="750192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44850" y="7399050"/>
            <a:ext cx="256032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采用前要正视四条工程边界</a:t>
            </a:r>
            <a:endParaRPr lang="en-US" sz="1620" dirty="0"/>
          </a:p>
        </p:txBody>
      </p:sp>
      <p:sp>
        <p:nvSpPr>
          <p:cNvPr id="30" name="Shape 24"/>
          <p:cNvSpPr/>
          <p:nvPr/>
        </p:nvSpPr>
        <p:spPr>
          <a:xfrm>
            <a:off x="11765310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819352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187348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1927525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11981749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2035790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12089922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2144055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2198187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2252228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12306452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12360493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1241462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12468667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12522891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12576932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1263106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12685197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12739329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12793370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1284759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12901635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12955768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13009809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13064033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13118074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1317220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13226339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13280471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13334512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1338873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13442777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13496910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13550951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13604992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1365912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13713165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1376720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13821247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13875288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0"/>
            <a:ext cx="10241280" cy="65836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7650" y="5105370"/>
            <a:ext cx="1981230" cy="198123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811530"/>
            <a:ext cx="83850" cy="8385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65860" y="761970"/>
            <a:ext cx="1017499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采用边界</a:t>
            </a:r>
            <a:endParaRPr lang="en-US" sz="1320" dirty="0"/>
          </a:p>
        </p:txBody>
      </p:sp>
      <p:sp>
        <p:nvSpPr>
          <p:cNvPr id="8" name="Shape 4"/>
          <p:cNvSpPr/>
          <p:nvPr/>
        </p:nvSpPr>
        <p:spPr>
          <a:xfrm>
            <a:off x="2165025" y="847740"/>
            <a:ext cx="9291127" cy="1143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623853" y="731520"/>
            <a:ext cx="2202294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66" kern="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采用前要正视四条工程边界</a:t>
            </a:r>
            <a:endParaRPr lang="en-US" sz="1320" dirty="0"/>
          </a:p>
        </p:txBody>
      </p:sp>
      <p:sp>
        <p:nvSpPr>
          <p:cNvPr id="10" name="Text 6"/>
          <p:cNvSpPr/>
          <p:nvPr/>
        </p:nvSpPr>
        <p:spPr>
          <a:xfrm>
            <a:off x="6841236" y="586062"/>
            <a:ext cx="947928" cy="19705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120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2000" dirty="0"/>
          </a:p>
        </p:txBody>
      </p:sp>
      <p:sp>
        <p:nvSpPr>
          <p:cNvPr id="11" name="Text 7"/>
          <p:cNvSpPr/>
          <p:nvPr/>
        </p:nvSpPr>
        <p:spPr>
          <a:xfrm>
            <a:off x="2164690" y="1798333"/>
            <a:ext cx="4024579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AGPL-3.0</a:t>
            </a:r>
            <a:endParaRPr lang="en-US" sz="624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869" y="1717792"/>
            <a:ext cx="9618848" cy="20381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04464" y="1752310"/>
            <a:ext cx="6367973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网络服务与修改分</a:t>
            </a:r>
            <a:endParaRPr lang="en-US" sz="6240" dirty="0"/>
          </a:p>
        </p:txBody>
      </p:sp>
      <p:sp>
        <p:nvSpPr>
          <p:cNvPr id="14" name="Text 9"/>
          <p:cNvSpPr/>
          <p:nvPr/>
        </p:nvSpPr>
        <p:spPr>
          <a:xfrm>
            <a:off x="2562149" y="2639826"/>
            <a:ext cx="7152437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发需要核对源码义务</a:t>
            </a:r>
            <a:endParaRPr lang="en-US" sz="6240" dirty="0"/>
          </a:p>
        </p:txBody>
      </p:sp>
      <p:sp>
        <p:nvSpPr>
          <p:cNvPr id="15" name="Text 10"/>
          <p:cNvSpPr/>
          <p:nvPr/>
        </p:nvSpPr>
        <p:spPr>
          <a:xfrm>
            <a:off x="9623146" y="2639826"/>
            <a:ext cx="2445197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专有导</a:t>
            </a:r>
            <a:endParaRPr lang="en-US" sz="6240" dirty="0"/>
          </a:p>
        </p:txBody>
      </p:sp>
      <p:sp>
        <p:nvSpPr>
          <p:cNvPr id="16" name="Text 11"/>
          <p:cNvSpPr/>
          <p:nvPr/>
        </p:nvSpPr>
        <p:spPr>
          <a:xfrm>
            <a:off x="2690439" y="3527343"/>
            <a:ext cx="2445197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出组件</a:t>
            </a:r>
            <a:endParaRPr lang="en-US" sz="624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7686" y="3492825"/>
            <a:ext cx="9286555" cy="203810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75957" y="3527343"/>
            <a:ext cx="7432243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不能脱离本 Skill 单</a:t>
            </a:r>
            <a:endParaRPr lang="en-US" sz="6240" dirty="0"/>
          </a:p>
        </p:txBody>
      </p:sp>
      <p:sp>
        <p:nvSpPr>
          <p:cNvPr id="19" name="Text 13"/>
          <p:cNvSpPr/>
          <p:nvPr/>
        </p:nvSpPr>
        <p:spPr>
          <a:xfrm>
            <a:off x="2561966" y="4414768"/>
            <a:ext cx="5583418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独提取或再分发</a:t>
            </a:r>
            <a:endParaRPr lang="en-US" sz="6240" dirty="0"/>
          </a:p>
        </p:txBody>
      </p:sp>
      <p:sp>
        <p:nvSpPr>
          <p:cNvPr id="20" name="Text 14"/>
          <p:cNvSpPr/>
          <p:nvPr/>
        </p:nvSpPr>
        <p:spPr>
          <a:xfrm>
            <a:off x="8053944" y="4414768"/>
            <a:ext cx="4014307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局域网预览</a:t>
            </a:r>
            <a:endParaRPr lang="en-US" sz="6240" dirty="0"/>
          </a:p>
        </p:txBody>
      </p:sp>
      <p:sp>
        <p:nvSpPr>
          <p:cNvPr id="21" name="Shape 15"/>
          <p:cNvSpPr/>
          <p:nvPr/>
        </p:nvSpPr>
        <p:spPr>
          <a:xfrm>
            <a:off x="6858000" y="5801136"/>
            <a:ext cx="914400" cy="38130"/>
          </a:xfrm>
          <a:prstGeom prst="rect">
            <a:avLst/>
          </a:prstGeom>
          <a:solidFill>
            <a:srgbClr val="0E11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14400" y="5638830"/>
            <a:ext cx="4063959" cy="11582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14400" y="5638830"/>
            <a:ext cx="4063959" cy="23186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914400" y="5821710"/>
            <a:ext cx="20726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80" kern="0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14400" y="6027450"/>
            <a:ext cx="1239012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AGPL-3.0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914400" y="6362670"/>
            <a:ext cx="3427080" cy="248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AGPL-3.0：网络服务与修改分发需要核对源码义务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283129" y="5638830"/>
            <a:ext cx="4063959" cy="11582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283129" y="5638830"/>
            <a:ext cx="4063959" cy="23186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283129" y="5821710"/>
            <a:ext cx="20726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80" kern="0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283129" y="6029462"/>
            <a:ext cx="14630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专有导出组件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5283129" y="6362670"/>
            <a:ext cx="3468228" cy="248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专有导出组件：不能脱离本 Skill 单独提取或再分发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9651949" y="5638830"/>
            <a:ext cx="4063959" cy="11582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651949" y="5638830"/>
            <a:ext cx="4063959" cy="23186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9651949" y="5821710"/>
            <a:ext cx="20726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80" kern="0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9651949" y="6029462"/>
            <a:ext cx="12344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局域网预览</a:t>
            </a:r>
            <a:endParaRPr lang="en-US" sz="1800" dirty="0"/>
          </a:p>
        </p:txBody>
      </p:sp>
      <p:sp>
        <p:nvSpPr>
          <p:cNvPr id="36" name="Text 30"/>
          <p:cNvSpPr/>
          <p:nvPr/>
        </p:nvSpPr>
        <p:spPr>
          <a:xfrm>
            <a:off x="9651949" y="6362670"/>
            <a:ext cx="4042654" cy="248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局域网预览｜生成成本：上游自述 10 页约 10 万 Token，仍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9651949" y="6576090"/>
            <a:ext cx="85341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需独立复测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914400" y="7345650"/>
            <a:ext cx="281025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网络服务与修改分发需要核对源码义务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11430000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11494282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11558748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11623030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11687404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11751686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11816151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11880433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11944807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12009090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12073555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12137837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12202211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12266493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12330958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12395241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12459614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12523988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12588362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12652644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12717109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12781392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12845766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12910048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12974513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13038795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13103169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13167451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13231917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13296199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13360573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13424855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13489320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6"/>
          <p:cNvSpPr/>
          <p:nvPr/>
        </p:nvSpPr>
        <p:spPr>
          <a:xfrm>
            <a:off x="13553603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13617885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8"/>
          <p:cNvSpPr/>
          <p:nvPr/>
        </p:nvSpPr>
        <p:spPr>
          <a:xfrm>
            <a:off x="13682167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4300" y="0"/>
            <a:ext cx="3086100" cy="30861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30100" y="0"/>
            <a:ext cx="2400300" cy="2400300"/>
          </a:xfrm>
          <a:prstGeom prst="ellipse">
            <a:avLst/>
          </a:prstGeom>
          <a:solidFill>
            <a:srgbClr val="FFFFFF">
              <a:alpha val="0"/>
            </a:srgbClr>
          </a:solidFill>
          <a:ln w="171450">
            <a:solidFill>
              <a:srgbClr val="86D62B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8190" y="472470"/>
            <a:ext cx="38130" cy="728475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731520"/>
            <a:ext cx="807781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b="1" spc="247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采用边界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3663239" y="731520"/>
            <a:ext cx="272217" cy="21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611447"/>
            <a:ext cx="6389827" cy="652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采用前要正视四条工程边界</a:t>
            </a:r>
            <a:endParaRPr lang="en-US" sz="432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6492240" cy="4160520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 w="12700">
            <a:solidFill>
              <a:srgbClr val="0E110B">
                <a:alpha val="0"/>
              </a:srgbClr>
            </a:solidFill>
            <a:prstDash val="solid"/>
          </a:ln>
          <a:effectLst>
            <a:outerShdw sx="100000" sy="100000" kx="0" ky="0" algn="bl" rotWithShape="0" blurRad="304800" dist="171450" dir="5400000">
              <a:srgbClr val="0E110B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12167" y="3337560"/>
            <a:ext cx="11593" cy="416052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45150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1158270" y="3337560"/>
            <a:ext cx="87526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AGPL-3.0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8270" y="3598530"/>
            <a:ext cx="268221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网络服务与修改分发需要核对源码义务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23142"/>
            <a:ext cx="6256050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923142"/>
            <a:ext cx="625605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45031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1158270" y="4014582"/>
            <a:ext cx="12344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专有导出组件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58270" y="4298412"/>
            <a:ext cx="2542032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不能脱离本 Skill 单独提取或再分发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06640" y="3337560"/>
            <a:ext cx="6492240" cy="4160520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 w="12700">
            <a:solidFill>
              <a:srgbClr val="0E110B">
                <a:alpha val="0"/>
              </a:srgbClr>
            </a:solidFill>
            <a:prstDash val="solid"/>
          </a:ln>
          <a:effectLst>
            <a:outerShdw sx="100000" sy="100000" kx="0" ky="0" algn="bl" rotWithShape="0" blurRad="304800" dist="171450" dir="5400000">
              <a:srgbClr val="0E110B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887287" y="3337560"/>
            <a:ext cx="11593" cy="416052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3345150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AEE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7833390" y="3337560"/>
            <a:ext cx="98910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局域网预览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833390" y="3598530"/>
            <a:ext cx="2311908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敏感材料应显式绑定 127.0.0.1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06640" y="3923142"/>
            <a:ext cx="6256050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3923142"/>
            <a:ext cx="625605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4045031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AEE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7833390" y="4014582"/>
            <a:ext cx="85341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生成成本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833390" y="4298412"/>
            <a:ext cx="3109326" cy="248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上游自述 10 页约 10 万 Token，仍需独立复测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0"/>
            <a:ext cx="10241280" cy="65836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7650" y="5105370"/>
            <a:ext cx="1981230" cy="198123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811530"/>
            <a:ext cx="83850" cy="8385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65860" y="761970"/>
            <a:ext cx="1017499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试点协议</a:t>
            </a:r>
            <a:endParaRPr lang="en-US" sz="1320" dirty="0"/>
          </a:p>
        </p:txBody>
      </p:sp>
      <p:sp>
        <p:nvSpPr>
          <p:cNvPr id="8" name="Shape 4"/>
          <p:cNvSpPr/>
          <p:nvPr/>
        </p:nvSpPr>
        <p:spPr>
          <a:xfrm>
            <a:off x="2165025" y="847740"/>
            <a:ext cx="8942466" cy="1143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275101" y="731520"/>
            <a:ext cx="255350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66" kern="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最小试点先验证四项可量化指标</a:t>
            </a:r>
            <a:endParaRPr lang="en-US" sz="1320" dirty="0"/>
          </a:p>
        </p:txBody>
      </p:sp>
      <p:sp>
        <p:nvSpPr>
          <p:cNvPr id="10" name="Text 6"/>
          <p:cNvSpPr/>
          <p:nvPr/>
        </p:nvSpPr>
        <p:spPr>
          <a:xfrm>
            <a:off x="6841236" y="586062"/>
            <a:ext cx="947928" cy="19705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120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2000" dirty="0"/>
          </a:p>
        </p:txBody>
      </p:sp>
      <p:sp>
        <p:nvSpPr>
          <p:cNvPr id="11" name="Text 7"/>
          <p:cNvSpPr/>
          <p:nvPr/>
        </p:nvSpPr>
        <p:spPr>
          <a:xfrm>
            <a:off x="2577968" y="1752310"/>
            <a:ext cx="4014307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内容覆盖率</a:t>
            </a:r>
            <a:endParaRPr lang="en-US" sz="624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146" y="1717792"/>
            <a:ext cx="9006566" cy="20381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61903" y="1798333"/>
            <a:ext cx="6029554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required facts</a:t>
            </a:r>
            <a:endParaRPr lang="en-US" sz="6240" dirty="0"/>
          </a:p>
        </p:txBody>
      </p:sp>
      <p:sp>
        <p:nvSpPr>
          <p:cNvPr id="14" name="Text 9"/>
          <p:cNvSpPr/>
          <p:nvPr/>
        </p:nvSpPr>
        <p:spPr>
          <a:xfrm>
            <a:off x="2954426" y="2639826"/>
            <a:ext cx="7152437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与关键数字是否完整</a:t>
            </a:r>
            <a:endParaRPr lang="en-US" sz="6240" dirty="0"/>
          </a:p>
        </p:txBody>
      </p:sp>
      <p:sp>
        <p:nvSpPr>
          <p:cNvPr id="15" name="Text 10"/>
          <p:cNvSpPr/>
          <p:nvPr/>
        </p:nvSpPr>
        <p:spPr>
          <a:xfrm>
            <a:off x="10015423" y="2639826"/>
            <a:ext cx="1660550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</a:t>
            </a:r>
            <a:endParaRPr lang="en-US" sz="6240" dirty="0"/>
          </a:p>
        </p:txBody>
      </p:sp>
      <p:sp>
        <p:nvSpPr>
          <p:cNvPr id="16" name="Text 11"/>
          <p:cNvSpPr/>
          <p:nvPr/>
        </p:nvSpPr>
        <p:spPr>
          <a:xfrm>
            <a:off x="2340498" y="3527343"/>
            <a:ext cx="4457243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 重复性</a:t>
            </a:r>
            <a:endParaRPr lang="en-US" sz="624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7869" y="3492825"/>
            <a:ext cx="9636222" cy="203810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06301" y="3527343"/>
            <a:ext cx="5583418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版式分配与内容</a:t>
            </a:r>
            <a:endParaRPr lang="en-US" sz="6240" dirty="0"/>
          </a:p>
        </p:txBody>
      </p:sp>
      <p:sp>
        <p:nvSpPr>
          <p:cNvPr id="19" name="Text 13"/>
          <p:cNvSpPr/>
          <p:nvPr/>
        </p:nvSpPr>
        <p:spPr>
          <a:xfrm>
            <a:off x="2562149" y="4414768"/>
            <a:ext cx="4798771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映射是否稳定</a:t>
            </a:r>
            <a:endParaRPr lang="en-US" sz="6240" dirty="0"/>
          </a:p>
        </p:txBody>
      </p:sp>
      <p:sp>
        <p:nvSpPr>
          <p:cNvPr id="20" name="Text 14"/>
          <p:cNvSpPr/>
          <p:nvPr/>
        </p:nvSpPr>
        <p:spPr>
          <a:xfrm>
            <a:off x="7269480" y="4414768"/>
            <a:ext cx="4798771" cy="1178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989"/>
              </a:lnSpc>
              <a:buNone/>
            </a:pPr>
            <a:r>
              <a:rPr lang="en-US" sz="6240" b="1" spc="-78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原生对象比例</a:t>
            </a:r>
            <a:endParaRPr lang="en-US" sz="6240" dirty="0"/>
          </a:p>
        </p:txBody>
      </p:sp>
      <p:sp>
        <p:nvSpPr>
          <p:cNvPr id="21" name="Shape 15"/>
          <p:cNvSpPr/>
          <p:nvPr/>
        </p:nvSpPr>
        <p:spPr>
          <a:xfrm>
            <a:off x="6858000" y="5801136"/>
            <a:ext cx="914400" cy="38130"/>
          </a:xfrm>
          <a:prstGeom prst="rect">
            <a:avLst/>
          </a:prstGeom>
          <a:solidFill>
            <a:srgbClr val="0E11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14400" y="5638830"/>
            <a:ext cx="4063959" cy="11582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14400" y="5638830"/>
            <a:ext cx="4063959" cy="23186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914400" y="5821710"/>
            <a:ext cx="20726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80" kern="0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14400" y="6029462"/>
            <a:ext cx="12344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内容覆盖率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914400" y="6362670"/>
            <a:ext cx="3357951" cy="248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内容覆盖率：required facts 与关键数字是否完整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283129" y="5638830"/>
            <a:ext cx="4063959" cy="11582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283129" y="5638830"/>
            <a:ext cx="4063959" cy="23186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283129" y="5821710"/>
            <a:ext cx="20726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80" kern="0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283129" y="6029462"/>
            <a:ext cx="1878726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seed 重复性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5283129" y="6362670"/>
            <a:ext cx="3342498" cy="248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seed 重复性：版式分配与内容映射是否稳定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9651949" y="5638830"/>
            <a:ext cx="4063959" cy="115827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651949" y="5638830"/>
            <a:ext cx="4063959" cy="23186"/>
          </a:xfrm>
          <a:prstGeom prst="rect">
            <a:avLst/>
          </a:prstGeom>
          <a:solidFill>
            <a:srgbClr val="0E110B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9651949" y="5821710"/>
            <a:ext cx="20726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80" kern="0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9651949" y="6029462"/>
            <a:ext cx="14630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原生对象比例</a:t>
            </a:r>
            <a:endParaRPr lang="en-US" sz="1800" dirty="0"/>
          </a:p>
        </p:txBody>
      </p:sp>
      <p:sp>
        <p:nvSpPr>
          <p:cNvPr id="36" name="Text 30"/>
          <p:cNvSpPr/>
          <p:nvPr/>
        </p:nvSpPr>
        <p:spPr>
          <a:xfrm>
            <a:off x="9651949" y="6362670"/>
            <a:ext cx="3961821" cy="248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原生对象比例｜兼容性与成本：PowerPoint / WPS 打开效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9651949" y="6576090"/>
            <a:ext cx="131061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果、耗时与返工量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914400" y="7345650"/>
            <a:ext cx="2920365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required facts 与关键数字是否完整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11430000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11494282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11558748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11623030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11687404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11751686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11816151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11880433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11944807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12009090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12073555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12137837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12202211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12266493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12330958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12395241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12459614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12523988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12588362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12652644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12717109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12781392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12845766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12910048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12974513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13038795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13103169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13167451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13231917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13296199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13360573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13424855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13489320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6"/>
          <p:cNvSpPr/>
          <p:nvPr/>
        </p:nvSpPr>
        <p:spPr>
          <a:xfrm>
            <a:off x="13553603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13617885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8"/>
          <p:cNvSpPr/>
          <p:nvPr/>
        </p:nvSpPr>
        <p:spPr>
          <a:xfrm>
            <a:off x="13682167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16" y="0"/>
            <a:ext cx="6729984" cy="39502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87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2504927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777240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试点协议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923406"/>
            <a:ext cx="7772400" cy="949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最小试点先验证四项可量化</a:t>
            </a:r>
            <a:endParaRPr lang="en-US" sz="5040" dirty="0"/>
          </a:p>
        </p:txBody>
      </p:sp>
      <p:sp>
        <p:nvSpPr>
          <p:cNvPr id="9" name="Text 6"/>
          <p:cNvSpPr/>
          <p:nvPr/>
        </p:nvSpPr>
        <p:spPr>
          <a:xfrm>
            <a:off x="731520" y="1537700"/>
            <a:ext cx="1371600" cy="949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5040" dirty="0"/>
          </a:p>
        </p:txBody>
      </p:sp>
      <p:sp>
        <p:nvSpPr>
          <p:cNvPr id="10" name="Text 7"/>
          <p:cNvSpPr/>
          <p:nvPr/>
        </p:nvSpPr>
        <p:spPr>
          <a:xfrm>
            <a:off x="8412480" y="1603903"/>
            <a:ext cx="55778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先证明内容、重复性、可编辑性与兼容性，再讨论组织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412480" y="1939122"/>
            <a:ext cx="10058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级接入。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" y="2181484"/>
            <a:ext cx="100949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用脱敏研究材料完成一轮端到端生成，再决定是否扩大使用。</a:t>
            </a:r>
            <a:endParaRPr lang="en-US" sz="1920" dirty="0"/>
          </a:p>
        </p:txBody>
      </p:sp>
      <p:sp>
        <p:nvSpPr>
          <p:cNvPr id="13" name="Shape 10"/>
          <p:cNvSpPr/>
          <p:nvPr/>
        </p:nvSpPr>
        <p:spPr>
          <a:xfrm>
            <a:off x="2324130" y="3047970"/>
            <a:ext cx="106710" cy="106710"/>
          </a:xfrm>
          <a:prstGeom prst="ellipse">
            <a:avLst/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96410" y="3207990"/>
            <a:ext cx="85341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内容覆盖率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962370" y="3093690"/>
            <a:ext cx="25905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5615970" y="3047970"/>
            <a:ext cx="106710" cy="106710"/>
          </a:xfrm>
          <a:prstGeom prst="ellipse">
            <a:avLst/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78212" y="3207990"/>
            <a:ext cx="1274064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seed 重复性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54210" y="3093690"/>
            <a:ext cx="25905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20" dirty="0"/>
          </a:p>
        </p:txBody>
      </p:sp>
      <p:sp>
        <p:nvSpPr>
          <p:cNvPr id="19" name="Shape 16"/>
          <p:cNvSpPr/>
          <p:nvPr/>
        </p:nvSpPr>
        <p:spPr>
          <a:xfrm>
            <a:off x="8907810" y="3047970"/>
            <a:ext cx="106710" cy="106710"/>
          </a:xfrm>
          <a:prstGeom prst="ellipse">
            <a:avLst/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03920" y="3207990"/>
            <a:ext cx="100584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原生对象比例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546050" y="3093690"/>
            <a:ext cx="25905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320" dirty="0"/>
          </a:p>
        </p:txBody>
      </p:sp>
      <p:sp>
        <p:nvSpPr>
          <p:cNvPr id="22" name="Shape 19"/>
          <p:cNvSpPr/>
          <p:nvPr/>
        </p:nvSpPr>
        <p:spPr>
          <a:xfrm>
            <a:off x="12199650" y="3047970"/>
            <a:ext cx="106710" cy="106710"/>
          </a:xfrm>
          <a:prstGeom prst="ellipse">
            <a:avLst/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795760" y="3207990"/>
            <a:ext cx="100584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兼容性与成本</a:t>
            </a:r>
            <a:endParaRPr lang="en-US" sz="12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10" y="3657600"/>
            <a:ext cx="6534120" cy="1741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79505" y="4410060"/>
            <a:ext cx="343814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E84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40" dirty="0"/>
          </a:p>
        </p:txBody>
      </p:sp>
      <p:sp>
        <p:nvSpPr>
          <p:cNvPr id="26" name="Text 22"/>
          <p:cNvSpPr/>
          <p:nvPr/>
        </p:nvSpPr>
        <p:spPr>
          <a:xfrm>
            <a:off x="1885218" y="4261470"/>
            <a:ext cx="5327112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内容覆盖率</a:t>
            </a:r>
            <a:endParaRPr lang="en-US" sz="1560" dirty="0"/>
          </a:p>
        </p:txBody>
      </p:sp>
      <p:sp>
        <p:nvSpPr>
          <p:cNvPr id="27" name="Text 23"/>
          <p:cNvSpPr/>
          <p:nvPr/>
        </p:nvSpPr>
        <p:spPr>
          <a:xfrm>
            <a:off x="1885218" y="4573920"/>
            <a:ext cx="5272248" cy="248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内容覆盖率：required facts 与关键数字是否完整</a:t>
            </a:r>
            <a:endParaRPr lang="en-US" sz="12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760" y="3657600"/>
            <a:ext cx="6534120" cy="17412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551755" y="4410060"/>
            <a:ext cx="356067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40" dirty="0"/>
          </a:p>
        </p:txBody>
      </p:sp>
      <p:sp>
        <p:nvSpPr>
          <p:cNvPr id="30" name="Text 25"/>
          <p:cNvSpPr/>
          <p:nvPr/>
        </p:nvSpPr>
        <p:spPr>
          <a:xfrm>
            <a:off x="8483437" y="4261470"/>
            <a:ext cx="530114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固定 seed 重复性</a:t>
            </a:r>
            <a:endParaRPr lang="en-US" sz="1560" dirty="0"/>
          </a:p>
        </p:txBody>
      </p:sp>
      <p:sp>
        <p:nvSpPr>
          <p:cNvPr id="31" name="Text 26"/>
          <p:cNvSpPr/>
          <p:nvPr/>
        </p:nvSpPr>
        <p:spPr>
          <a:xfrm>
            <a:off x="8483437" y="4573920"/>
            <a:ext cx="5246279" cy="248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seed 重复性：版式分配与内容映射是否稳定</a:t>
            </a:r>
            <a:endParaRPr lang="en-US" sz="12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497830"/>
            <a:ext cx="6534120" cy="1741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18515" y="6250290"/>
            <a:ext cx="358628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40" dirty="0"/>
          </a:p>
        </p:txBody>
      </p:sp>
      <p:sp>
        <p:nvSpPr>
          <p:cNvPr id="34" name="Text 28"/>
          <p:cNvSpPr/>
          <p:nvPr/>
        </p:nvSpPr>
        <p:spPr>
          <a:xfrm>
            <a:off x="1852849" y="6101700"/>
            <a:ext cx="5298491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原生对象比例</a:t>
            </a:r>
            <a:endParaRPr lang="en-US" sz="1560" dirty="0"/>
          </a:p>
        </p:txBody>
      </p:sp>
      <p:sp>
        <p:nvSpPr>
          <p:cNvPr id="35" name="Text 29"/>
          <p:cNvSpPr/>
          <p:nvPr/>
        </p:nvSpPr>
        <p:spPr>
          <a:xfrm>
            <a:off x="1852849" y="6414150"/>
            <a:ext cx="5298491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原生对象比例：文字、形状和截图回退分别统计</a:t>
            </a:r>
            <a:endParaRPr lang="en-US" sz="12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4760" y="5497830"/>
            <a:ext cx="6534120" cy="17412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551755" y="6250290"/>
            <a:ext cx="363748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40" dirty="0"/>
          </a:p>
        </p:txBody>
      </p:sp>
      <p:sp>
        <p:nvSpPr>
          <p:cNvPr id="38" name="Text 31"/>
          <p:cNvSpPr/>
          <p:nvPr/>
        </p:nvSpPr>
        <p:spPr>
          <a:xfrm>
            <a:off x="8491210" y="6101700"/>
            <a:ext cx="5293370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兼容性与成本</a:t>
            </a:r>
            <a:endParaRPr lang="en-US" sz="1560" dirty="0"/>
          </a:p>
        </p:txBody>
      </p:sp>
      <p:sp>
        <p:nvSpPr>
          <p:cNvPr id="39" name="Text 32"/>
          <p:cNvSpPr/>
          <p:nvPr/>
        </p:nvSpPr>
        <p:spPr>
          <a:xfrm>
            <a:off x="8491210" y="6414150"/>
            <a:ext cx="5238506" cy="248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兼容性与成本：PowerPoint / WPS 打开效果、耗时与返工量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731520" y="750192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944850" y="7399050"/>
            <a:ext cx="9144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试点协议</a:t>
            </a:r>
            <a:endParaRPr lang="en-US" sz="1620" dirty="0"/>
          </a:p>
        </p:txBody>
      </p:sp>
      <p:sp>
        <p:nvSpPr>
          <p:cNvPr id="42" name="Shape 35"/>
          <p:cNvSpPr/>
          <p:nvPr/>
        </p:nvSpPr>
        <p:spPr>
          <a:xfrm>
            <a:off x="11612880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11677162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11741628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11805910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11870284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11934566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11999031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12063313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12127687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12191970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12256435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12320717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12385091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12449373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12513838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12578121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12642494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12706868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12771242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12835524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12899989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12964272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13028646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13092928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13157393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13221675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13286049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13350331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13414797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4"/>
          <p:cNvSpPr/>
          <p:nvPr/>
        </p:nvSpPr>
        <p:spPr>
          <a:xfrm>
            <a:off x="13479079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5"/>
          <p:cNvSpPr/>
          <p:nvPr/>
        </p:nvSpPr>
        <p:spPr>
          <a:xfrm>
            <a:off x="13543453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6"/>
          <p:cNvSpPr/>
          <p:nvPr/>
        </p:nvSpPr>
        <p:spPr>
          <a:xfrm>
            <a:off x="13607735" y="743334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>
            <a:off x="13672200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68"/>
          <p:cNvSpPr/>
          <p:nvPr/>
        </p:nvSpPr>
        <p:spPr>
          <a:xfrm>
            <a:off x="13736483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69"/>
          <p:cNvSpPr/>
          <p:nvPr/>
        </p:nvSpPr>
        <p:spPr>
          <a:xfrm>
            <a:off x="13800765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13865047" y="743334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022501" cy="37856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6205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9054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905256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试点协议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77889"/>
            <a:ext cx="9052560" cy="6418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最小试点先验证四项可量化指标</a:t>
            </a:r>
            <a:endParaRPr lang="en-US" sz="5040" dirty="0"/>
          </a:p>
        </p:txBody>
      </p:sp>
      <p:sp>
        <p:nvSpPr>
          <p:cNvPr id="9" name="Text 6"/>
          <p:cNvSpPr/>
          <p:nvPr/>
        </p:nvSpPr>
        <p:spPr>
          <a:xfrm>
            <a:off x="12755880" y="1324828"/>
            <a:ext cx="12344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内容覆盖率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2044141"/>
            <a:ext cx="5486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用脱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2387041"/>
            <a:ext cx="5486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敏研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" y="2729941"/>
            <a:ext cx="5486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究材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31520" y="3072841"/>
            <a:ext cx="5486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料完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31520" y="3415741"/>
            <a:ext cx="5486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成一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31520" y="3758641"/>
            <a:ext cx="5486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轮端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31520" y="4101541"/>
            <a:ext cx="5486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到端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31520" y="4444441"/>
            <a:ext cx="329184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31520" y="4787341"/>
            <a:ext cx="5486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成，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31520" y="5130241"/>
            <a:ext cx="5486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再决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31520" y="5473141"/>
            <a:ext cx="5486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定是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31520" y="5816041"/>
            <a:ext cx="5486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否扩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31520" y="6158941"/>
            <a:ext cx="5486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大使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31520" y="6501841"/>
            <a:ext cx="5486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用。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646926" y="2040026"/>
            <a:ext cx="13470941" cy="1078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5314"/>
              </a:lnSpc>
              <a:buNone/>
            </a:pPr>
            <a:r>
              <a:rPr lang="en-US" sz="6438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required facts 与关键数字是否完整</a:t>
            </a:r>
            <a:endParaRPr lang="en-US" sz="6438" dirty="0"/>
          </a:p>
        </p:txBody>
      </p:sp>
      <p:sp>
        <p:nvSpPr>
          <p:cNvPr id="25" name="Text 22"/>
          <p:cNvSpPr/>
          <p:nvPr/>
        </p:nvSpPr>
        <p:spPr>
          <a:xfrm>
            <a:off x="1584930" y="2793126"/>
            <a:ext cx="2529870" cy="23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required facts 与关键数字是否完整</a:t>
            </a:r>
            <a:endParaRPr lang="en-US" sz="114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730" y="3108960"/>
            <a:ext cx="2948940" cy="393192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44850" y="7444770"/>
            <a:ext cx="11201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内容覆盖率</a:t>
            </a:r>
            <a:endParaRPr lang="en-US" sz="1620" dirty="0"/>
          </a:p>
        </p:txBody>
      </p:sp>
      <p:sp>
        <p:nvSpPr>
          <p:cNvPr id="29" name="Shape 25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4300" y="0"/>
            <a:ext cx="3086100" cy="30861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30100" y="0"/>
            <a:ext cx="2400300" cy="2400300"/>
          </a:xfrm>
          <a:prstGeom prst="ellipse">
            <a:avLst/>
          </a:prstGeom>
          <a:solidFill>
            <a:srgbClr val="FFFFFF">
              <a:alpha val="0"/>
            </a:srgbClr>
          </a:solidFill>
          <a:ln w="171450">
            <a:solidFill>
              <a:srgbClr val="86D62B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8190" y="472470"/>
            <a:ext cx="38130" cy="728475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731520"/>
            <a:ext cx="807781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b="1" spc="247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试点协议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3675949" y="731520"/>
            <a:ext cx="259507" cy="21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611447"/>
            <a:ext cx="7448794" cy="652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最小试点先验证四项可量化指标</a:t>
            </a:r>
            <a:endParaRPr lang="en-US" sz="432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13167360" cy="4160520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 w="12700">
            <a:solidFill>
              <a:srgbClr val="0E110B">
                <a:alpha val="0"/>
              </a:srgbClr>
            </a:solidFill>
            <a:prstDash val="solid"/>
          </a:ln>
          <a:effectLst>
            <a:outerShdw sx="100000" sy="100000" kx="0" ky="0" algn="bl" rotWithShape="0" blurRad="304800" dist="171450" dir="5400000">
              <a:srgbClr val="0E110B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887287" y="3337560"/>
            <a:ext cx="11593" cy="416052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45150"/>
            <a:ext cx="289708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1158270" y="3337560"/>
            <a:ext cx="98910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内容覆盖率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8270" y="3598530"/>
            <a:ext cx="261366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required facts 与关键数字是否完整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23142"/>
            <a:ext cx="12931170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923142"/>
            <a:ext cx="1293117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45031"/>
            <a:ext cx="289708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1158270" y="4014582"/>
            <a:ext cx="156874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seed 重复性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58270" y="4298412"/>
            <a:ext cx="207267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版式分配与内容映射是否稳定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622932"/>
            <a:ext cx="12931170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622932"/>
            <a:ext cx="1293117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744913"/>
            <a:ext cx="289708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1158270" y="4714372"/>
            <a:ext cx="12344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原生对象比例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58270" y="4998202"/>
            <a:ext cx="222501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文字、形状和截图回退分别统计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5322814"/>
            <a:ext cx="12931170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322814"/>
            <a:ext cx="1293117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444703"/>
            <a:ext cx="289708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1158270" y="5414254"/>
            <a:ext cx="12344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兼容性与成本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58270" y="5698084"/>
            <a:ext cx="3107436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PowerPoint / WPS 打开效果、耗时与返工量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40080"/>
            <a:ext cx="13167360" cy="1876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504927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"/>
            <a:ext cx="7651151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采用建议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31520" y="923406"/>
            <a:ext cx="7132320" cy="949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建议：以研究汇报为首个</a:t>
            </a:r>
            <a:endParaRPr lang="en-US" sz="5040" dirty="0"/>
          </a:p>
        </p:txBody>
      </p:sp>
      <p:sp>
        <p:nvSpPr>
          <p:cNvPr id="8" name="Text 6"/>
          <p:cNvSpPr/>
          <p:nvPr/>
        </p:nvSpPr>
        <p:spPr>
          <a:xfrm>
            <a:off x="731520" y="1537700"/>
            <a:ext cx="1371600" cy="949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838"/>
              </a:lnSpc>
              <a:buNone/>
            </a:pPr>
            <a:r>
              <a:rPr lang="en-US" sz="504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</a:t>
            </a:r>
            <a:endParaRPr lang="en-US" sz="5040" dirty="0"/>
          </a:p>
        </p:txBody>
      </p:sp>
      <p:sp>
        <p:nvSpPr>
          <p:cNvPr id="9" name="Text 7"/>
          <p:cNvSpPr/>
          <p:nvPr/>
        </p:nvSpPr>
        <p:spPr>
          <a:xfrm>
            <a:off x="8291231" y="1603903"/>
            <a:ext cx="55778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通过固定样例验证后，再扩展到经营复盘、培训和方案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91231" y="1939122"/>
            <a:ext cx="7772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082363"/>
            <a:ext cx="8814816" cy="37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它最有价值的不是替你做一页，而是把整稿内容、版式和导出纳入同一条可审查生</a:t>
            </a:r>
            <a:endParaRPr lang="en-US" sz="1920" dirty="0"/>
          </a:p>
        </p:txBody>
      </p:sp>
      <p:sp>
        <p:nvSpPr>
          <p:cNvPr id="12" name="Text 10"/>
          <p:cNvSpPr/>
          <p:nvPr/>
        </p:nvSpPr>
        <p:spPr>
          <a:xfrm>
            <a:off x="731520" y="2448123"/>
            <a:ext cx="822960" cy="377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92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产线。</a:t>
            </a:r>
            <a:endParaRPr lang="en-US" sz="192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76570"/>
            <a:ext cx="3166110" cy="17830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67710" y="3512850"/>
            <a:ext cx="25603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67710" y="4101907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内容门槛</a:t>
            </a:r>
            <a:endParaRPr lang="en-US" sz="2160" dirty="0"/>
          </a:p>
        </p:txBody>
      </p:sp>
      <p:sp>
        <p:nvSpPr>
          <p:cNvPr id="16" name="Text 13"/>
          <p:cNvSpPr/>
          <p:nvPr/>
        </p:nvSpPr>
        <p:spPr>
          <a:xfrm>
            <a:off x="967710" y="4572000"/>
            <a:ext cx="278508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内容门槛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240" y="3230850"/>
            <a:ext cx="3166110" cy="17830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05042" y="4125773"/>
            <a:ext cx="1002182" cy="1490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b="1" dirty="0">
                <a:solidFill>
                  <a:srgbClr val="86D62B">
                    <a:alpha val="1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0" dirty="0"/>
          </a:p>
        </p:txBody>
      </p:sp>
      <p:sp>
        <p:nvSpPr>
          <p:cNvPr id="19" name="Text 15"/>
          <p:cNvSpPr/>
          <p:nvPr/>
        </p:nvSpPr>
        <p:spPr>
          <a:xfrm>
            <a:off x="6630589" y="3467130"/>
            <a:ext cx="37581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60" b="1" spc="144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</a:t>
            </a:r>
            <a:endParaRPr lang="en-US" sz="960" dirty="0"/>
          </a:p>
        </p:txBody>
      </p:sp>
      <p:sp>
        <p:nvSpPr>
          <p:cNvPr id="20" name="Text 16"/>
          <p:cNvSpPr/>
          <p:nvPr/>
        </p:nvSpPr>
        <p:spPr>
          <a:xfrm>
            <a:off x="4301520" y="3467130"/>
            <a:ext cx="27432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301520" y="4056187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导出门槛</a:t>
            </a:r>
            <a:endParaRPr lang="en-US" sz="2160" dirty="0"/>
          </a:p>
        </p:txBody>
      </p:sp>
      <p:sp>
        <p:nvSpPr>
          <p:cNvPr id="22" name="Text 18"/>
          <p:cNvSpPr/>
          <p:nvPr/>
        </p:nvSpPr>
        <p:spPr>
          <a:xfrm>
            <a:off x="4301520" y="4526280"/>
            <a:ext cx="278508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导出门槛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050" y="3276570"/>
            <a:ext cx="3166110" cy="17830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635240" y="3512850"/>
            <a:ext cx="27761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7635240" y="4101907"/>
            <a:ext cx="2785080" cy="4236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效率门槛</a:t>
            </a:r>
            <a:endParaRPr lang="en-US" sz="2160" dirty="0"/>
          </a:p>
        </p:txBody>
      </p:sp>
      <p:sp>
        <p:nvSpPr>
          <p:cNvPr id="26" name="Text 21"/>
          <p:cNvSpPr/>
          <p:nvPr/>
        </p:nvSpPr>
        <p:spPr>
          <a:xfrm>
            <a:off x="7635240" y="4572000"/>
            <a:ext cx="278508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210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效率门槛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731520" y="750192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44850" y="7399050"/>
            <a:ext cx="9144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采用建议</a:t>
            </a:r>
            <a:endParaRPr lang="en-US" sz="1620" dirty="0"/>
          </a:p>
        </p:txBody>
      </p:sp>
      <p:sp>
        <p:nvSpPr>
          <p:cNvPr id="29" name="Shape 24"/>
          <p:cNvSpPr/>
          <p:nvPr/>
        </p:nvSpPr>
        <p:spPr>
          <a:xfrm>
            <a:off x="11765310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1819352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1187348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11927525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1981749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2035790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2089922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2144055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2198187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2252228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2306452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12360493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1241462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2468667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2522891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2576932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1263106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12685197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12739329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12793370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284759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2901635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12955768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13009809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13064033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13118074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1317220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13226339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13280471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3334512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1338873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13442777" y="7402800"/>
            <a:ext cx="23683" cy="289590"/>
          </a:xfrm>
          <a:prstGeom prst="roundRect">
            <a:avLst>
              <a:gd name="adj" fmla="val 97902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13496910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13550951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13604992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13659124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13713165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13767206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13821247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13875288" y="7402800"/>
            <a:ext cx="23592" cy="289590"/>
          </a:xfrm>
          <a:prstGeom prst="roundRect">
            <a:avLst>
              <a:gd name="adj" fmla="val 98279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467" y="0"/>
            <a:ext cx="7022501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640080"/>
            <a:ext cx="13167360" cy="123288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61372"/>
            <a:ext cx="1316736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0080"/>
            <a:ext cx="8016270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采用建议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31520" y="1077364"/>
            <a:ext cx="8016270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608"/>
              </a:lnSpc>
              <a:buNone/>
            </a:pPr>
            <a:r>
              <a:rPr lang="en-US" sz="4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建议：以研究汇报为首个试点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10012680" y="1295659"/>
            <a:ext cx="397764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内容门槛｜事实完整且无默认文案残留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369850"/>
            <a:ext cx="396210" cy="3813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49710" y="2286000"/>
            <a:ext cx="1609115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b="1" spc="252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2026-08-31</a:t>
            </a:r>
            <a:endParaRPr lang="en-US" sz="1260" dirty="0"/>
          </a:p>
        </p:txBody>
      </p:sp>
      <p:sp>
        <p:nvSpPr>
          <p:cNvPr id="12" name="Text 9"/>
          <p:cNvSpPr/>
          <p:nvPr/>
        </p:nvSpPr>
        <p:spPr>
          <a:xfrm>
            <a:off x="731520" y="2638318"/>
            <a:ext cx="6650706" cy="332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它最有价值的不是替你做一页，而是把整稿内容、版式和导出纳入同一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731520" y="2958358"/>
            <a:ext cx="1798350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条可审查生产线。</a:t>
            </a:r>
            <a:endParaRPr lang="en-US" sz="1680" dirty="0"/>
          </a:p>
        </p:txBody>
      </p:sp>
      <p:sp>
        <p:nvSpPr>
          <p:cNvPr id="14" name="Text 11"/>
          <p:cNvSpPr/>
          <p:nvPr/>
        </p:nvSpPr>
        <p:spPr>
          <a:xfrm>
            <a:off x="731520" y="3368010"/>
            <a:ext cx="2760025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45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内容门槛｜事实完整且无默认文案残留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3794760"/>
            <a:ext cx="679701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20" b="1" spc="179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导出门槛｜关键文字保持可编辑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777240" y="4046220"/>
            <a:ext cx="6705570" cy="876270"/>
          </a:xfrm>
          <a:prstGeom prst="roundRect">
            <a:avLst>
              <a:gd name="adj" fmla="val 18522"/>
            </a:avLst>
          </a:prstGeom>
          <a:solidFill>
            <a:srgbClr val="EFFAE3"/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4910896"/>
            <a:ext cx="670557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2056" y="4256441"/>
            <a:ext cx="558394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2760" b="1" dirty="0">
                <a:solidFill>
                  <a:srgbClr val="5FA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760" dirty="0"/>
          </a:p>
        </p:txBody>
      </p:sp>
      <p:sp>
        <p:nvSpPr>
          <p:cNvPr id="19" name="Text 16"/>
          <p:cNvSpPr/>
          <p:nvPr/>
        </p:nvSpPr>
        <p:spPr>
          <a:xfrm>
            <a:off x="1539210" y="4170121"/>
            <a:ext cx="10058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内容门槛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39210" y="4564410"/>
            <a:ext cx="281178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内容门槛：事实完整且无默认文案残留</a:t>
            </a:r>
            <a:endParaRPr lang="en-US" sz="1260" dirty="0"/>
          </a:p>
        </p:txBody>
      </p:sp>
      <p:sp>
        <p:nvSpPr>
          <p:cNvPr id="21" name="Shape 18"/>
          <p:cNvSpPr/>
          <p:nvPr/>
        </p:nvSpPr>
        <p:spPr>
          <a:xfrm>
            <a:off x="731520" y="4922490"/>
            <a:ext cx="6705570" cy="876270"/>
          </a:xfrm>
          <a:prstGeom prst="roundRect">
            <a:avLst>
              <a:gd name="adj" fmla="val 18522"/>
            </a:avLst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5787166"/>
            <a:ext cx="670557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6336" y="5132802"/>
            <a:ext cx="596829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2760" b="1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760" dirty="0"/>
          </a:p>
        </p:txBody>
      </p:sp>
      <p:sp>
        <p:nvSpPr>
          <p:cNvPr id="24" name="Text 21"/>
          <p:cNvSpPr/>
          <p:nvPr/>
        </p:nvSpPr>
        <p:spPr>
          <a:xfrm>
            <a:off x="1493490" y="5046482"/>
            <a:ext cx="10058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导出门槛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93490" y="5440680"/>
            <a:ext cx="23317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导出门槛：关键文字保持可编辑</a:t>
            </a:r>
            <a:endParaRPr lang="en-US" sz="1260" dirty="0"/>
          </a:p>
        </p:txBody>
      </p:sp>
      <p:sp>
        <p:nvSpPr>
          <p:cNvPr id="26" name="Text 23"/>
          <p:cNvSpPr/>
          <p:nvPr/>
        </p:nvSpPr>
        <p:spPr>
          <a:xfrm>
            <a:off x="856336" y="6009071"/>
            <a:ext cx="601767" cy="469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2760" b="1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760" dirty="0"/>
          </a:p>
        </p:txBody>
      </p:sp>
      <p:sp>
        <p:nvSpPr>
          <p:cNvPr id="27" name="Text 24"/>
          <p:cNvSpPr/>
          <p:nvPr/>
        </p:nvSpPr>
        <p:spPr>
          <a:xfrm>
            <a:off x="1493490" y="5922752"/>
            <a:ext cx="1005840" cy="3627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效率门槛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493490" y="6316950"/>
            <a:ext cx="281178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效率门槛：总耗时与返工优于现有流程</a:t>
            </a:r>
            <a:endParaRPr lang="en-US" sz="1260" dirty="0"/>
          </a:p>
        </p:txBody>
      </p:sp>
      <p:sp>
        <p:nvSpPr>
          <p:cNvPr id="29" name="Shape 26"/>
          <p:cNvSpPr/>
          <p:nvPr/>
        </p:nvSpPr>
        <p:spPr>
          <a:xfrm>
            <a:off x="7741950" y="2286000"/>
            <a:ext cx="6156930" cy="4800600"/>
          </a:xfrm>
          <a:prstGeom prst="roundRect">
            <a:avLst>
              <a:gd name="adj" fmla="val 5796"/>
            </a:avLst>
          </a:prstGeom>
          <a:solidFill>
            <a:srgbClr val="E9FBC6"/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9540" y="2293590"/>
            <a:ext cx="6141750" cy="4785330"/>
          </a:xfrm>
          <a:prstGeom prst="rect">
            <a:avLst/>
          </a:prstGeom>
        </p:spPr>
      </p:pic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0" y="2293590"/>
            <a:ext cx="6141750" cy="478533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731520" y="7547640"/>
            <a:ext cx="91440" cy="9144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44850" y="7444770"/>
            <a:ext cx="358902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内容门槛：事实完整且无默认文案残留</a:t>
            </a:r>
            <a:endParaRPr lang="en-US" sz="1620" dirty="0"/>
          </a:p>
        </p:txBody>
      </p:sp>
      <p:sp>
        <p:nvSpPr>
          <p:cNvPr id="34" name="Shape 29"/>
          <p:cNvSpPr/>
          <p:nvPr/>
        </p:nvSpPr>
        <p:spPr>
          <a:xfrm>
            <a:off x="1161288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167716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174162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180591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187028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1934566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1199903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1206331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212768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2191970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225643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12320717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12385091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12449373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12513838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257812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2642494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1270686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12771242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12835524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1289998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12964272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13028646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13092928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1315739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1322167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13286049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13350331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1341479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13479079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1354345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13607735" y="7479060"/>
            <a:ext cx="33924" cy="22860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13672200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13736483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13800765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13865047" y="7479060"/>
            <a:ext cx="33833" cy="22860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8256" y="0"/>
            <a:ext cx="10533797" cy="6089904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790" y="914400"/>
            <a:ext cx="1752630" cy="175263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811530"/>
            <a:ext cx="83850" cy="83850"/>
          </a:xfrm>
          <a:prstGeom prst="ellipse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165860" y="761970"/>
            <a:ext cx="1017499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396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采用建议</a:t>
            </a:r>
            <a:endParaRPr lang="en-US" sz="1320" dirty="0"/>
          </a:p>
        </p:txBody>
      </p:sp>
      <p:sp>
        <p:nvSpPr>
          <p:cNvPr id="8" name="Shape 4"/>
          <p:cNvSpPr/>
          <p:nvPr/>
        </p:nvSpPr>
        <p:spPr>
          <a:xfrm>
            <a:off x="2165025" y="847740"/>
            <a:ext cx="9116751" cy="1143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449385" y="731520"/>
            <a:ext cx="2358055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20" b="1" spc="66" kern="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建议：以研究汇报为首个试点</a:t>
            </a:r>
            <a:endParaRPr lang="en-US" sz="1320" dirty="0"/>
          </a:p>
        </p:txBody>
      </p:sp>
      <p:sp>
        <p:nvSpPr>
          <p:cNvPr id="10" name="Shape 6"/>
          <p:cNvSpPr/>
          <p:nvPr/>
        </p:nvSpPr>
        <p:spPr>
          <a:xfrm>
            <a:off x="6013003" y="2087850"/>
            <a:ext cx="2604211" cy="365760"/>
          </a:xfrm>
          <a:prstGeom prst="roundRect">
            <a:avLst>
              <a:gd name="adj" fmla="val 152139"/>
            </a:avLst>
          </a:prstGeom>
          <a:solidFill>
            <a:srgbClr val="E9FBC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042492" y="2087850"/>
            <a:ext cx="2545232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60" b="1" spc="189" kern="0" dirty="0">
                <a:solidFill>
                  <a:srgbClr val="5FA0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建议：以研究汇报为首个试点</a:t>
            </a:r>
            <a:endParaRPr lang="en-US" sz="1260" dirty="0"/>
          </a:p>
        </p:txBody>
      </p:sp>
      <p:sp>
        <p:nvSpPr>
          <p:cNvPr id="12" name="Text 8"/>
          <p:cNvSpPr/>
          <p:nvPr/>
        </p:nvSpPr>
        <p:spPr>
          <a:xfrm>
            <a:off x="6904055" y="2284238"/>
            <a:ext cx="822198" cy="1680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120"/>
              </a:lnSpc>
              <a:buNone/>
            </a:pPr>
            <a:r>
              <a:rPr lang="en-US" sz="1020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0200" dirty="0"/>
          </a:p>
        </p:txBody>
      </p:sp>
      <p:sp>
        <p:nvSpPr>
          <p:cNvPr id="13" name="Text 9"/>
          <p:cNvSpPr/>
          <p:nvPr/>
        </p:nvSpPr>
        <p:spPr>
          <a:xfrm>
            <a:off x="2450638" y="3304990"/>
            <a:ext cx="4659782" cy="1086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451"/>
              </a:lnSpc>
              <a:buNone/>
            </a:pPr>
            <a:r>
              <a:rPr lang="en-US" sz="5760" b="1" spc="-72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2026-08-31</a:t>
            </a:r>
            <a:endParaRPr lang="en-US" sz="576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869" y="3230850"/>
            <a:ext cx="9267718" cy="18784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60342" y="3262624"/>
            <a:ext cx="5160874" cy="1086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451"/>
              </a:lnSpc>
              <a:buNone/>
            </a:pPr>
            <a:r>
              <a:rPr lang="en-US" sz="5760" b="1" spc="-72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内容门槛｜事实</a:t>
            </a:r>
            <a:endParaRPr lang="en-US" sz="5760" dirty="0"/>
          </a:p>
        </p:txBody>
      </p:sp>
      <p:sp>
        <p:nvSpPr>
          <p:cNvPr id="16" name="Text 11"/>
          <p:cNvSpPr/>
          <p:nvPr/>
        </p:nvSpPr>
        <p:spPr>
          <a:xfrm>
            <a:off x="2562149" y="4081926"/>
            <a:ext cx="7333579" cy="1086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451"/>
              </a:lnSpc>
              <a:buNone/>
            </a:pPr>
            <a:r>
              <a:rPr lang="en-US" sz="5760" b="1" spc="-72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完整且无默认文案残留</a:t>
            </a:r>
            <a:endParaRPr lang="en-US" sz="5760" dirty="0"/>
          </a:p>
        </p:txBody>
      </p:sp>
      <p:sp>
        <p:nvSpPr>
          <p:cNvPr id="17" name="Text 12"/>
          <p:cNvSpPr/>
          <p:nvPr/>
        </p:nvSpPr>
        <p:spPr>
          <a:xfrm>
            <a:off x="9804197" y="4081926"/>
            <a:ext cx="2264054" cy="1086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451"/>
              </a:lnSpc>
              <a:buNone/>
            </a:pPr>
            <a:r>
              <a:rPr lang="en-US" sz="5760" b="1" spc="-72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内容门</a:t>
            </a:r>
            <a:endParaRPr lang="en-US" sz="5760" dirty="0"/>
          </a:p>
        </p:txBody>
      </p:sp>
      <p:sp>
        <p:nvSpPr>
          <p:cNvPr id="18" name="Text 13"/>
          <p:cNvSpPr/>
          <p:nvPr/>
        </p:nvSpPr>
        <p:spPr>
          <a:xfrm>
            <a:off x="2200046" y="4901229"/>
            <a:ext cx="10230307" cy="1086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6451"/>
              </a:lnSpc>
              <a:buNone/>
            </a:pPr>
            <a:r>
              <a:rPr lang="en-US" sz="5760" b="1" spc="-72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槛：事实完整且无默认文案残留</a:t>
            </a:r>
            <a:endParaRPr lang="en-US" sz="5760" dirty="0"/>
          </a:p>
        </p:txBody>
      </p:sp>
      <p:sp>
        <p:nvSpPr>
          <p:cNvPr id="19" name="Shape 14"/>
          <p:cNvSpPr/>
          <p:nvPr/>
        </p:nvSpPr>
        <p:spPr>
          <a:xfrm>
            <a:off x="6858000" y="6176406"/>
            <a:ext cx="914400" cy="38130"/>
          </a:xfrm>
          <a:prstGeom prst="rect">
            <a:avLst/>
          </a:prstGeom>
          <a:solidFill>
            <a:srgbClr val="0E11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5483748"/>
            <a:ext cx="4063959" cy="143515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86D62B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14400" y="5483748"/>
            <a:ext cx="4063959" cy="23186"/>
          </a:xfrm>
          <a:prstGeom prst="rect">
            <a:avLst/>
          </a:prstGeom>
          <a:solidFill>
            <a:srgbClr val="86D62B"/>
          </a:solidFill>
          <a:ln w="12700">
            <a:solidFill>
              <a:srgbClr val="86D62B">
                <a:alpha val="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697169"/>
            <a:ext cx="381030" cy="3810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6111667"/>
            <a:ext cx="198501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760" b="1" dirty="0">
                <a:solidFill>
                  <a:srgbClr val="5FA0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内容门槛</a:t>
            </a:r>
            <a:endParaRPr lang="en-US" sz="2760" dirty="0"/>
          </a:p>
        </p:txBody>
      </p:sp>
      <p:sp>
        <p:nvSpPr>
          <p:cNvPr id="24" name="Text 18"/>
          <p:cNvSpPr/>
          <p:nvPr/>
        </p:nvSpPr>
        <p:spPr>
          <a:xfrm>
            <a:off x="2855214" y="6367699"/>
            <a:ext cx="85570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spc="285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内容门槛</a:t>
            </a:r>
            <a:endParaRPr lang="en-US" sz="1140" dirty="0"/>
          </a:p>
        </p:txBody>
      </p:sp>
      <p:sp>
        <p:nvSpPr>
          <p:cNvPr id="25" name="Text 19"/>
          <p:cNvSpPr/>
          <p:nvPr/>
        </p:nvSpPr>
        <p:spPr>
          <a:xfrm>
            <a:off x="914400" y="6657289"/>
            <a:ext cx="307083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1"/>
              </a:lnSpc>
              <a:buNone/>
            </a:pPr>
            <a:r>
              <a:rPr lang="en-US" sz="138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内容门槛：事实完整且无默认文案残留</a:t>
            </a:r>
            <a:endParaRPr lang="en-US" sz="1380" dirty="0"/>
          </a:p>
        </p:txBody>
      </p:sp>
      <p:sp>
        <p:nvSpPr>
          <p:cNvPr id="26" name="Shape 20"/>
          <p:cNvSpPr/>
          <p:nvPr/>
        </p:nvSpPr>
        <p:spPr>
          <a:xfrm>
            <a:off x="5283129" y="5483748"/>
            <a:ext cx="4063959" cy="143515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283129" y="5483748"/>
            <a:ext cx="4063959" cy="23186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3129" y="5697169"/>
            <a:ext cx="381030" cy="38103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83129" y="6111667"/>
            <a:ext cx="198501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7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导出门槛</a:t>
            </a:r>
            <a:endParaRPr lang="en-US" sz="2760" dirty="0"/>
          </a:p>
        </p:txBody>
      </p:sp>
      <p:sp>
        <p:nvSpPr>
          <p:cNvPr id="30" name="Text 23"/>
          <p:cNvSpPr/>
          <p:nvPr/>
        </p:nvSpPr>
        <p:spPr>
          <a:xfrm>
            <a:off x="7224034" y="6367699"/>
            <a:ext cx="85570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spc="285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导出门槛</a:t>
            </a:r>
            <a:endParaRPr lang="en-US" sz="1140" dirty="0"/>
          </a:p>
        </p:txBody>
      </p:sp>
      <p:sp>
        <p:nvSpPr>
          <p:cNvPr id="31" name="Text 24"/>
          <p:cNvSpPr/>
          <p:nvPr/>
        </p:nvSpPr>
        <p:spPr>
          <a:xfrm>
            <a:off x="5283129" y="6657289"/>
            <a:ext cx="254505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1"/>
              </a:lnSpc>
              <a:buNone/>
            </a:pPr>
            <a:r>
              <a:rPr lang="en-US" sz="138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导出门槛：关键文字保持可编辑</a:t>
            </a:r>
            <a:endParaRPr lang="en-US" sz="1380" dirty="0"/>
          </a:p>
        </p:txBody>
      </p:sp>
      <p:sp>
        <p:nvSpPr>
          <p:cNvPr id="32" name="Shape 25"/>
          <p:cNvSpPr/>
          <p:nvPr/>
        </p:nvSpPr>
        <p:spPr>
          <a:xfrm>
            <a:off x="9651949" y="5483748"/>
            <a:ext cx="4063959" cy="143515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9651949" y="5483748"/>
            <a:ext cx="4063959" cy="23186"/>
          </a:xfrm>
          <a:prstGeom prst="rect">
            <a:avLst/>
          </a:prstGeom>
          <a:solidFill>
            <a:srgbClr val="0E110B">
              <a:alpha val="16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1949" y="5697169"/>
            <a:ext cx="381030" cy="38103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651949" y="6111667"/>
            <a:ext cx="198501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7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效率门槛</a:t>
            </a:r>
            <a:endParaRPr lang="en-US" sz="2760" dirty="0"/>
          </a:p>
        </p:txBody>
      </p:sp>
      <p:sp>
        <p:nvSpPr>
          <p:cNvPr id="36" name="Text 28"/>
          <p:cNvSpPr/>
          <p:nvPr/>
        </p:nvSpPr>
        <p:spPr>
          <a:xfrm>
            <a:off x="11592763" y="6367699"/>
            <a:ext cx="855707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40" b="1" spc="285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效率门槛</a:t>
            </a:r>
            <a:endParaRPr lang="en-US" sz="1140" dirty="0"/>
          </a:p>
        </p:txBody>
      </p:sp>
      <p:sp>
        <p:nvSpPr>
          <p:cNvPr id="37" name="Text 29"/>
          <p:cNvSpPr/>
          <p:nvPr/>
        </p:nvSpPr>
        <p:spPr>
          <a:xfrm>
            <a:off x="9651949" y="6657289"/>
            <a:ext cx="3070830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1"/>
              </a:lnSpc>
              <a:buNone/>
            </a:pPr>
            <a:r>
              <a:rPr lang="en-US" sz="1380" dirty="0">
                <a:solidFill>
                  <a:srgbClr val="3D4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效率门槛：总耗时与返工优于现有流程</a:t>
            </a:r>
            <a:endParaRPr lang="en-US" sz="1380" dirty="0"/>
          </a:p>
        </p:txBody>
      </p:sp>
      <p:sp>
        <p:nvSpPr>
          <p:cNvPr id="38" name="Text 30"/>
          <p:cNvSpPr/>
          <p:nvPr/>
        </p:nvSpPr>
        <p:spPr>
          <a:xfrm>
            <a:off x="914400" y="7345650"/>
            <a:ext cx="278590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60" kern="0" dirty="0">
                <a:solidFill>
                  <a:srgbClr val="B7B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内容门槛｜事实完整且无默认文案残留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11430000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11494282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11558748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11623030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11687404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11751686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11816151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11880433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11944807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12009090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12073555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12137837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12202211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12266493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12330958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12395241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12459614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12523988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12588362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12652644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12717109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12781392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12845766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12910048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12974513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13038795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7"/>
          <p:cNvSpPr/>
          <p:nvPr/>
        </p:nvSpPr>
        <p:spPr>
          <a:xfrm>
            <a:off x="13103169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8"/>
          <p:cNvSpPr/>
          <p:nvPr/>
        </p:nvSpPr>
        <p:spPr>
          <a:xfrm>
            <a:off x="13167451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13231917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0"/>
          <p:cNvSpPr/>
          <p:nvPr/>
        </p:nvSpPr>
        <p:spPr>
          <a:xfrm>
            <a:off x="13296199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E84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13360573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2"/>
          <p:cNvSpPr/>
          <p:nvPr/>
        </p:nvSpPr>
        <p:spPr>
          <a:xfrm>
            <a:off x="13424855" y="7326630"/>
            <a:ext cx="33924" cy="213330"/>
          </a:xfrm>
          <a:prstGeom prst="roundRect">
            <a:avLst>
              <a:gd name="adj" fmla="val 68347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3"/>
          <p:cNvSpPr/>
          <p:nvPr/>
        </p:nvSpPr>
        <p:spPr>
          <a:xfrm>
            <a:off x="13489320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4"/>
          <p:cNvSpPr/>
          <p:nvPr/>
        </p:nvSpPr>
        <p:spPr>
          <a:xfrm>
            <a:off x="13553603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34B2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5"/>
          <p:cNvSpPr/>
          <p:nvPr/>
        </p:nvSpPr>
        <p:spPr>
          <a:xfrm>
            <a:off x="13617885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EFA6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66"/>
          <p:cNvSpPr/>
          <p:nvPr/>
        </p:nvSpPr>
        <p:spPr>
          <a:xfrm>
            <a:off x="13682167" y="7326630"/>
            <a:ext cx="33833" cy="213330"/>
          </a:xfrm>
          <a:prstGeom prst="roundRect">
            <a:avLst>
              <a:gd name="adj" fmla="val 68531"/>
            </a:avLst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4300" y="0"/>
            <a:ext cx="3086100" cy="30861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30100" y="0"/>
            <a:ext cx="2400300" cy="2400300"/>
          </a:xfrm>
          <a:prstGeom prst="ellipse">
            <a:avLst/>
          </a:prstGeom>
          <a:solidFill>
            <a:srgbClr val="FFFFFF">
              <a:alpha val="0"/>
            </a:srgbClr>
          </a:solidFill>
          <a:ln w="171450">
            <a:solidFill>
              <a:srgbClr val="86D62B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8190" y="472470"/>
            <a:ext cx="38130" cy="728475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731520"/>
            <a:ext cx="807781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b="1" spc="247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采用建议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3665982" y="731520"/>
            <a:ext cx="269474" cy="21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611447"/>
            <a:ext cx="6919356" cy="652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建议：以研究汇报为首个试点</a:t>
            </a:r>
            <a:endParaRPr lang="en-US" sz="4320" dirty="0"/>
          </a:p>
        </p:txBody>
      </p:sp>
      <p:sp>
        <p:nvSpPr>
          <p:cNvPr id="10" name="Text 8"/>
          <p:cNvSpPr/>
          <p:nvPr/>
        </p:nvSpPr>
        <p:spPr>
          <a:xfrm>
            <a:off x="731520" y="3339846"/>
            <a:ext cx="5156027" cy="408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6"/>
              </a:lnSpc>
              <a:buNone/>
            </a:pPr>
            <a:r>
              <a:rPr lang="en-US" sz="2400" b="1" spc="-36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它最有价值的不是替你做一页，而是把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3710132"/>
            <a:ext cx="5210891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76"/>
              </a:lnSpc>
              <a:buNone/>
            </a:pPr>
            <a:r>
              <a:rPr lang="en-US" sz="2400" b="1" spc="-36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整稿内容、版式和导出纳入同一条可审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4088054"/>
            <a:ext cx="1597182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76"/>
              </a:lnSpc>
              <a:buNone/>
            </a:pPr>
            <a:r>
              <a:rPr lang="en-US" sz="2400" b="1" spc="-36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查生产线。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1520" y="5968106"/>
            <a:ext cx="52120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通过固定样例验证后，再扩展到经营复盘、培训和方案</a:t>
            </a:r>
            <a:endParaRPr lang="en-US" sz="1680" dirty="0"/>
          </a:p>
        </p:txBody>
      </p:sp>
      <p:sp>
        <p:nvSpPr>
          <p:cNvPr id="14" name="Text 12"/>
          <p:cNvSpPr/>
          <p:nvPr/>
        </p:nvSpPr>
        <p:spPr>
          <a:xfrm>
            <a:off x="731520" y="6288146"/>
            <a:ext cx="73152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路演。</a:t>
            </a:r>
            <a:endParaRPr lang="en-US" sz="1680" dirty="0"/>
          </a:p>
        </p:txBody>
      </p:sp>
      <p:sp>
        <p:nvSpPr>
          <p:cNvPr id="15" name="Shape 13"/>
          <p:cNvSpPr/>
          <p:nvPr/>
        </p:nvSpPr>
        <p:spPr>
          <a:xfrm>
            <a:off x="6294090" y="3337560"/>
            <a:ext cx="7604790" cy="4160520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 w="12700">
            <a:solidFill>
              <a:srgbClr val="0E110B">
                <a:alpha val="0"/>
              </a:srgbClr>
            </a:solidFill>
            <a:prstDash val="solid"/>
          </a:ln>
          <a:effectLst>
            <a:outerShdw sx="100000" sy="100000" kx="0" ky="0" algn="bl" rotWithShape="0" blurRad="304800" dist="171450" dir="5400000">
              <a:srgbClr val="0E110B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887287" y="3337560"/>
            <a:ext cx="11593" cy="416052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4090" y="3345150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6720840" y="3337560"/>
            <a:ext cx="79854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内容门槛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0840" y="3598530"/>
            <a:ext cx="192024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事实完整且无默认文案残留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94090" y="3923142"/>
            <a:ext cx="7368510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4090" y="3923142"/>
            <a:ext cx="736851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4090" y="4045031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6720840" y="4014582"/>
            <a:ext cx="85341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导出门槛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20840" y="4298412"/>
            <a:ext cx="146304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关键文字保持可编辑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4090" y="4622932"/>
            <a:ext cx="7368510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94090" y="4622932"/>
            <a:ext cx="736851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4090" y="4744913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6720840" y="4714372"/>
            <a:ext cx="85341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效率门槛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20840" y="4998202"/>
            <a:ext cx="192024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总耗时与返工优于现有流程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Dashi PPT Skill 真实采用研究 3+1 比较稿</dc:title>
  <dc:subject>Editable PPTX export</dc:subject>
  <dc:creator>Dashi PPT</dc:creator>
  <cp:lastModifiedBy>Dashi PPT</cp:lastModifiedBy>
  <cp:revision>1</cp:revision>
  <dcterms:created xsi:type="dcterms:W3CDTF">2026-08-30T21:11:04Z</dcterms:created>
  <dcterms:modified xsi:type="dcterms:W3CDTF">2026-08-30T21:11:04Z</dcterms:modified>
</cp:coreProperties>
</file>